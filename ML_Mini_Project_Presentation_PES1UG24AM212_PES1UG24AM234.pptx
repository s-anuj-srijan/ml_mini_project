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3B7E89-97CD-568D-D366-DF129DE1AC81}" v="2" dt="2026-10-12T14:00:27.4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chart-data-snapshot-001.xlsx"/></Relationships>
</file>

<file path=ppt/charts/_rels/chart2.xml.rels><?xml version="1.0" encoding="UTF-8" standalone="yes"?>
<Relationships xmlns="http://schemas.openxmlformats.org/package/2006/relationships"><Relationship Id="rId1" Type="http://schemas.openxmlformats.org/officeDocument/2006/relationships/package" Target="../embeddings/chart-data-snapshot-002.xlsx"/></Relationships>
</file>

<file path=ppt/charts/_rels/chart3.xml.rels><?xml version="1.0" encoding="UTF-8" standalone="yes"?>
<Relationships xmlns="http://schemas.openxmlformats.org/package/2006/relationships"><Relationship Id="rId1" Type="http://schemas.openxmlformats.org/officeDocument/2006/relationships/package" Target="../embeddings/chart-data-snapshot-003.xlsx"/></Relationships>
</file>

<file path=ppt/charts/_rels/chart4.xml.rels><?xml version="1.0" encoding="UTF-8" standalone="yes"?>
<Relationships xmlns="http://schemas.openxmlformats.org/package/2006/relationships"><Relationship Id="rId1" Type="http://schemas.openxmlformats.org/officeDocument/2006/relationships/package" Target="../embeddings/chart-data-snapshot-00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r>
              <a:rPr lang="en-GB" sz="1200" b="1">
                <a:solidFill>
                  <a:srgbClr val="214C3B"/>
                </a:solidFill>
              </a:rPr>
              <a:t>Angular velocity</a:t>
            </a:r>
          </a:p>
        </c:rich>
      </c:tx>
      <c:overlay val="0"/>
    </c:title>
    <c:autoTitleDeleted val="0"/>
    <c:plotArea>
      <c:layout/>
      <c:lineChart>
        <c:grouping val="standard"/>
        <c:varyColors val="0"/>
        <c:ser>
          <c:idx val="0"/>
          <c:order val="0"/>
          <c:tx>
            <c:v>wx</c:v>
          </c:tx>
          <c:spPr>
            <a:ln w="19050">
              <a:solidFill>
                <a:srgbClr val="214C3B"/>
              </a:solidFill>
              <a:prstDash val="solid"/>
            </a:ln>
          </c:spPr>
          <c:marker>
            <c:symbol val="none"/>
          </c:marker>
          <c:cat>
            <c:numRef>
              <c:f>'Chart Data'!$A$2:$A$35</c:f>
              <c:numCache>
                <c:formatCode>General</c:formatCode>
                <c:ptCount val="34"/>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numCache>
            </c:numRef>
          </c:cat>
          <c:val>
            <c:numRef>
              <c:f>'Chart Data'!$B$2:$B$35</c:f>
              <c:numCache>
                <c:formatCode>General</c:formatCode>
                <c:ptCount val="34"/>
                <c:pt idx="0">
                  <c:v>-2.6901958000000001E-3</c:v>
                </c:pt>
                <c:pt idx="1">
                  <c:v>-1.1326226E-2</c:v>
                </c:pt>
                <c:pt idx="2">
                  <c:v>-1.5541675E-2</c:v>
                </c:pt>
                <c:pt idx="3">
                  <c:v>3.7998568000000003E-2</c:v>
                </c:pt>
                <c:pt idx="4">
                  <c:v>-7.0499353000000001E-2</c:v>
                </c:pt>
                <c:pt idx="5">
                  <c:v>-1.3364404999999999E-2</c:v>
                </c:pt>
                <c:pt idx="6">
                  <c:v>-1.3128404999999999E-2</c:v>
                </c:pt>
                <c:pt idx="7">
                  <c:v>1.6053846E-2</c:v>
                </c:pt>
                <c:pt idx="8">
                  <c:v>-8.6065680000000002E-3</c:v>
                </c:pt>
                <c:pt idx="9">
                  <c:v>1.5929511E-2</c:v>
                </c:pt>
                <c:pt idx="10">
                  <c:v>-1.9648703E-2</c:v>
                </c:pt>
                <c:pt idx="11">
                  <c:v>-2.0769550000000001E-2</c:v>
                </c:pt>
                <c:pt idx="12">
                  <c:v>-1.9271112999999999E-2</c:v>
                </c:pt>
                <c:pt idx="13">
                  <c:v>-1.2861802E-2</c:v>
                </c:pt>
                <c:pt idx="14">
                  <c:v>-1.555994E-2</c:v>
                </c:pt>
                <c:pt idx="15">
                  <c:v>5.5788686000000001E-3</c:v>
                </c:pt>
                <c:pt idx="16">
                  <c:v>-2.7643195999999998E-2</c:v>
                </c:pt>
                <c:pt idx="17">
                  <c:v>1.6851719000000001E-2</c:v>
                </c:pt>
                <c:pt idx="18">
                  <c:v>-1.3591367E-2</c:v>
                </c:pt>
                <c:pt idx="19">
                  <c:v>-2.8693425000000002E-3</c:v>
                </c:pt>
                <c:pt idx="20">
                  <c:v>2.456989E-2</c:v>
                </c:pt>
                <c:pt idx="21">
                  <c:v>-5.9441546999999999E-3</c:v>
                </c:pt>
                <c:pt idx="22">
                  <c:v>-2.9067352000000001E-2</c:v>
                </c:pt>
                <c:pt idx="23">
                  <c:v>4.2415230999999998E-2</c:v>
                </c:pt>
                <c:pt idx="24">
                  <c:v>4.9372442000000002E-4</c:v>
                </c:pt>
                <c:pt idx="25">
                  <c:v>-9.2594493E-3</c:v>
                </c:pt>
                <c:pt idx="26">
                  <c:v>4.5560766000000003E-2</c:v>
                </c:pt>
                <c:pt idx="27">
                  <c:v>-1.6694687E-2</c:v>
                </c:pt>
                <c:pt idx="28">
                  <c:v>-2.2887675E-2</c:v>
                </c:pt>
                <c:pt idx="29">
                  <c:v>-2.2890942000000001E-2</c:v>
                </c:pt>
                <c:pt idx="30">
                  <c:v>-3.7051871E-2</c:v>
                </c:pt>
                <c:pt idx="31">
                  <c:v>-2.8191317E-2</c:v>
                </c:pt>
                <c:pt idx="32">
                  <c:v>-5.4683764000000003E-2</c:v>
                </c:pt>
                <c:pt idx="33">
                  <c:v>-3.8341067999999999E-2</c:v>
                </c:pt>
              </c:numCache>
            </c:numRef>
          </c:val>
          <c:smooth val="1"/>
          <c:extLst>
            <c:ext xmlns:c16="http://schemas.microsoft.com/office/drawing/2014/chart" uri="{C3380CC4-5D6E-409C-BE32-E72D297353CC}">
              <c16:uniqueId val="{00000000-4929-48CB-9207-DB45BB98D150}"/>
            </c:ext>
          </c:extLst>
        </c:ser>
        <c:ser>
          <c:idx val="1"/>
          <c:order val="1"/>
          <c:tx>
            <c:v>wy</c:v>
          </c:tx>
          <c:spPr>
            <a:ln w="19050">
              <a:solidFill>
                <a:srgbClr val="789578"/>
              </a:solidFill>
              <a:prstDash val="solid"/>
            </a:ln>
          </c:spPr>
          <c:marker>
            <c:symbol val="none"/>
          </c:marker>
          <c:cat>
            <c:numRef>
              <c:f>'Chart Data'!$C$2:$C$35</c:f>
              <c:numCache>
                <c:formatCode>General</c:formatCode>
                <c:ptCount val="34"/>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numCache>
            </c:numRef>
          </c:cat>
          <c:val>
            <c:numRef>
              <c:f>'Chart Data'!$D$2:$D$35</c:f>
              <c:numCache>
                <c:formatCode>General</c:formatCode>
                <c:ptCount val="34"/>
                <c:pt idx="0">
                  <c:v>2.0242704E-2</c:v>
                </c:pt>
                <c:pt idx="1">
                  <c:v>8.5825309000000002E-2</c:v>
                </c:pt>
                <c:pt idx="2">
                  <c:v>-9.6668266000000003E-2</c:v>
                </c:pt>
                <c:pt idx="3">
                  <c:v>2.7311117999999999E-2</c:v>
                </c:pt>
                <c:pt idx="4">
                  <c:v>4.5334313000000001E-2</c:v>
                </c:pt>
                <c:pt idx="5">
                  <c:v>-5.8969769999999998E-2</c:v>
                </c:pt>
                <c:pt idx="6">
                  <c:v>6.8144604999999997E-2</c:v>
                </c:pt>
                <c:pt idx="7">
                  <c:v>-9.4096166999999998E-3</c:v>
                </c:pt>
                <c:pt idx="8">
                  <c:v>3.0555499999999999E-2</c:v>
                </c:pt>
                <c:pt idx="9">
                  <c:v>-3.1828109E-2</c:v>
                </c:pt>
                <c:pt idx="10">
                  <c:v>-3.4847825999999998E-2</c:v>
                </c:pt>
                <c:pt idx="11">
                  <c:v>1.5091986E-2</c:v>
                </c:pt>
                <c:pt idx="12">
                  <c:v>-4.945397E-2</c:v>
                </c:pt>
                <c:pt idx="13">
                  <c:v>-1.72217E-2</c:v>
                </c:pt>
                <c:pt idx="14">
                  <c:v>4.6328027E-4</c:v>
                </c:pt>
                <c:pt idx="15">
                  <c:v>2.4186375E-2</c:v>
                </c:pt>
                <c:pt idx="16">
                  <c:v>-1.7879666999999998E-2</c:v>
                </c:pt>
                <c:pt idx="17">
                  <c:v>9.7825220000000001E-3</c:v>
                </c:pt>
                <c:pt idx="18">
                  <c:v>1.3362941999999999E-2</c:v>
                </c:pt>
                <c:pt idx="19">
                  <c:v>-2.3273730999999999E-2</c:v>
                </c:pt>
                <c:pt idx="20">
                  <c:v>3.5679609000000001E-2</c:v>
                </c:pt>
                <c:pt idx="21">
                  <c:v>-8.5105821000000005E-3</c:v>
                </c:pt>
                <c:pt idx="22">
                  <c:v>-1.0359155E-2</c:v>
                </c:pt>
                <c:pt idx="23">
                  <c:v>2.0305287000000002E-2</c:v>
                </c:pt>
                <c:pt idx="24">
                  <c:v>-3.1234446999999999E-2</c:v>
                </c:pt>
                <c:pt idx="25">
                  <c:v>1.3880696E-2</c:v>
                </c:pt>
                <c:pt idx="26">
                  <c:v>-2.9184837000000002E-2</c:v>
                </c:pt>
                <c:pt idx="27">
                  <c:v>3.6565971000000003E-2</c:v>
                </c:pt>
                <c:pt idx="28">
                  <c:v>-1.505682E-2</c:v>
                </c:pt>
                <c:pt idx="29">
                  <c:v>1.1639030999999999E-2</c:v>
                </c:pt>
                <c:pt idx="30">
                  <c:v>3.1523928E-2</c:v>
                </c:pt>
                <c:pt idx="31">
                  <c:v>1.2360711E-2</c:v>
                </c:pt>
                <c:pt idx="32">
                  <c:v>-1.8849593000000001E-2</c:v>
                </c:pt>
                <c:pt idx="33">
                  <c:v>3.8136084000000001E-2</c:v>
                </c:pt>
              </c:numCache>
            </c:numRef>
          </c:val>
          <c:smooth val="1"/>
          <c:extLst>
            <c:ext xmlns:c16="http://schemas.microsoft.com/office/drawing/2014/chart" uri="{C3380CC4-5D6E-409C-BE32-E72D297353CC}">
              <c16:uniqueId val="{00000001-4929-48CB-9207-DB45BB98D150}"/>
            </c:ext>
          </c:extLst>
        </c:ser>
        <c:ser>
          <c:idx val="2"/>
          <c:order val="2"/>
          <c:tx>
            <c:v>wz</c:v>
          </c:tx>
          <c:spPr>
            <a:ln w="19050">
              <a:solidFill>
                <a:srgbClr val="C2943B"/>
              </a:solidFill>
              <a:prstDash val="solid"/>
            </a:ln>
          </c:spPr>
          <c:marker>
            <c:symbol val="none"/>
          </c:marker>
          <c:cat>
            <c:numRef>
              <c:f>'Chart Data'!$E$2:$E$35</c:f>
              <c:numCache>
                <c:formatCode>General</c:formatCode>
                <c:ptCount val="34"/>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numCache>
            </c:numRef>
          </c:cat>
          <c:val>
            <c:numRef>
              <c:f>'Chart Data'!$F$2:$F$35</c:f>
              <c:numCache>
                <c:formatCode>General</c:formatCode>
                <c:ptCount val="34"/>
                <c:pt idx="0">
                  <c:v>-0.15400098000000001</c:v>
                </c:pt>
                <c:pt idx="1">
                  <c:v>6.6756262999999996E-2</c:v>
                </c:pt>
                <c:pt idx="2">
                  <c:v>-7.4394489999999999E-3</c:v>
                </c:pt>
                <c:pt idx="3">
                  <c:v>-0.17136741</c:v>
                </c:pt>
                <c:pt idx="4">
                  <c:v>-1.1810308E-2</c:v>
                </c:pt>
                <c:pt idx="5">
                  <c:v>-1.7135058000000002E-2</c:v>
                </c:pt>
                <c:pt idx="6">
                  <c:v>-9.7779467999999994E-2</c:v>
                </c:pt>
                <c:pt idx="7">
                  <c:v>6.7855857000000006E-2</c:v>
                </c:pt>
                <c:pt idx="8">
                  <c:v>-2.6592098000000002E-2</c:v>
                </c:pt>
                <c:pt idx="9">
                  <c:v>-1.0499313E-2</c:v>
                </c:pt>
                <c:pt idx="10">
                  <c:v>-9.915366499999999E-4</c:v>
                </c:pt>
                <c:pt idx="11">
                  <c:v>9.2262868000000005E-3</c:v>
                </c:pt>
                <c:pt idx="12">
                  <c:v>-2.1802826000000001E-2</c:v>
                </c:pt>
                <c:pt idx="13">
                  <c:v>-6.5031310000000005E-4</c:v>
                </c:pt>
                <c:pt idx="14">
                  <c:v>5.3206305000000004E-3</c:v>
                </c:pt>
                <c:pt idx="15">
                  <c:v>-2.6154990999999999E-2</c:v>
                </c:pt>
                <c:pt idx="16">
                  <c:v>3.2246355000000002E-3</c:v>
                </c:pt>
                <c:pt idx="17">
                  <c:v>2.2650776000000001E-2</c:v>
                </c:pt>
                <c:pt idx="18">
                  <c:v>8.0814869999999998E-4</c:v>
                </c:pt>
                <c:pt idx="19">
                  <c:v>-5.6115141999999998E-3</c:v>
                </c:pt>
                <c:pt idx="20">
                  <c:v>9.1299199999999997E-3</c:v>
                </c:pt>
                <c:pt idx="21">
                  <c:v>1.0715268999999999E-2</c:v>
                </c:pt>
                <c:pt idx="22">
                  <c:v>-1.1279994E-2</c:v>
                </c:pt>
                <c:pt idx="23">
                  <c:v>1.5007223E-2</c:v>
                </c:pt>
                <c:pt idx="24">
                  <c:v>1.365093E-2</c:v>
                </c:pt>
                <c:pt idx="25">
                  <c:v>-1.97355E-2</c:v>
                </c:pt>
                <c:pt idx="26">
                  <c:v>1.9715785999999999E-2</c:v>
                </c:pt>
                <c:pt idx="27">
                  <c:v>5.6138196999999997E-3</c:v>
                </c:pt>
                <c:pt idx="28">
                  <c:v>-1.3496437999999999E-2</c:v>
                </c:pt>
                <c:pt idx="29">
                  <c:v>5.1892470000000001E-3</c:v>
                </c:pt>
                <c:pt idx="30">
                  <c:v>1.6544156000000001E-2</c:v>
                </c:pt>
                <c:pt idx="31">
                  <c:v>-4.3614496000000003E-2</c:v>
                </c:pt>
                <c:pt idx="32">
                  <c:v>4.8405030000000003E-3</c:v>
                </c:pt>
                <c:pt idx="33">
                  <c:v>2.1250892E-2</c:v>
                </c:pt>
              </c:numCache>
            </c:numRef>
          </c:val>
          <c:smooth val="1"/>
          <c:extLst>
            <c:ext xmlns:c16="http://schemas.microsoft.com/office/drawing/2014/chart" uri="{C3380CC4-5D6E-409C-BE32-E72D297353CC}">
              <c16:uniqueId val="{00000002-4929-48CB-9207-DB45BB98D150}"/>
            </c:ext>
          </c:extLst>
        </c:ser>
        <c:dLbls>
          <c:showLegendKey val="0"/>
          <c:showVal val="0"/>
          <c:showCatName val="0"/>
          <c:showSerName val="0"/>
          <c:showPercent val="0"/>
          <c:showBubbleSize val="0"/>
        </c:dLbls>
        <c:smooth val="0"/>
        <c:axId val="48650112"/>
        <c:axId val="48672768"/>
      </c:lineChart>
      <c:catAx>
        <c:axId val="48650112"/>
        <c:scaling>
          <c:orientation val="minMax"/>
        </c:scaling>
        <c:delete val="1"/>
        <c:axPos val="b"/>
        <c:numFmt formatCode="General" sourceLinked="1"/>
        <c:majorTickMark val="none"/>
        <c:minorTickMark val="none"/>
        <c:tickLblPos val="nextTo"/>
        <c:crossAx val="48672768"/>
        <c:crosses val="autoZero"/>
        <c:auto val="1"/>
        <c:lblAlgn val="ctr"/>
        <c:lblOffset val="100"/>
        <c:noMultiLvlLbl val="1"/>
      </c:catAx>
      <c:valAx>
        <c:axId val="48672768"/>
        <c:scaling>
          <c:orientation val="minMax"/>
        </c:scaling>
        <c:delete val="0"/>
        <c:axPos val="l"/>
        <c:majorGridlines>
          <c:spPr>
            <a:ln w="9525">
              <a:solidFill>
                <a:srgbClr val="DEE5DC"/>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825">
                <a:solidFill>
                  <a:srgbClr val="65746B"/>
                </a:solidFill>
              </a:defRPr>
            </a:pPr>
            <a:endParaRPr lang="en-US"/>
          </a:p>
        </c:txPr>
        <c:crossAx val="48650112"/>
        <c:crosses val="autoZero"/>
        <c:crossBetween val="between"/>
      </c:valAx>
      <c:spPr>
        <a:solidFill>
          <a:srgbClr val="FFFEFA"/>
        </a:solidFill>
        <a:ln w="0">
          <a:noFill/>
          <a:prstDash val="solid"/>
        </a:ln>
      </c:spPr>
    </c:plotArea>
    <c:legend>
      <c:legendPos val="b"/>
      <c:overlay val="0"/>
      <c:txPr>
        <a:bodyPr anchorCtr="1"/>
        <a:lstStyle/>
        <a:p>
          <a:pPr>
            <a:defRPr sz="825">
              <a:solidFill>
                <a:srgbClr val="65746B"/>
              </a:solidFill>
            </a:defRPr>
          </a:pPr>
          <a:endParaRPr lang="en-US"/>
        </a:p>
      </c:txPr>
    </c:legend>
    <c:plotVisOnly val="1"/>
    <c:dispBlanksAs val="zero"/>
    <c:showDLblsOverMax val="1"/>
  </c:chart>
  <c:spPr>
    <a:solidFill>
      <a:srgbClr val="FFFEFA"/>
    </a:solidFill>
    <a:ln w="9525">
      <a:solidFill>
        <a:srgbClr val="D6DED4"/>
      </a:solidFill>
      <a:prstDash val="soli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r>
              <a:rPr lang="en-GB" sz="1200" b="1">
                <a:solidFill>
                  <a:srgbClr val="214C3B"/>
                </a:solidFill>
              </a:rPr>
              <a:t>Acceleration</a:t>
            </a:r>
          </a:p>
        </c:rich>
      </c:tx>
      <c:overlay val="0"/>
    </c:title>
    <c:autoTitleDeleted val="0"/>
    <c:plotArea>
      <c:layout/>
      <c:lineChart>
        <c:grouping val="standard"/>
        <c:varyColors val="0"/>
        <c:ser>
          <c:idx val="0"/>
          <c:order val="0"/>
          <c:tx>
            <c:v>ax</c:v>
          </c:tx>
          <c:spPr>
            <a:ln w="19050">
              <a:solidFill>
                <a:srgbClr val="214C3B"/>
              </a:solidFill>
              <a:prstDash val="solid"/>
            </a:ln>
          </c:spPr>
          <c:marker>
            <c:symbol val="none"/>
          </c:marker>
          <c:cat>
            <c:numRef>
              <c:f>'Chart Data'!$A$2:$A$35</c:f>
              <c:numCache>
                <c:formatCode>General</c:formatCode>
                <c:ptCount val="34"/>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numCache>
            </c:numRef>
          </c:cat>
          <c:val>
            <c:numRef>
              <c:f>'Chart Data'!$B$2:$B$35</c:f>
              <c:numCache>
                <c:formatCode>General</c:formatCode>
                <c:ptCount val="34"/>
                <c:pt idx="0">
                  <c:v>5.3531012999999996</c:v>
                </c:pt>
                <c:pt idx="1">
                  <c:v>-0.60199606000000006</c:v>
                </c:pt>
                <c:pt idx="2">
                  <c:v>-0.37163418999999998</c:v>
                </c:pt>
                <c:pt idx="3">
                  <c:v>1.6201371</c:v>
                </c:pt>
                <c:pt idx="4">
                  <c:v>6.6413145</c:v>
                </c:pt>
                <c:pt idx="5">
                  <c:v>1.8820713</c:v>
                </c:pt>
                <c:pt idx="6">
                  <c:v>6.4836878999999996</c:v>
                </c:pt>
                <c:pt idx="7">
                  <c:v>2.4187512</c:v>
                </c:pt>
                <c:pt idx="8">
                  <c:v>-5.1801405000000003</c:v>
                </c:pt>
                <c:pt idx="9">
                  <c:v>5.7534513</c:v>
                </c:pt>
                <c:pt idx="10">
                  <c:v>-5.2059612</c:v>
                </c:pt>
                <c:pt idx="11">
                  <c:v>0.51612192000000001</c:v>
                </c:pt>
                <c:pt idx="12">
                  <c:v>-0.23115775999999999</c:v>
                </c:pt>
                <c:pt idx="13">
                  <c:v>-0.44017249000000003</c:v>
                </c:pt>
                <c:pt idx="14">
                  <c:v>-1.3920661999999999</c:v>
                </c:pt>
                <c:pt idx="15">
                  <c:v>3.2563857999999999</c:v>
                </c:pt>
                <c:pt idx="16">
                  <c:v>-3.8430004000000002</c:v>
                </c:pt>
                <c:pt idx="17">
                  <c:v>0.65904587999999997</c:v>
                </c:pt>
                <c:pt idx="18">
                  <c:v>-1.3496752999999999</c:v>
                </c:pt>
                <c:pt idx="19">
                  <c:v>-1.7229778</c:v>
                </c:pt>
                <c:pt idx="20">
                  <c:v>1.99763</c:v>
                </c:pt>
                <c:pt idx="21">
                  <c:v>-1.9306338000000001</c:v>
                </c:pt>
                <c:pt idx="22">
                  <c:v>-1.4819648000000001</c:v>
                </c:pt>
                <c:pt idx="23">
                  <c:v>3.3191940999999998</c:v>
                </c:pt>
                <c:pt idx="24">
                  <c:v>-2.8735930999999999</c:v>
                </c:pt>
                <c:pt idx="25">
                  <c:v>2.3756062999999998</c:v>
                </c:pt>
                <c:pt idx="26">
                  <c:v>1.2879814999999999</c:v>
                </c:pt>
                <c:pt idx="27">
                  <c:v>-3.0861051000000002</c:v>
                </c:pt>
                <c:pt idx="28">
                  <c:v>3.8187540000000002</c:v>
                </c:pt>
                <c:pt idx="29">
                  <c:v>-0.13610837000000001</c:v>
                </c:pt>
                <c:pt idx="30">
                  <c:v>0.61814672000000004</c:v>
                </c:pt>
                <c:pt idx="31">
                  <c:v>1.4161125000000001</c:v>
                </c:pt>
                <c:pt idx="32">
                  <c:v>0.53608893999999996</c:v>
                </c:pt>
                <c:pt idx="33">
                  <c:v>-2.1310593999999998</c:v>
                </c:pt>
              </c:numCache>
            </c:numRef>
          </c:val>
          <c:smooth val="1"/>
          <c:extLst>
            <c:ext xmlns:c16="http://schemas.microsoft.com/office/drawing/2014/chart" uri="{C3380CC4-5D6E-409C-BE32-E72D297353CC}">
              <c16:uniqueId val="{00000000-A739-44F7-9EFC-A7E4C2411BF4}"/>
            </c:ext>
          </c:extLst>
        </c:ser>
        <c:ser>
          <c:idx val="1"/>
          <c:order val="1"/>
          <c:tx>
            <c:v>ay</c:v>
          </c:tx>
          <c:spPr>
            <a:ln w="19050">
              <a:solidFill>
                <a:srgbClr val="789578"/>
              </a:solidFill>
              <a:prstDash val="solid"/>
            </a:ln>
          </c:spPr>
          <c:marker>
            <c:symbol val="none"/>
          </c:marker>
          <c:cat>
            <c:numRef>
              <c:f>'Chart Data'!$C$2:$C$35</c:f>
              <c:numCache>
                <c:formatCode>General</c:formatCode>
                <c:ptCount val="34"/>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numCache>
            </c:numRef>
          </c:cat>
          <c:val>
            <c:numRef>
              <c:f>'Chart Data'!$D$2:$D$35</c:f>
              <c:numCache>
                <c:formatCode>General</c:formatCode>
                <c:ptCount val="34"/>
                <c:pt idx="0">
                  <c:v>-2.5083508000000001</c:v>
                </c:pt>
                <c:pt idx="1">
                  <c:v>2.0438888</c:v>
                </c:pt>
                <c:pt idx="2">
                  <c:v>-3.1320673999999999</c:v>
                </c:pt>
                <c:pt idx="3">
                  <c:v>-0.31452968999999997</c:v>
                </c:pt>
                <c:pt idx="4">
                  <c:v>4.6792230999999997</c:v>
                </c:pt>
                <c:pt idx="5">
                  <c:v>1.9556827999999999</c:v>
                </c:pt>
                <c:pt idx="6">
                  <c:v>2.6565337000000002</c:v>
                </c:pt>
                <c:pt idx="7">
                  <c:v>2.1092761000000002</c:v>
                </c:pt>
                <c:pt idx="8">
                  <c:v>-1.7958848000000001</c:v>
                </c:pt>
                <c:pt idx="9">
                  <c:v>-1.6258212000000001</c:v>
                </c:pt>
                <c:pt idx="10">
                  <c:v>3.2228873</c:v>
                </c:pt>
                <c:pt idx="11">
                  <c:v>-1.1215047</c:v>
                </c:pt>
                <c:pt idx="12">
                  <c:v>0.22105746000000001</c:v>
                </c:pt>
                <c:pt idx="13">
                  <c:v>2.5738647000000001</c:v>
                </c:pt>
                <c:pt idx="14">
                  <c:v>0.43620607</c:v>
                </c:pt>
                <c:pt idx="15">
                  <c:v>3.0802299999999998</c:v>
                </c:pt>
                <c:pt idx="16">
                  <c:v>11.084146</c:v>
                </c:pt>
                <c:pt idx="17">
                  <c:v>-1.696509</c:v>
                </c:pt>
                <c:pt idx="18">
                  <c:v>0.52364593999999998</c:v>
                </c:pt>
                <c:pt idx="19">
                  <c:v>-0.80135213999999999</c:v>
                </c:pt>
                <c:pt idx="20">
                  <c:v>0.15350707999999999</c:v>
                </c:pt>
                <c:pt idx="21">
                  <c:v>-1.8002566</c:v>
                </c:pt>
                <c:pt idx="22">
                  <c:v>-0.29845199</c:v>
                </c:pt>
                <c:pt idx="23">
                  <c:v>-0.21691109</c:v>
                </c:pt>
                <c:pt idx="24">
                  <c:v>-0.15688530000000001</c:v>
                </c:pt>
                <c:pt idx="25">
                  <c:v>-2.916223</c:v>
                </c:pt>
                <c:pt idx="26">
                  <c:v>0.89126664</c:v>
                </c:pt>
                <c:pt idx="27">
                  <c:v>-1.3002697000000001</c:v>
                </c:pt>
                <c:pt idx="28">
                  <c:v>-2.2020862000000001</c:v>
                </c:pt>
                <c:pt idx="29">
                  <c:v>2.6541497999999999</c:v>
                </c:pt>
                <c:pt idx="30">
                  <c:v>0.10213898</c:v>
                </c:pt>
                <c:pt idx="31">
                  <c:v>0.87827836999999997</c:v>
                </c:pt>
                <c:pt idx="32">
                  <c:v>3.6135150999999999</c:v>
                </c:pt>
                <c:pt idx="33">
                  <c:v>-0.86241131999999998</c:v>
                </c:pt>
              </c:numCache>
            </c:numRef>
          </c:val>
          <c:smooth val="1"/>
          <c:extLst>
            <c:ext xmlns:c16="http://schemas.microsoft.com/office/drawing/2014/chart" uri="{C3380CC4-5D6E-409C-BE32-E72D297353CC}">
              <c16:uniqueId val="{00000001-A739-44F7-9EFC-A7E4C2411BF4}"/>
            </c:ext>
          </c:extLst>
        </c:ser>
        <c:ser>
          <c:idx val="2"/>
          <c:order val="2"/>
          <c:tx>
            <c:v>az</c:v>
          </c:tx>
          <c:spPr>
            <a:ln w="19050">
              <a:solidFill>
                <a:srgbClr val="C2943B"/>
              </a:solidFill>
              <a:prstDash val="solid"/>
            </a:ln>
          </c:spPr>
          <c:marker>
            <c:symbol val="none"/>
          </c:marker>
          <c:cat>
            <c:numRef>
              <c:f>'Chart Data'!$E$2:$E$35</c:f>
              <c:numCache>
                <c:formatCode>General</c:formatCode>
                <c:ptCount val="34"/>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numCache>
            </c:numRef>
          </c:cat>
          <c:val>
            <c:numRef>
              <c:f>'Chart Data'!$F$2:$F$35</c:f>
              <c:numCache>
                <c:formatCode>General</c:formatCode>
                <c:ptCount val="34"/>
                <c:pt idx="0">
                  <c:v>8.8825520999999998</c:v>
                </c:pt>
                <c:pt idx="1">
                  <c:v>10.609655999999999</c:v>
                </c:pt>
                <c:pt idx="2">
                  <c:v>8.8307362000000005</c:v>
                </c:pt>
                <c:pt idx="3">
                  <c:v>9.6718092000000002</c:v>
                </c:pt>
                <c:pt idx="4">
                  <c:v>10.458836</c:v>
                </c:pt>
                <c:pt idx="5">
                  <c:v>9.3735104000000007</c:v>
                </c:pt>
                <c:pt idx="6">
                  <c:v>10.613390000000001</c:v>
                </c:pt>
                <c:pt idx="7">
                  <c:v>9.6212310999999993</c:v>
                </c:pt>
                <c:pt idx="8">
                  <c:v>10.119206999999999</c:v>
                </c:pt>
                <c:pt idx="9">
                  <c:v>9.6075668000000007</c:v>
                </c:pt>
                <c:pt idx="10">
                  <c:v>11.096909</c:v>
                </c:pt>
                <c:pt idx="11">
                  <c:v>8.5583276999999995</c:v>
                </c:pt>
                <c:pt idx="12">
                  <c:v>10.941406000000001</c:v>
                </c:pt>
                <c:pt idx="13">
                  <c:v>9.4291181999999996</c:v>
                </c:pt>
                <c:pt idx="14">
                  <c:v>8.7607917999999998</c:v>
                </c:pt>
                <c:pt idx="15">
                  <c:v>10.690446</c:v>
                </c:pt>
                <c:pt idx="16">
                  <c:v>13.984697000000001</c:v>
                </c:pt>
                <c:pt idx="17">
                  <c:v>9.5967196999999995</c:v>
                </c:pt>
                <c:pt idx="18">
                  <c:v>10.699565</c:v>
                </c:pt>
                <c:pt idx="19">
                  <c:v>11.293950000000001</c:v>
                </c:pt>
                <c:pt idx="20">
                  <c:v>8.5334692000000008</c:v>
                </c:pt>
                <c:pt idx="21">
                  <c:v>9.8093451999999992</c:v>
                </c:pt>
                <c:pt idx="22">
                  <c:v>10.914714</c:v>
                </c:pt>
                <c:pt idx="23">
                  <c:v>8.8970537000000007</c:v>
                </c:pt>
                <c:pt idx="24">
                  <c:v>9.7465037999999993</c:v>
                </c:pt>
                <c:pt idx="25">
                  <c:v>10.835451000000001</c:v>
                </c:pt>
                <c:pt idx="26">
                  <c:v>8.9715509000000004</c:v>
                </c:pt>
                <c:pt idx="27">
                  <c:v>10.238156</c:v>
                </c:pt>
                <c:pt idx="28">
                  <c:v>9.3309841000000002</c:v>
                </c:pt>
                <c:pt idx="29">
                  <c:v>10.12049</c:v>
                </c:pt>
                <c:pt idx="30">
                  <c:v>10.157342</c:v>
                </c:pt>
                <c:pt idx="31">
                  <c:v>10.682331</c:v>
                </c:pt>
                <c:pt idx="32">
                  <c:v>9.6296444000000001</c:v>
                </c:pt>
                <c:pt idx="33">
                  <c:v>10.416903</c:v>
                </c:pt>
              </c:numCache>
            </c:numRef>
          </c:val>
          <c:smooth val="1"/>
          <c:extLst>
            <c:ext xmlns:c16="http://schemas.microsoft.com/office/drawing/2014/chart" uri="{C3380CC4-5D6E-409C-BE32-E72D297353CC}">
              <c16:uniqueId val="{00000002-A739-44F7-9EFC-A7E4C2411BF4}"/>
            </c:ext>
          </c:extLst>
        </c:ser>
        <c:dLbls>
          <c:showLegendKey val="0"/>
          <c:showVal val="0"/>
          <c:showCatName val="0"/>
          <c:showSerName val="0"/>
          <c:showPercent val="0"/>
          <c:showBubbleSize val="0"/>
        </c:dLbls>
        <c:smooth val="0"/>
        <c:axId val="48650112"/>
        <c:axId val="48672768"/>
      </c:lineChart>
      <c:catAx>
        <c:axId val="48650112"/>
        <c:scaling>
          <c:orientation val="minMax"/>
        </c:scaling>
        <c:delete val="1"/>
        <c:axPos val="b"/>
        <c:numFmt formatCode="General" sourceLinked="1"/>
        <c:majorTickMark val="none"/>
        <c:minorTickMark val="none"/>
        <c:tickLblPos val="nextTo"/>
        <c:crossAx val="48672768"/>
        <c:crosses val="autoZero"/>
        <c:auto val="1"/>
        <c:lblAlgn val="ctr"/>
        <c:lblOffset val="100"/>
        <c:noMultiLvlLbl val="1"/>
      </c:catAx>
      <c:valAx>
        <c:axId val="48672768"/>
        <c:scaling>
          <c:orientation val="minMax"/>
        </c:scaling>
        <c:delete val="0"/>
        <c:axPos val="l"/>
        <c:majorGridlines>
          <c:spPr>
            <a:ln w="9525">
              <a:solidFill>
                <a:srgbClr val="DEE5DC"/>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825">
                <a:solidFill>
                  <a:srgbClr val="65746B"/>
                </a:solidFill>
              </a:defRPr>
            </a:pPr>
            <a:endParaRPr lang="en-US"/>
          </a:p>
        </c:txPr>
        <c:crossAx val="48650112"/>
        <c:crosses val="autoZero"/>
        <c:crossBetween val="between"/>
      </c:valAx>
      <c:spPr>
        <a:solidFill>
          <a:srgbClr val="FFFEFA"/>
        </a:solidFill>
        <a:ln w="0">
          <a:noFill/>
          <a:prstDash val="solid"/>
        </a:ln>
      </c:spPr>
    </c:plotArea>
    <c:legend>
      <c:legendPos val="b"/>
      <c:overlay val="0"/>
      <c:txPr>
        <a:bodyPr anchorCtr="1"/>
        <a:lstStyle/>
        <a:p>
          <a:pPr>
            <a:defRPr sz="825">
              <a:solidFill>
                <a:srgbClr val="65746B"/>
              </a:solidFill>
            </a:defRPr>
          </a:pPr>
          <a:endParaRPr lang="en-US"/>
        </a:p>
      </c:txPr>
    </c:legend>
    <c:plotVisOnly val="1"/>
    <c:dispBlanksAs val="zero"/>
    <c:showDLblsOverMax val="1"/>
  </c:chart>
  <c:spPr>
    <a:solidFill>
      <a:srgbClr val="FFFEFA"/>
    </a:solidFill>
    <a:ln w="9525">
      <a:solidFill>
        <a:srgbClr val="D6DED4"/>
      </a:solidFill>
      <a:prstDash val="solid"/>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r>
              <a:rPr lang="en-GB" sz="1200" b="1">
                <a:solidFill>
                  <a:srgbClr val="214C3B"/>
                </a:solidFill>
              </a:rPr>
              <a:t>Motor current</a:t>
            </a:r>
          </a:p>
        </c:rich>
      </c:tx>
      <c:overlay val="0"/>
    </c:title>
    <c:autoTitleDeleted val="0"/>
    <c:plotArea>
      <c:layout/>
      <c:lineChart>
        <c:grouping val="standard"/>
        <c:varyColors val="0"/>
        <c:ser>
          <c:idx val="0"/>
          <c:order val="0"/>
          <c:tx>
            <c:v>curL</c:v>
          </c:tx>
          <c:spPr>
            <a:ln w="19050">
              <a:solidFill>
                <a:srgbClr val="214C3B"/>
              </a:solidFill>
              <a:prstDash val="solid"/>
            </a:ln>
          </c:spPr>
          <c:marker>
            <c:symbol val="none"/>
          </c:marker>
          <c:cat>
            <c:numRef>
              <c:f>'Chart Data'!$A$2:$A$35</c:f>
              <c:numCache>
                <c:formatCode>General</c:formatCode>
                <c:ptCount val="34"/>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numCache>
            </c:numRef>
          </c:cat>
          <c:val>
            <c:numRef>
              <c:f>'Chart Data'!$B$2:$B$35</c:f>
              <c:numCache>
                <c:formatCode>General</c:formatCode>
                <c:ptCount val="34"/>
                <c:pt idx="0">
                  <c:v>17.27</c:v>
                </c:pt>
                <c:pt idx="1">
                  <c:v>17.27</c:v>
                </c:pt>
                <c:pt idx="2">
                  <c:v>17.27</c:v>
                </c:pt>
                <c:pt idx="3">
                  <c:v>17.27</c:v>
                </c:pt>
                <c:pt idx="4">
                  <c:v>12.28</c:v>
                </c:pt>
                <c:pt idx="5">
                  <c:v>12.28</c:v>
                </c:pt>
                <c:pt idx="6">
                  <c:v>12.28</c:v>
                </c:pt>
                <c:pt idx="7">
                  <c:v>7.8200002</c:v>
                </c:pt>
                <c:pt idx="8">
                  <c:v>7.8200002</c:v>
                </c:pt>
                <c:pt idx="9">
                  <c:v>7.8200002</c:v>
                </c:pt>
                <c:pt idx="10">
                  <c:v>0.99000001000000004</c:v>
                </c:pt>
                <c:pt idx="11">
                  <c:v>0.99000001000000004</c:v>
                </c:pt>
                <c:pt idx="12">
                  <c:v>0.99000001000000004</c:v>
                </c:pt>
                <c:pt idx="13">
                  <c:v>2.1700001000000002</c:v>
                </c:pt>
                <c:pt idx="14">
                  <c:v>2.1700001000000002</c:v>
                </c:pt>
                <c:pt idx="15">
                  <c:v>2.1700001000000002</c:v>
                </c:pt>
                <c:pt idx="16">
                  <c:v>1.1200000000000001</c:v>
                </c:pt>
                <c:pt idx="17">
                  <c:v>1.1200000000000001</c:v>
                </c:pt>
                <c:pt idx="18">
                  <c:v>1.1200000000000001</c:v>
                </c:pt>
                <c:pt idx="19">
                  <c:v>1.78</c:v>
                </c:pt>
                <c:pt idx="20">
                  <c:v>1.78</c:v>
                </c:pt>
                <c:pt idx="21">
                  <c:v>1.78</c:v>
                </c:pt>
                <c:pt idx="22">
                  <c:v>1.38</c:v>
                </c:pt>
                <c:pt idx="23">
                  <c:v>1.38</c:v>
                </c:pt>
                <c:pt idx="24">
                  <c:v>1.38</c:v>
                </c:pt>
                <c:pt idx="25">
                  <c:v>1.51</c:v>
                </c:pt>
                <c:pt idx="26">
                  <c:v>1.51</c:v>
                </c:pt>
                <c:pt idx="27">
                  <c:v>1.51</c:v>
                </c:pt>
                <c:pt idx="28">
                  <c:v>2.1700001000000002</c:v>
                </c:pt>
                <c:pt idx="29">
                  <c:v>2.1700001000000002</c:v>
                </c:pt>
                <c:pt idx="30">
                  <c:v>2.1700001000000002</c:v>
                </c:pt>
                <c:pt idx="31">
                  <c:v>1.51</c:v>
                </c:pt>
                <c:pt idx="32">
                  <c:v>1.51</c:v>
                </c:pt>
                <c:pt idx="33">
                  <c:v>1.51</c:v>
                </c:pt>
              </c:numCache>
            </c:numRef>
          </c:val>
          <c:smooth val="1"/>
          <c:extLst>
            <c:ext xmlns:c16="http://schemas.microsoft.com/office/drawing/2014/chart" uri="{C3380CC4-5D6E-409C-BE32-E72D297353CC}">
              <c16:uniqueId val="{00000000-498E-4194-A343-A3142DD91A26}"/>
            </c:ext>
          </c:extLst>
        </c:ser>
        <c:ser>
          <c:idx val="1"/>
          <c:order val="1"/>
          <c:tx>
            <c:v>curR</c:v>
          </c:tx>
          <c:spPr>
            <a:ln w="19050">
              <a:solidFill>
                <a:srgbClr val="C2943B"/>
              </a:solidFill>
              <a:prstDash val="solid"/>
            </a:ln>
          </c:spPr>
          <c:marker>
            <c:symbol val="none"/>
          </c:marker>
          <c:cat>
            <c:numRef>
              <c:f>'Chart Data'!$C$2:$C$35</c:f>
              <c:numCache>
                <c:formatCode>General</c:formatCode>
                <c:ptCount val="34"/>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numCache>
            </c:numRef>
          </c:cat>
          <c:val>
            <c:numRef>
              <c:f>'Chart Data'!$D$2:$D$35</c:f>
              <c:numCache>
                <c:formatCode>General</c:formatCode>
                <c:ptCount val="34"/>
                <c:pt idx="0">
                  <c:v>6.9000000999999997</c:v>
                </c:pt>
                <c:pt idx="1">
                  <c:v>6.9000000999999997</c:v>
                </c:pt>
                <c:pt idx="2">
                  <c:v>6.9000000999999997</c:v>
                </c:pt>
                <c:pt idx="3">
                  <c:v>6.9000000999999997</c:v>
                </c:pt>
                <c:pt idx="4">
                  <c:v>2.96</c:v>
                </c:pt>
                <c:pt idx="5">
                  <c:v>2.96</c:v>
                </c:pt>
                <c:pt idx="6">
                  <c:v>2.96</c:v>
                </c:pt>
                <c:pt idx="7">
                  <c:v>6.2399997999999997</c:v>
                </c:pt>
                <c:pt idx="8">
                  <c:v>6.2399997999999997</c:v>
                </c:pt>
                <c:pt idx="9">
                  <c:v>6.2399997999999997</c:v>
                </c:pt>
                <c:pt idx="10">
                  <c:v>2.2999999999999998</c:v>
                </c:pt>
                <c:pt idx="11">
                  <c:v>2.2999999999999998</c:v>
                </c:pt>
                <c:pt idx="12">
                  <c:v>2.2999999999999998</c:v>
                </c:pt>
                <c:pt idx="13">
                  <c:v>2.1700001000000002</c:v>
                </c:pt>
                <c:pt idx="14">
                  <c:v>2.1700001000000002</c:v>
                </c:pt>
                <c:pt idx="15">
                  <c:v>2.1700001000000002</c:v>
                </c:pt>
                <c:pt idx="16">
                  <c:v>2.1700001000000002</c:v>
                </c:pt>
                <c:pt idx="17">
                  <c:v>2.1700001000000002</c:v>
                </c:pt>
                <c:pt idx="18">
                  <c:v>2.1700001000000002</c:v>
                </c:pt>
                <c:pt idx="19">
                  <c:v>2.2999999999999998</c:v>
                </c:pt>
                <c:pt idx="20">
                  <c:v>2.2999999999999998</c:v>
                </c:pt>
                <c:pt idx="21">
                  <c:v>2.2999999999999998</c:v>
                </c:pt>
                <c:pt idx="22">
                  <c:v>2.4300001</c:v>
                </c:pt>
                <c:pt idx="23">
                  <c:v>2.4300001</c:v>
                </c:pt>
                <c:pt idx="24">
                  <c:v>2.4300001</c:v>
                </c:pt>
                <c:pt idx="25">
                  <c:v>2.1700001000000002</c:v>
                </c:pt>
                <c:pt idx="26">
                  <c:v>2.1700001000000002</c:v>
                </c:pt>
                <c:pt idx="27">
                  <c:v>2.1700001000000002</c:v>
                </c:pt>
                <c:pt idx="28">
                  <c:v>2.96</c:v>
                </c:pt>
                <c:pt idx="29">
                  <c:v>2.96</c:v>
                </c:pt>
                <c:pt idx="30">
                  <c:v>2.96</c:v>
                </c:pt>
                <c:pt idx="31">
                  <c:v>2.1700001000000002</c:v>
                </c:pt>
                <c:pt idx="32">
                  <c:v>2.1700001000000002</c:v>
                </c:pt>
                <c:pt idx="33">
                  <c:v>2.1700001000000002</c:v>
                </c:pt>
              </c:numCache>
            </c:numRef>
          </c:val>
          <c:smooth val="1"/>
          <c:extLst>
            <c:ext xmlns:c16="http://schemas.microsoft.com/office/drawing/2014/chart" uri="{C3380CC4-5D6E-409C-BE32-E72D297353CC}">
              <c16:uniqueId val="{00000001-498E-4194-A343-A3142DD91A26}"/>
            </c:ext>
          </c:extLst>
        </c:ser>
        <c:dLbls>
          <c:showLegendKey val="0"/>
          <c:showVal val="0"/>
          <c:showCatName val="0"/>
          <c:showSerName val="0"/>
          <c:showPercent val="0"/>
          <c:showBubbleSize val="0"/>
        </c:dLbls>
        <c:smooth val="0"/>
        <c:axId val="48650112"/>
        <c:axId val="48672768"/>
      </c:lineChart>
      <c:catAx>
        <c:axId val="48650112"/>
        <c:scaling>
          <c:orientation val="minMax"/>
        </c:scaling>
        <c:delete val="1"/>
        <c:axPos val="b"/>
        <c:numFmt formatCode="General" sourceLinked="1"/>
        <c:majorTickMark val="none"/>
        <c:minorTickMark val="none"/>
        <c:tickLblPos val="nextTo"/>
        <c:crossAx val="48672768"/>
        <c:crosses val="autoZero"/>
        <c:auto val="1"/>
        <c:lblAlgn val="ctr"/>
        <c:lblOffset val="100"/>
        <c:noMultiLvlLbl val="1"/>
      </c:catAx>
      <c:valAx>
        <c:axId val="48672768"/>
        <c:scaling>
          <c:orientation val="minMax"/>
        </c:scaling>
        <c:delete val="0"/>
        <c:axPos val="l"/>
        <c:majorGridlines>
          <c:spPr>
            <a:ln w="9525">
              <a:solidFill>
                <a:srgbClr val="DEE5DC"/>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825">
                <a:solidFill>
                  <a:srgbClr val="65746B"/>
                </a:solidFill>
              </a:defRPr>
            </a:pPr>
            <a:endParaRPr lang="en-US"/>
          </a:p>
        </c:txPr>
        <c:crossAx val="48650112"/>
        <c:crosses val="autoZero"/>
        <c:crossBetween val="between"/>
      </c:valAx>
      <c:spPr>
        <a:solidFill>
          <a:srgbClr val="FFFEFA"/>
        </a:solidFill>
        <a:ln w="0">
          <a:noFill/>
          <a:prstDash val="solid"/>
        </a:ln>
      </c:spPr>
    </c:plotArea>
    <c:legend>
      <c:legendPos val="b"/>
      <c:overlay val="0"/>
      <c:txPr>
        <a:bodyPr anchorCtr="1"/>
        <a:lstStyle/>
        <a:p>
          <a:pPr>
            <a:defRPr sz="825">
              <a:solidFill>
                <a:srgbClr val="65746B"/>
              </a:solidFill>
            </a:defRPr>
          </a:pPr>
          <a:endParaRPr lang="en-US"/>
        </a:p>
      </c:txPr>
    </c:legend>
    <c:plotVisOnly val="1"/>
    <c:dispBlanksAs val="zero"/>
    <c:showDLblsOverMax val="1"/>
  </c:chart>
  <c:spPr>
    <a:solidFill>
      <a:srgbClr val="FFFEFA"/>
    </a:solidFill>
    <a:ln w="9525">
      <a:solidFill>
        <a:srgbClr val="D6DED4"/>
      </a:solidFill>
      <a:prstDash val="solid"/>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r>
              <a:rPr lang="en-GB" sz="1200" b="1">
                <a:solidFill>
                  <a:srgbClr val="214C3B"/>
                </a:solidFill>
              </a:rPr>
              <a:t>Wheel speed</a:t>
            </a:r>
          </a:p>
        </c:rich>
      </c:tx>
      <c:overlay val="0"/>
    </c:title>
    <c:autoTitleDeleted val="0"/>
    <c:plotArea>
      <c:layout/>
      <c:lineChart>
        <c:grouping val="standard"/>
        <c:varyColors val="0"/>
        <c:ser>
          <c:idx val="0"/>
          <c:order val="0"/>
          <c:tx>
            <c:v>velL</c:v>
          </c:tx>
          <c:spPr>
            <a:ln w="19050">
              <a:solidFill>
                <a:srgbClr val="214C3B"/>
              </a:solidFill>
              <a:prstDash val="solid"/>
            </a:ln>
          </c:spPr>
          <c:marker>
            <c:symbol val="none"/>
          </c:marker>
          <c:cat>
            <c:numRef>
              <c:f>'Chart Data'!$A$2:$A$35</c:f>
              <c:numCache>
                <c:formatCode>General</c:formatCode>
                <c:ptCount val="34"/>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numCache>
            </c:numRef>
          </c:cat>
          <c:val>
            <c:numRef>
              <c:f>'Chart Data'!$B$2:$B$35</c:f>
              <c:numCache>
                <c:formatCode>General</c:formatCode>
                <c:ptCount val="34"/>
                <c:pt idx="0">
                  <c:v>0.22047243999999999</c:v>
                </c:pt>
                <c:pt idx="1">
                  <c:v>0.22047243999999999</c:v>
                </c:pt>
                <c:pt idx="2">
                  <c:v>0.22047243999999999</c:v>
                </c:pt>
                <c:pt idx="3">
                  <c:v>0.22047243999999999</c:v>
                </c:pt>
                <c:pt idx="4">
                  <c:v>0.47244096000000002</c:v>
                </c:pt>
                <c:pt idx="5">
                  <c:v>0.47244096000000002</c:v>
                </c:pt>
                <c:pt idx="6">
                  <c:v>0.47244096000000002</c:v>
                </c:pt>
                <c:pt idx="7">
                  <c:v>0.74803149999999996</c:v>
                </c:pt>
                <c:pt idx="8">
                  <c:v>0.74803149999999996</c:v>
                </c:pt>
                <c:pt idx="9">
                  <c:v>0.74803149999999996</c:v>
                </c:pt>
                <c:pt idx="10">
                  <c:v>0.78740155999999994</c:v>
                </c:pt>
                <c:pt idx="11">
                  <c:v>0.78740155999999994</c:v>
                </c:pt>
                <c:pt idx="12">
                  <c:v>0.78740155999999994</c:v>
                </c:pt>
                <c:pt idx="13">
                  <c:v>0.78740155999999994</c:v>
                </c:pt>
                <c:pt idx="14">
                  <c:v>0.78740155999999994</c:v>
                </c:pt>
                <c:pt idx="15">
                  <c:v>0.78740155999999994</c:v>
                </c:pt>
                <c:pt idx="16">
                  <c:v>0.78740155999999994</c:v>
                </c:pt>
                <c:pt idx="17">
                  <c:v>0.78740155999999994</c:v>
                </c:pt>
                <c:pt idx="18">
                  <c:v>0.78740155999999994</c:v>
                </c:pt>
                <c:pt idx="19">
                  <c:v>0.78740155999999994</c:v>
                </c:pt>
                <c:pt idx="20">
                  <c:v>0.78740155999999994</c:v>
                </c:pt>
                <c:pt idx="21">
                  <c:v>0.78740155999999994</c:v>
                </c:pt>
                <c:pt idx="22">
                  <c:v>0.78740155999999994</c:v>
                </c:pt>
                <c:pt idx="23">
                  <c:v>0.78740155999999994</c:v>
                </c:pt>
                <c:pt idx="24">
                  <c:v>0.78740155999999994</c:v>
                </c:pt>
                <c:pt idx="25">
                  <c:v>0.78740155999999994</c:v>
                </c:pt>
                <c:pt idx="26">
                  <c:v>0.78740155999999994</c:v>
                </c:pt>
                <c:pt idx="27">
                  <c:v>0.78740155999999994</c:v>
                </c:pt>
                <c:pt idx="28">
                  <c:v>0.78740155999999994</c:v>
                </c:pt>
                <c:pt idx="29">
                  <c:v>0.78740155999999994</c:v>
                </c:pt>
                <c:pt idx="30">
                  <c:v>0.78740155999999994</c:v>
                </c:pt>
                <c:pt idx="31">
                  <c:v>0.78740155999999994</c:v>
                </c:pt>
                <c:pt idx="32">
                  <c:v>0.78740155999999994</c:v>
                </c:pt>
                <c:pt idx="33">
                  <c:v>0.78740155999999994</c:v>
                </c:pt>
              </c:numCache>
            </c:numRef>
          </c:val>
          <c:smooth val="1"/>
          <c:extLst>
            <c:ext xmlns:c16="http://schemas.microsoft.com/office/drawing/2014/chart" uri="{C3380CC4-5D6E-409C-BE32-E72D297353CC}">
              <c16:uniqueId val="{00000000-1ACA-4AC2-BF35-DBE85C28A50E}"/>
            </c:ext>
          </c:extLst>
        </c:ser>
        <c:ser>
          <c:idx val="1"/>
          <c:order val="1"/>
          <c:tx>
            <c:v>velR</c:v>
          </c:tx>
          <c:spPr>
            <a:ln w="19050">
              <a:solidFill>
                <a:srgbClr val="C2943B"/>
              </a:solidFill>
              <a:prstDash val="solid"/>
            </a:ln>
          </c:spPr>
          <c:marker>
            <c:symbol val="none"/>
          </c:marker>
          <c:cat>
            <c:numRef>
              <c:f>'Chart Data'!$C$2:$C$35</c:f>
              <c:numCache>
                <c:formatCode>General</c:formatCode>
                <c:ptCount val="34"/>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numCache>
            </c:numRef>
          </c:cat>
          <c:val>
            <c:numRef>
              <c:f>'Chart Data'!$D$2:$D$35</c:f>
              <c:numCache>
                <c:formatCode>General</c:formatCode>
                <c:ptCount val="34"/>
                <c:pt idx="0">
                  <c:v>0.22047243999999999</c:v>
                </c:pt>
                <c:pt idx="1">
                  <c:v>0.22047243999999999</c:v>
                </c:pt>
                <c:pt idx="2">
                  <c:v>0.22047243999999999</c:v>
                </c:pt>
                <c:pt idx="3">
                  <c:v>0.22047243999999999</c:v>
                </c:pt>
                <c:pt idx="4">
                  <c:v>0.47244096000000002</c:v>
                </c:pt>
                <c:pt idx="5">
                  <c:v>0.47244096000000002</c:v>
                </c:pt>
                <c:pt idx="6">
                  <c:v>0.47244096000000002</c:v>
                </c:pt>
                <c:pt idx="7">
                  <c:v>0.74803149999999996</c:v>
                </c:pt>
                <c:pt idx="8">
                  <c:v>0.74803149999999996</c:v>
                </c:pt>
                <c:pt idx="9">
                  <c:v>0.74803149999999996</c:v>
                </c:pt>
                <c:pt idx="10">
                  <c:v>0.78740155999999994</c:v>
                </c:pt>
                <c:pt idx="11">
                  <c:v>0.78740155999999994</c:v>
                </c:pt>
                <c:pt idx="12">
                  <c:v>0.78740155999999994</c:v>
                </c:pt>
                <c:pt idx="13">
                  <c:v>0.78740155999999994</c:v>
                </c:pt>
                <c:pt idx="14">
                  <c:v>0.78740155999999994</c:v>
                </c:pt>
                <c:pt idx="15">
                  <c:v>0.78740155999999994</c:v>
                </c:pt>
                <c:pt idx="16">
                  <c:v>0.78740155999999994</c:v>
                </c:pt>
                <c:pt idx="17">
                  <c:v>0.78740155999999994</c:v>
                </c:pt>
                <c:pt idx="18">
                  <c:v>0.78740155999999994</c:v>
                </c:pt>
                <c:pt idx="19">
                  <c:v>0.78740155999999994</c:v>
                </c:pt>
                <c:pt idx="20">
                  <c:v>0.78740155999999994</c:v>
                </c:pt>
                <c:pt idx="21">
                  <c:v>0.78740155999999994</c:v>
                </c:pt>
                <c:pt idx="22">
                  <c:v>0.78740155999999994</c:v>
                </c:pt>
                <c:pt idx="23">
                  <c:v>0.78740155999999994</c:v>
                </c:pt>
                <c:pt idx="24">
                  <c:v>0.78740155999999994</c:v>
                </c:pt>
                <c:pt idx="25">
                  <c:v>0.78740155999999994</c:v>
                </c:pt>
                <c:pt idx="26">
                  <c:v>0.78740155999999994</c:v>
                </c:pt>
                <c:pt idx="27">
                  <c:v>0.78740155999999994</c:v>
                </c:pt>
                <c:pt idx="28">
                  <c:v>0.78740155999999994</c:v>
                </c:pt>
                <c:pt idx="29">
                  <c:v>0.78740155999999994</c:v>
                </c:pt>
                <c:pt idx="30">
                  <c:v>0.78740155999999994</c:v>
                </c:pt>
                <c:pt idx="31">
                  <c:v>0.78740155999999994</c:v>
                </c:pt>
                <c:pt idx="32">
                  <c:v>0.78740155999999994</c:v>
                </c:pt>
                <c:pt idx="33">
                  <c:v>0.78740155999999994</c:v>
                </c:pt>
              </c:numCache>
            </c:numRef>
          </c:val>
          <c:smooth val="1"/>
          <c:extLst>
            <c:ext xmlns:c16="http://schemas.microsoft.com/office/drawing/2014/chart" uri="{C3380CC4-5D6E-409C-BE32-E72D297353CC}">
              <c16:uniqueId val="{00000001-1ACA-4AC2-BF35-DBE85C28A50E}"/>
            </c:ext>
          </c:extLst>
        </c:ser>
        <c:dLbls>
          <c:showLegendKey val="0"/>
          <c:showVal val="0"/>
          <c:showCatName val="0"/>
          <c:showSerName val="0"/>
          <c:showPercent val="0"/>
          <c:showBubbleSize val="0"/>
        </c:dLbls>
        <c:smooth val="0"/>
        <c:axId val="48650112"/>
        <c:axId val="48672768"/>
      </c:lineChart>
      <c:catAx>
        <c:axId val="48650112"/>
        <c:scaling>
          <c:orientation val="minMax"/>
        </c:scaling>
        <c:delete val="1"/>
        <c:axPos val="b"/>
        <c:numFmt formatCode="General" sourceLinked="1"/>
        <c:majorTickMark val="none"/>
        <c:minorTickMark val="none"/>
        <c:tickLblPos val="nextTo"/>
        <c:crossAx val="48672768"/>
        <c:crosses val="autoZero"/>
        <c:auto val="1"/>
        <c:lblAlgn val="ctr"/>
        <c:lblOffset val="100"/>
        <c:noMultiLvlLbl val="1"/>
      </c:catAx>
      <c:valAx>
        <c:axId val="48672768"/>
        <c:scaling>
          <c:orientation val="minMax"/>
        </c:scaling>
        <c:delete val="0"/>
        <c:axPos val="l"/>
        <c:majorGridlines>
          <c:spPr>
            <a:ln w="9525">
              <a:solidFill>
                <a:srgbClr val="DEE5DC"/>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825">
                <a:solidFill>
                  <a:srgbClr val="65746B"/>
                </a:solidFill>
              </a:defRPr>
            </a:pPr>
            <a:endParaRPr lang="en-US"/>
          </a:p>
        </c:txPr>
        <c:crossAx val="48650112"/>
        <c:crosses val="autoZero"/>
        <c:crossBetween val="between"/>
      </c:valAx>
      <c:spPr>
        <a:solidFill>
          <a:srgbClr val="FFFEFA"/>
        </a:solidFill>
        <a:ln w="0">
          <a:noFill/>
          <a:prstDash val="solid"/>
        </a:ln>
      </c:spPr>
    </c:plotArea>
    <c:legend>
      <c:legendPos val="b"/>
      <c:overlay val="0"/>
      <c:txPr>
        <a:bodyPr anchorCtr="1"/>
        <a:lstStyle/>
        <a:p>
          <a:pPr>
            <a:defRPr sz="825">
              <a:solidFill>
                <a:srgbClr val="65746B"/>
              </a:solidFill>
            </a:defRPr>
          </a:pPr>
          <a:endParaRPr lang="en-US"/>
        </a:p>
      </c:txPr>
    </c:legend>
    <c:plotVisOnly val="1"/>
    <c:dispBlanksAs val="zero"/>
    <c:showDLblsOverMax val="1"/>
  </c:chart>
  <c:spPr>
    <a:solidFill>
      <a:srgbClr val="FFFEFA"/>
    </a:solidFill>
    <a:ln w="9525">
      <a:solidFill>
        <a:srgbClr val="D6DED4"/>
      </a:solid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Dataset source: BorealTC, pinned at 0146dcd9fa08c34a9075a80448ac04c0a947b568. The project downloader verified the 144 manifested files against Git blob hashes. The generated cover image is illustrative and is not a dataset photograph.</a:t>
            </a:r>
          </a:p>
          <a:p>
            <a:r>
              <a:t>Opening: The project uses real inertial and wheel signals to classify five terrain labels. The rover image is a generated illustration, not the robot used to collect the source recordings.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Dataset source: BorealTC, pinned at 0146dcd9fa08c34a9075a80448ac04c0a947b568. The project downloader verified the 144 manifested files against Git blob hashes. The generated cover image is illustrative and is not a dataset photograph.</a:t>
            </a:r>
          </a:p>
          <a:p>
            <a:r>
              <a:t>The supplied Choi and Thomasson paper uses tactile sensors and different terrain labels. The final project uses BorealTC proprioceptive data. Its scores are not directly comparable to the paper.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Dataset source: BorealTC, pinned at 0146dcd9fa08c34a9075a80448ac04c0a947b568. The project downloader verified the 144 manifested files against Git blob hashes. The generated cover image is illustrative and is not a dataset photograph.</a:t>
            </a:r>
          </a:p>
          <a:p>
            <a:r>
              <a:t>The manifest contains 144 selected files: 142 paired IMU/proprioceptive CSVs plus the upstream dataset README and license file. The 90.5 MB CSV subset omits MIXED. The zipped project does not contain the raw data, but the project downloader retrieves and verifies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Dataset source: BorealTC, pinned at 0146dcd9fa08c34a9075a80448ac04c0a947b568. The project downloader verified the 144 manifested files against Git blob hashes. The generated cover image is illustrative and is not a dataset photograph.</a:t>
            </a:r>
          </a:p>
          <a:p>
            <a:r>
              <a:t>Class windows in train/validation/test are taken directly from results/metrics.json and reproduced by rerunning terrain.data.prepare() on all 144 verified files. Totals: asphalt 331, flooring 1,254, ice 1,337, sandy loam 381, snow 852.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Dataset sample: data/demo_samples.npz, sample 0 (global test index 185), group ASPHALT/03, start_seconds 0.0. The chart uses every fifth recorded point from the original 170-sample held-out window. Channels follow terrain/data.py: wx/wy/wz, ax/ay/az, curL/curR, velL/velR.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terrain/data.py validates required columns, finite measurements and strictly increasing timestamps. IMU rows are restricted to common wheel-data coverage; pandas merge_asof(direction='backward') holds the latest prior wheel reading. This prevents using a future wheel sample.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In data.py, split_runs(seed=42) allocates recordings separately within each terrain before window creation. In train.py, train, validation and test groups are checked for overlap. Normalization/scaling fit on training data; checkpoints/hyperparameters use validation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terrain/data.py extracts mean, standard deviation, min, max, RMS and first-difference RMS per channel into float32 features. The SVM and hybrid model use these 60 values. The raw CNN receives only the normalized signal window.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The SVM is an RBF SVC with balanced class weights. The baseline is sklearn DummyClassifier(strategy='most_frequent'), which predicts ICE because it has the largest training count (1,049).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Exact architecture from terrain/models.py: Conv1d channels 10→24 then 24→24 three times, kernel 5 padding 2, ReLU, MaxPool1d(2), Dropout(0.3). Lengths 170→85→42→21→10. Flatten gives 240; hybrid adds 60 features; head 64 hidden ReLU/dropout then 5 logits.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The SVM grid has eight combinations and selects validation macro-F1. CNN and hybrid use Adam (learning rate 0.001, weight decay 0.0001), weighted cross-entropy and early stopping at patience 12, up to 60 epochs. Histories record 38 raw-CNN epochs (best 26) and 51 hybrid epochs (best 39).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Values are from results/metrics.json. Accuracy is the share of correct windows; balanced accuracy averages per-class recall; macro-F1 averages per-class F1. The majority baseline predicts 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Metrics exactly match results/metrics.json and were independently recomputed from all 930 saved rows in results/test_predictions.npz. Confusion matrices also match the saved results. The hybrid's accuracy exceeds the SVM by 2.258 percentage points, a descriptive difference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Per-class metrics are the CNN+features test classification report in results/metrics.json. The support count for each class is shown. Macro-F1 gives each class equal weight despite uneven support.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This is the source result plot generated from saved test predictions. It shows all five terrain classes for each candidate model; rows are true labels and columns are predicted labels.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Counts are read from the CNN+features confusion matrix in results/metrics.json. Largest off-diagonal entries: ICE→FLOORING 35, SNOW→ICE 21, FLOORING→SNOW 20, SNOW→ASPHALT 17. The project does not claim a causal explanation.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The figure is results/training_curves.png. The source training history has 38 epochs for cnn and 51 epochs for cnn_features, with the selected best epochs 26 and 39. The displayed hybrid epoch 39 reaches validation macro-F1 0.72557 (rounded to 0.726).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The repository validation record dated 8 October 2026 reports: 144 data files checksum-verified; 4,155 windows; 930 test examples; 8 tests passed in 32.57 seconds; all 50 demo predictions matched the saved test predictions. This is the repo's recorded verification, not a fresh test run in this revision.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ml_mini_project-main archive, checked against the GitHub checkout. Facts are drawn from README.md, data/source_manifest.json, terrain/data.py, terrain/models.py, terrain/train.py, results/metrics.json, results/test_predictions.npz, results/training_history.json, results/confusion_matrices.png, results/training_curves.png and docs/VALIDATION.md.</a:t>
            </a:r>
          </a:p>
          <a:p>
            <a:r>
              <a:t>Conclusion is limited to the BorealTC fixed split. The repository explicitly avoids claims of statistical significance, calibrated probabilities, cross-robot generalization or deployment readiness. Future work is listed in README.md and docs/WRITEUP_SOURCE.md.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https://cs229.stanford.edu/proj2020spr/report/Choi_Thomasson.pdf</a:t>
            </a:r>
          </a:p>
          <a:p>
            <a:r>
              <a:t>[2] https://doi.org/10.1109/IROS58592.2024.10801407</a:t>
            </a:r>
          </a:p>
          <a:p>
            <a:r>
              <a:t>[3] https://github.com/norlab-ulaval/BorealTC/tree/0146dcd9fa08c34a9075a80448ac04c0a947b568</a:t>
            </a:r>
          </a:p>
          <a:p>
            <a:r>
              <a:t>Project: https://github.com/S-Anuj-Srijan/ml_mini_project</a:t>
            </a:r>
          </a:p>
          <a:p>
            <a:r>
              <a:t>The included assignment PDF is treated as assignment context. Its “One-Page” heading conflicts with the body request for two pages; this report follows the two-page detail request used by the project materials.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45646B4-C56F-4E68-A4D4-219257EB8CB1}"/>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2C2072AB-6AF4-4D05-84A3-098A07CED9D9}"/>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3BE725E4-5C2F-4122-B2A2-B6B6F77F6DA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3DDBE5C-5B4F-4405-A4D5-3E42D26791D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38979D7C-2937-4197-817B-A7ACA06CE282}"/>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3D9FC40-1810-4D19-ACED-0B7C8456F34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6E3F7522-1A79-4D3B-A5F0-69EAC655633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EFB4BE2F-7629-4203-BFF4-5773CE55D947}"/>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C52F522-F9EF-4E7A-A307-A320E7B04FD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AFED5F6A-894F-4FED-BAF4-E0C699AC1E4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A55521F-3FA5-4420-B225-7022F5A5377D}"/>
              </a:ext>
            </a:extLst>
          </p:cNvPr>
          <p:cNvPicPr>
            <a:picLocks noChangeAspect="1"/>
          </p:cNvPicPr>
          <p:nvPr/>
        </p:nvPicPr>
        <p:blipFill>
          <a:blip r:embed="rId3"/>
          <a:srcRect l="19124" r="19124"/>
          <a:stretch>
            <a:fillRect/>
          </a:stretch>
        </p:blipFill>
        <p:spPr>
          <a:xfrm>
            <a:off x="4667250" y="0"/>
            <a:ext cx="7524750" cy="6858000"/>
          </a:xfrm>
          <a:prstGeom prst="rect">
            <a:avLst/>
          </a:prstGeom>
        </p:spPr>
      </p:pic>
      <p:sp>
        <p:nvSpPr>
          <p:cNvPr id="2" name="Rectangle 1">
            <a:extLst>
              <a:ext uri="{FF2B5EF4-FFF2-40B4-BE49-F238E27FC236}">
                <a16:creationId xmlns:a16="http://schemas.microsoft.com/office/drawing/2014/main" id="{0558CC51-3BD2-4552-9AD8-40C62B7565AC}"/>
              </a:ext>
            </a:extLst>
          </p:cNvPr>
          <p:cNvSpPr>
            <a:spLocks noGrp="1"/>
          </p:cNvSpPr>
          <p:nvPr/>
        </p:nvSpPr>
        <p:spPr>
          <a:xfrm>
            <a:off x="0" y="0"/>
            <a:ext cx="5857875" cy="6858000"/>
          </a:xfrm>
          <a:prstGeom prst="rect">
            <a:avLst/>
          </a:prstGeom>
          <a:solidFill>
            <a:srgbClr val="F7F6F0"/>
          </a:solidFill>
          <a:ln w="0">
            <a:noFill/>
            <a:prstDash val="solid"/>
          </a:ln>
        </p:spPr>
      </p:sp>
      <p:sp>
        <p:nvSpPr>
          <p:cNvPr id="3" name="Rectangle 2">
            <a:extLst>
              <a:ext uri="{FF2B5EF4-FFF2-40B4-BE49-F238E27FC236}">
                <a16:creationId xmlns:a16="http://schemas.microsoft.com/office/drawing/2014/main" id="{2247E2F2-5D24-44C5-B3E8-8033170ED009}"/>
              </a:ext>
            </a:extLst>
          </p:cNvPr>
          <p:cNvSpPr>
            <a:spLocks noGrp="1"/>
          </p:cNvSpPr>
          <p:nvPr/>
        </p:nvSpPr>
        <p:spPr>
          <a:xfrm>
            <a:off x="685800" y="685800"/>
            <a:ext cx="4572000" cy="266700"/>
          </a:xfrm>
          <a:prstGeom prst="rect">
            <a:avLst/>
          </a:prstGeom>
          <a:noFill/>
          <a:ln w="0">
            <a:noFill/>
            <a:prstDash val="solid"/>
          </a:ln>
        </p:spPr>
        <p:txBody>
          <a:bodyPr wrap="square" lIns="0" tIns="0" rIns="0" bIns="0" anchor="t">
            <a:normAutofit/>
          </a:bodyPr>
          <a:lstStyle>
            <a:defPPr algn="l">
              <a:defRPr sz="1275" b="1">
                <a:solidFill>
                  <a:srgbClr val="789578"/>
                </a:solidFill>
                <a:latin typeface="Aptos"/>
                <a:ea typeface="Aptos"/>
                <a:cs typeface="Aptos"/>
              </a:defRPr>
            </a:defPPr>
          </a:lstStyle>
          <a:p>
            <a:pPr algn="l">
              <a:defRPr sz="1275" b="1">
                <a:solidFill>
                  <a:srgbClr val="789578"/>
                </a:solidFill>
                <a:latin typeface="Aptos"/>
                <a:ea typeface="Aptos"/>
                <a:cs typeface="Aptos"/>
              </a:defRPr>
            </a:pPr>
            <a:r>
              <a:rPr sz="1275" b="1">
                <a:solidFill>
                  <a:srgbClr val="789578"/>
                </a:solidFill>
                <a:latin typeface="Aptos"/>
                <a:ea typeface="Aptos"/>
                <a:cs typeface="Aptos"/>
              </a:rPr>
              <a:t>UE24CS352A  /  MACHINE LEARNING</a:t>
            </a:r>
          </a:p>
        </p:txBody>
      </p:sp>
      <p:sp>
        <p:nvSpPr>
          <p:cNvPr id="4" name="Rectangle 3">
            <a:extLst>
              <a:ext uri="{FF2B5EF4-FFF2-40B4-BE49-F238E27FC236}">
                <a16:creationId xmlns:a16="http://schemas.microsoft.com/office/drawing/2014/main" id="{E9D0F5AA-928A-49EB-A2CA-C467591A8EDA}"/>
              </a:ext>
            </a:extLst>
          </p:cNvPr>
          <p:cNvSpPr>
            <a:spLocks noGrp="1"/>
          </p:cNvSpPr>
          <p:nvPr/>
        </p:nvSpPr>
        <p:spPr>
          <a:xfrm>
            <a:off x="685800" y="1562100"/>
            <a:ext cx="4667250" cy="1619250"/>
          </a:xfrm>
          <a:prstGeom prst="rect">
            <a:avLst/>
          </a:prstGeom>
          <a:noFill/>
          <a:ln w="0">
            <a:noFill/>
            <a:prstDash val="solid"/>
          </a:ln>
        </p:spPr>
        <p:txBody>
          <a:bodyPr wrap="square" lIns="0" tIns="0" rIns="0" bIns="0" anchor="t">
            <a:normAutofit/>
          </a:bodyPr>
          <a:lstStyle>
            <a:defPPr algn="l">
              <a:defRPr sz="4050" b="1">
                <a:solidFill>
                  <a:srgbClr val="214C3B"/>
                </a:solidFill>
                <a:latin typeface="Aptos"/>
                <a:ea typeface="Aptos"/>
                <a:cs typeface="Aptos"/>
              </a:defRPr>
            </a:defPPr>
          </a:lstStyle>
          <a:p>
            <a:pPr algn="l">
              <a:defRPr sz="4050" b="1">
                <a:solidFill>
                  <a:srgbClr val="214C3B"/>
                </a:solidFill>
                <a:latin typeface="Aptos"/>
                <a:ea typeface="Aptos"/>
                <a:cs typeface="Aptos"/>
              </a:defRPr>
            </a:pPr>
            <a:r>
              <a:rPr sz="4050" b="1">
                <a:solidFill>
                  <a:srgbClr val="214C3B"/>
                </a:solidFill>
                <a:latin typeface="Aptos"/>
                <a:ea typeface="Aptos"/>
                <a:cs typeface="Aptos"/>
              </a:rPr>
              <a:t>Terrain</a:t>
            </a:r>
          </a:p>
          <a:p>
            <a:pPr algn="l">
              <a:defRPr sz="4050" b="1">
                <a:solidFill>
                  <a:srgbClr val="214C3B"/>
                </a:solidFill>
                <a:latin typeface="Aptos"/>
                <a:ea typeface="Aptos"/>
                <a:cs typeface="Aptos"/>
              </a:defRPr>
            </a:pPr>
            <a:r>
              <a:rPr sz="4050" b="1">
                <a:solidFill>
                  <a:srgbClr val="214C3B"/>
                </a:solidFill>
                <a:latin typeface="Aptos"/>
                <a:ea typeface="Aptos"/>
                <a:cs typeface="Aptos"/>
              </a:rPr>
              <a:t>classification</a:t>
            </a:r>
          </a:p>
        </p:txBody>
      </p:sp>
      <p:sp>
        <p:nvSpPr>
          <p:cNvPr id="5" name="Rectangle 4">
            <a:extLst>
              <a:ext uri="{FF2B5EF4-FFF2-40B4-BE49-F238E27FC236}">
                <a16:creationId xmlns:a16="http://schemas.microsoft.com/office/drawing/2014/main" id="{72B23BE7-52E1-431D-A840-7D5038D590F9}"/>
              </a:ext>
            </a:extLst>
          </p:cNvPr>
          <p:cNvSpPr>
            <a:spLocks noGrp="1"/>
          </p:cNvSpPr>
          <p:nvPr/>
        </p:nvSpPr>
        <p:spPr>
          <a:xfrm>
            <a:off x="685800" y="3162300"/>
            <a:ext cx="4667250" cy="800100"/>
          </a:xfrm>
          <a:prstGeom prst="rect">
            <a:avLst/>
          </a:prstGeom>
          <a:noFill/>
          <a:ln w="0">
            <a:noFill/>
            <a:prstDash val="solid"/>
          </a:ln>
        </p:spPr>
        <p:txBody>
          <a:bodyPr wrap="square" lIns="0" tIns="0" rIns="0" bIns="0" anchor="t">
            <a:normAutofit/>
          </a:bodyPr>
          <a:lstStyle>
            <a:defPPr algn="l">
              <a:defRPr sz="2250" b="1">
                <a:solidFill>
                  <a:srgbClr val="356B51"/>
                </a:solidFill>
                <a:latin typeface="Aptos"/>
                <a:ea typeface="Aptos"/>
                <a:cs typeface="Aptos"/>
              </a:defRPr>
            </a:defPPr>
          </a:lstStyle>
          <a:p>
            <a:pPr algn="l">
              <a:defRPr sz="2250" b="1">
                <a:solidFill>
                  <a:srgbClr val="356B51"/>
                </a:solidFill>
                <a:latin typeface="Aptos"/>
                <a:ea typeface="Aptos"/>
                <a:cs typeface="Aptos"/>
              </a:defRPr>
            </a:pPr>
            <a:r>
              <a:rPr sz="2250" b="1">
                <a:solidFill>
                  <a:srgbClr val="356B51"/>
                </a:solidFill>
                <a:latin typeface="Aptos"/>
                <a:ea typeface="Aptos"/>
                <a:cs typeface="Aptos"/>
              </a:rPr>
              <a:t>from real robot sensor time series</a:t>
            </a:r>
          </a:p>
        </p:txBody>
      </p:sp>
      <p:sp>
        <p:nvSpPr>
          <p:cNvPr id="6" name="Rectangle 5">
            <a:extLst>
              <a:ext uri="{FF2B5EF4-FFF2-40B4-BE49-F238E27FC236}">
                <a16:creationId xmlns:a16="http://schemas.microsoft.com/office/drawing/2014/main" id="{3FEE74BE-306D-4EB0-909A-12C33EE185D5}"/>
              </a:ext>
            </a:extLst>
          </p:cNvPr>
          <p:cNvSpPr>
            <a:spLocks noGrp="1"/>
          </p:cNvSpPr>
          <p:nvPr/>
        </p:nvSpPr>
        <p:spPr>
          <a:xfrm>
            <a:off x="685800" y="4267200"/>
            <a:ext cx="1047750" cy="38100"/>
          </a:xfrm>
          <a:prstGeom prst="rect">
            <a:avLst/>
          </a:prstGeom>
          <a:solidFill>
            <a:srgbClr val="C2943B"/>
          </a:solidFill>
          <a:ln w="0">
            <a:noFill/>
            <a:prstDash val="solid"/>
          </a:ln>
        </p:spPr>
      </p:sp>
      <p:sp>
        <p:nvSpPr>
          <p:cNvPr id="7" name="Rectangle 6">
            <a:extLst>
              <a:ext uri="{FF2B5EF4-FFF2-40B4-BE49-F238E27FC236}">
                <a16:creationId xmlns:a16="http://schemas.microsoft.com/office/drawing/2014/main" id="{606E2CDA-C68F-4C02-8286-209C390A6D05}"/>
              </a:ext>
            </a:extLst>
          </p:cNvPr>
          <p:cNvSpPr>
            <a:spLocks noGrp="1"/>
          </p:cNvSpPr>
          <p:nvPr/>
        </p:nvSpPr>
        <p:spPr>
          <a:xfrm>
            <a:off x="685800" y="4552950"/>
            <a:ext cx="4095750" cy="552450"/>
          </a:xfrm>
          <a:prstGeom prst="rect">
            <a:avLst/>
          </a:prstGeom>
          <a:noFill/>
          <a:ln w="0">
            <a:noFill/>
            <a:prstDash val="solid"/>
          </a:ln>
        </p:spPr>
        <p:txBody>
          <a:bodyPr wrap="square" lIns="0" tIns="0" rIns="0" bIns="0" anchor="t">
            <a:normAutofit/>
          </a:bodyPr>
          <a:lstStyle>
            <a:defPPr algn="l">
              <a:defRPr sz="1800" b="0">
                <a:solidFill>
                  <a:srgbClr val="26322D"/>
                </a:solidFill>
                <a:latin typeface="Aptos"/>
                <a:ea typeface="Aptos"/>
                <a:cs typeface="Aptos"/>
              </a:defRPr>
            </a:defPPr>
          </a:lstStyle>
          <a:p>
            <a:pPr algn="l">
              <a:defRPr sz="1800" b="0">
                <a:solidFill>
                  <a:srgbClr val="26322D"/>
                </a:solidFill>
                <a:latin typeface="Aptos"/>
                <a:ea typeface="Aptos"/>
                <a:cs typeface="Aptos"/>
              </a:defRPr>
            </a:pPr>
            <a:r>
              <a:rPr sz="1800" b="0">
                <a:solidFill>
                  <a:srgbClr val="26322D"/>
                </a:solidFill>
                <a:latin typeface="Aptos"/>
                <a:ea typeface="Aptos"/>
                <a:cs typeface="Aptos"/>
              </a:rPr>
              <a:t>A feature-engineering and temporal CNN study</a:t>
            </a:r>
          </a:p>
        </p:txBody>
      </p:sp>
      <p:sp>
        <p:nvSpPr>
          <p:cNvPr id="8" name="Rectangle 7">
            <a:extLst>
              <a:ext uri="{FF2B5EF4-FFF2-40B4-BE49-F238E27FC236}">
                <a16:creationId xmlns:a16="http://schemas.microsoft.com/office/drawing/2014/main" id="{129EDB95-F977-4364-9848-CBC28C7F6AD3}"/>
              </a:ext>
            </a:extLst>
          </p:cNvPr>
          <p:cNvSpPr>
            <a:spLocks noGrp="1"/>
          </p:cNvSpPr>
          <p:nvPr/>
        </p:nvSpPr>
        <p:spPr>
          <a:xfrm>
            <a:off x="685800" y="5448300"/>
            <a:ext cx="4000500" cy="323850"/>
          </a:xfrm>
          <a:prstGeom prst="rect">
            <a:avLst/>
          </a:prstGeom>
          <a:noFill/>
          <a:ln w="0">
            <a:noFill/>
            <a:prstDash val="solid"/>
          </a:ln>
        </p:spPr>
        <p:txBody>
          <a:bodyPr wrap="square" lIns="0" tIns="0" rIns="0" bIns="0" anchor="t">
            <a:normAutofit/>
          </a:bodyPr>
          <a:lstStyle>
            <a:defPPr algn="l">
              <a:defRPr sz="1425" b="0">
                <a:solidFill>
                  <a:srgbClr val="65746B"/>
                </a:solidFill>
                <a:latin typeface="Aptos"/>
                <a:ea typeface="Aptos"/>
                <a:cs typeface="Aptos"/>
              </a:defRPr>
            </a:defPPr>
          </a:lstStyle>
          <a:p>
            <a:pPr algn="l">
              <a:defRPr sz="1425" b="0">
                <a:solidFill>
                  <a:srgbClr val="65746B"/>
                </a:solidFill>
                <a:latin typeface="Aptos"/>
                <a:ea typeface="Aptos"/>
                <a:cs typeface="Aptos"/>
              </a:defRPr>
            </a:pPr>
            <a:r>
              <a:rPr sz="1425" b="0">
                <a:solidFill>
                  <a:srgbClr val="65746B"/>
                </a:solidFill>
                <a:latin typeface="Aptos"/>
                <a:ea typeface="Aptos"/>
                <a:cs typeface="Aptos"/>
              </a:rPr>
              <a:t>Mini-project review  |  October 2026</a:t>
            </a:r>
          </a:p>
        </p:txBody>
      </p:sp>
      <p:sp>
        <p:nvSpPr>
          <p:cNvPr id="9" name="Rectangle 8">
            <a:extLst>
              <a:ext uri="{FF2B5EF4-FFF2-40B4-BE49-F238E27FC236}">
                <a16:creationId xmlns:a16="http://schemas.microsoft.com/office/drawing/2014/main" id="{856F7466-2B42-4B80-BED4-508D98C00BCA}"/>
              </a:ext>
            </a:extLst>
          </p:cNvPr>
          <p:cNvSpPr>
            <a:spLocks noGrp="1"/>
          </p:cNvSpPr>
          <p:nvPr/>
        </p:nvSpPr>
        <p:spPr>
          <a:xfrm>
            <a:off x="685800" y="6115050"/>
            <a:ext cx="4000500" cy="4000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Cover illustration; project results use recorded BorealTC data.</a:t>
            </a:r>
          </a:p>
        </p:txBody>
      </p:sp>
    </p:spTree>
    <p:extLst>
      <p:ext uri="{BB962C8B-B14F-4D97-AF65-F5344CB8AC3E}">
        <p14:creationId xmlns:p14="http://schemas.microsoft.com/office/powerpoint/2010/main" val="1640020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CD5965EB-5B6D-4C7C-8A30-4573425F065F}"/>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PROJECT QUESTION AND SCOPE</a:t>
            </a:r>
          </a:p>
        </p:txBody>
      </p:sp>
      <p:sp>
        <p:nvSpPr>
          <p:cNvPr id="2" name="Rectangle 1">
            <a:extLst>
              <a:ext uri="{FF2B5EF4-FFF2-40B4-BE49-F238E27FC236}">
                <a16:creationId xmlns:a16="http://schemas.microsoft.com/office/drawing/2014/main" id="{27673C26-2292-4C7E-9131-73DC73FD42BB}"/>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Can robot motion identify the terrain?</a:t>
            </a:r>
          </a:p>
        </p:txBody>
      </p:sp>
      <p:sp>
        <p:nvSpPr>
          <p:cNvPr id="3" name="Rectangle 2">
            <a:extLst>
              <a:ext uri="{FF2B5EF4-FFF2-40B4-BE49-F238E27FC236}">
                <a16:creationId xmlns:a16="http://schemas.microsoft.com/office/drawing/2014/main" id="{074724BF-F7A6-43CD-BDB9-707233FE863F}"/>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87741934-22CB-4B2B-B173-5077756BFC75}"/>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17497912-FD9A-4196-9C00-0811088FF13E}"/>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02 / 20</a:t>
            </a:r>
          </a:p>
        </p:txBody>
      </p:sp>
      <p:sp>
        <p:nvSpPr>
          <p:cNvPr id="6" name="Rectangle 5">
            <a:extLst>
              <a:ext uri="{FF2B5EF4-FFF2-40B4-BE49-F238E27FC236}">
                <a16:creationId xmlns:a16="http://schemas.microsoft.com/office/drawing/2014/main" id="{3C6967C0-E9E0-4836-8229-23D8EBA5D55B}"/>
              </a:ext>
            </a:extLst>
          </p:cNvPr>
          <p:cNvSpPr>
            <a:spLocks noGrp="1"/>
          </p:cNvSpPr>
          <p:nvPr/>
        </p:nvSpPr>
        <p:spPr>
          <a:xfrm>
            <a:off x="723900" y="1562100"/>
            <a:ext cx="4953000" cy="419100"/>
          </a:xfrm>
          <a:prstGeom prst="rect">
            <a:avLst/>
          </a:prstGeom>
          <a:noFill/>
          <a:ln w="0">
            <a:noFill/>
            <a:prstDash val="solid"/>
          </a:ln>
        </p:spPr>
        <p:txBody>
          <a:bodyPr wrap="square" lIns="0" tIns="0" rIns="0" bIns="0" anchor="t">
            <a:normAutofit/>
          </a:bodyPr>
          <a:lstStyle>
            <a:defPPr algn="l">
              <a:defRPr sz="1650" b="1">
                <a:solidFill>
                  <a:srgbClr val="C2943B"/>
                </a:solidFill>
                <a:latin typeface="Aptos"/>
                <a:ea typeface="Aptos"/>
                <a:cs typeface="Aptos"/>
              </a:defRPr>
            </a:defPPr>
          </a:lstStyle>
          <a:p>
            <a:pPr algn="l">
              <a:defRPr sz="1650" b="1">
                <a:solidFill>
                  <a:srgbClr val="C2943B"/>
                </a:solidFill>
                <a:latin typeface="Aptos"/>
                <a:ea typeface="Aptos"/>
                <a:cs typeface="Aptos"/>
              </a:defRPr>
            </a:pPr>
            <a:r>
              <a:rPr sz="1650" b="1">
                <a:solidFill>
                  <a:srgbClr val="C2943B"/>
                </a:solidFill>
                <a:latin typeface="Aptos"/>
                <a:ea typeface="Aptos"/>
                <a:cs typeface="Aptos"/>
              </a:rPr>
              <a:t>Input</a:t>
            </a:r>
          </a:p>
        </p:txBody>
      </p:sp>
      <p:sp>
        <p:nvSpPr>
          <p:cNvPr id="7" name="Rectangle 6">
            <a:extLst>
              <a:ext uri="{FF2B5EF4-FFF2-40B4-BE49-F238E27FC236}">
                <a16:creationId xmlns:a16="http://schemas.microsoft.com/office/drawing/2014/main" id="{C7FD3A6F-D638-46DB-B5FB-B647BC885D29}"/>
              </a:ext>
            </a:extLst>
          </p:cNvPr>
          <p:cNvSpPr>
            <a:spLocks noGrp="1"/>
          </p:cNvSpPr>
          <p:nvPr/>
        </p:nvSpPr>
        <p:spPr>
          <a:xfrm>
            <a:off x="723900" y="1962150"/>
            <a:ext cx="4762500" cy="914400"/>
          </a:xfrm>
          <a:prstGeom prst="rect">
            <a:avLst/>
          </a:prstGeom>
          <a:noFill/>
          <a:ln w="0">
            <a:noFill/>
            <a:prstDash val="solid"/>
          </a:ln>
        </p:spPr>
        <p:txBody>
          <a:bodyPr wrap="square" lIns="0" tIns="0" rIns="0" bIns="0" anchor="t">
            <a:normAutofit/>
          </a:bodyPr>
          <a:lstStyle>
            <a:defPPr algn="l">
              <a:defRPr sz="2025" b="1">
                <a:solidFill>
                  <a:srgbClr val="26322D"/>
                </a:solidFill>
                <a:latin typeface="Aptos"/>
                <a:ea typeface="Aptos"/>
                <a:cs typeface="Aptos"/>
              </a:defRPr>
            </a:defPPr>
          </a:lstStyle>
          <a:p>
            <a:pPr algn="l">
              <a:defRPr sz="2025" b="1">
                <a:solidFill>
                  <a:srgbClr val="26322D"/>
                </a:solidFill>
                <a:latin typeface="Aptos"/>
                <a:ea typeface="Aptos"/>
                <a:cs typeface="Aptos"/>
              </a:defRPr>
            </a:pPr>
            <a:r>
              <a:rPr sz="2025" b="1">
                <a:solidFill>
                  <a:srgbClr val="26322D"/>
                </a:solidFill>
                <a:latin typeface="Aptos"/>
                <a:ea typeface="Aptos"/>
                <a:cs typeface="Aptos"/>
              </a:rPr>
              <a:t>A short time window from inertial and wheel sensors on a mobile robot.</a:t>
            </a:r>
          </a:p>
        </p:txBody>
      </p:sp>
      <p:sp>
        <p:nvSpPr>
          <p:cNvPr id="8" name="Rectangle 7">
            <a:extLst>
              <a:ext uri="{FF2B5EF4-FFF2-40B4-BE49-F238E27FC236}">
                <a16:creationId xmlns:a16="http://schemas.microsoft.com/office/drawing/2014/main" id="{124948C6-579E-4383-8093-E08AFDFF0876}"/>
              </a:ext>
            </a:extLst>
          </p:cNvPr>
          <p:cNvSpPr>
            <a:spLocks noGrp="1"/>
          </p:cNvSpPr>
          <p:nvPr/>
        </p:nvSpPr>
        <p:spPr>
          <a:xfrm>
            <a:off x="723900" y="3352800"/>
            <a:ext cx="4953000" cy="361950"/>
          </a:xfrm>
          <a:prstGeom prst="rect">
            <a:avLst/>
          </a:prstGeom>
          <a:noFill/>
          <a:ln w="0">
            <a:noFill/>
            <a:prstDash val="solid"/>
          </a:ln>
        </p:spPr>
        <p:txBody>
          <a:bodyPr wrap="square" lIns="0" tIns="0" rIns="0" bIns="0" anchor="t">
            <a:normAutofit/>
          </a:bodyPr>
          <a:lstStyle>
            <a:defPPr algn="l">
              <a:defRPr sz="1650" b="1">
                <a:solidFill>
                  <a:srgbClr val="C2943B"/>
                </a:solidFill>
                <a:latin typeface="Aptos"/>
                <a:ea typeface="Aptos"/>
                <a:cs typeface="Aptos"/>
              </a:defRPr>
            </a:defPPr>
          </a:lstStyle>
          <a:p>
            <a:pPr algn="l">
              <a:defRPr sz="1650" b="1">
                <a:solidFill>
                  <a:srgbClr val="C2943B"/>
                </a:solidFill>
                <a:latin typeface="Aptos"/>
                <a:ea typeface="Aptos"/>
                <a:cs typeface="Aptos"/>
              </a:defRPr>
            </a:pPr>
            <a:r>
              <a:rPr sz="1650" b="1">
                <a:solidFill>
                  <a:srgbClr val="C2943B"/>
                </a:solidFill>
                <a:latin typeface="Aptos"/>
                <a:ea typeface="Aptos"/>
                <a:cs typeface="Aptos"/>
              </a:rPr>
              <a:t>Output</a:t>
            </a:r>
          </a:p>
        </p:txBody>
      </p:sp>
      <p:sp>
        <p:nvSpPr>
          <p:cNvPr id="9" name="Rectangle 8">
            <a:extLst>
              <a:ext uri="{FF2B5EF4-FFF2-40B4-BE49-F238E27FC236}">
                <a16:creationId xmlns:a16="http://schemas.microsoft.com/office/drawing/2014/main" id="{77B8E935-40C0-4FAA-B4A4-4F66D6C9D818}"/>
              </a:ext>
            </a:extLst>
          </p:cNvPr>
          <p:cNvSpPr>
            <a:spLocks noGrp="1"/>
          </p:cNvSpPr>
          <p:nvPr/>
        </p:nvSpPr>
        <p:spPr>
          <a:xfrm>
            <a:off x="723900" y="3781425"/>
            <a:ext cx="4762500" cy="590550"/>
          </a:xfrm>
          <a:prstGeom prst="rect">
            <a:avLst/>
          </a:prstGeom>
          <a:noFill/>
          <a:ln w="0">
            <a:noFill/>
            <a:prstDash val="solid"/>
          </a:ln>
        </p:spPr>
        <p:txBody>
          <a:bodyPr wrap="square" lIns="0" tIns="0" rIns="0" bIns="0" anchor="t">
            <a:normAutofit/>
          </a:bodyPr>
          <a:lstStyle>
            <a:defPPr algn="l">
              <a:defRPr sz="1950" b="1">
                <a:solidFill>
                  <a:srgbClr val="214C3B"/>
                </a:solidFill>
                <a:latin typeface="Aptos"/>
                <a:ea typeface="Aptos"/>
                <a:cs typeface="Aptos"/>
              </a:defRPr>
            </a:defPPr>
          </a:lstStyle>
          <a:p>
            <a:pPr algn="l">
              <a:defRPr sz="1950" b="1">
                <a:solidFill>
                  <a:srgbClr val="214C3B"/>
                </a:solidFill>
                <a:latin typeface="Aptos"/>
                <a:ea typeface="Aptos"/>
                <a:cs typeface="Aptos"/>
              </a:defRPr>
            </a:pPr>
            <a:r>
              <a:rPr sz="1950" b="1">
                <a:solidFill>
                  <a:srgbClr val="214C3B"/>
                </a:solidFill>
                <a:latin typeface="Aptos"/>
                <a:ea typeface="Aptos"/>
                <a:cs typeface="Aptos"/>
              </a:rPr>
              <a:t>One of five recorded terrain classes</a:t>
            </a:r>
          </a:p>
        </p:txBody>
      </p:sp>
      <p:sp>
        <p:nvSpPr>
          <p:cNvPr id="10" name="Rectangle 9">
            <a:extLst>
              <a:ext uri="{FF2B5EF4-FFF2-40B4-BE49-F238E27FC236}">
                <a16:creationId xmlns:a16="http://schemas.microsoft.com/office/drawing/2014/main" id="{68CF3103-D4E6-4238-B8DB-01F8D2C28C94}"/>
              </a:ext>
            </a:extLst>
          </p:cNvPr>
          <p:cNvSpPr>
            <a:spLocks noGrp="1"/>
          </p:cNvSpPr>
          <p:nvPr/>
        </p:nvSpPr>
        <p:spPr>
          <a:xfrm>
            <a:off x="723900" y="4495800"/>
            <a:ext cx="4762500" cy="666750"/>
          </a:xfrm>
          <a:prstGeom prst="rect">
            <a:avLst/>
          </a:prstGeom>
          <a:noFill/>
          <a:ln w="0">
            <a:noFill/>
            <a:prstDash val="solid"/>
          </a:ln>
        </p:spPr>
        <p:txBody>
          <a:bodyPr wrap="square" lIns="0" tIns="0" rIns="0" bIns="0" anchor="t">
            <a:normAutofit/>
          </a:bodyPr>
          <a:lstStyle>
            <a:defPPr algn="l">
              <a:defRPr sz="1500" b="0">
                <a:solidFill>
                  <a:srgbClr val="65746B"/>
                </a:solidFill>
                <a:latin typeface="Aptos"/>
                <a:ea typeface="Aptos"/>
                <a:cs typeface="Aptos"/>
              </a:defRPr>
            </a:defPPr>
          </a:lstStyle>
          <a:p>
            <a:pPr algn="l">
              <a:defRPr sz="1500" b="0">
                <a:solidFill>
                  <a:srgbClr val="65746B"/>
                </a:solidFill>
                <a:latin typeface="Aptos"/>
                <a:ea typeface="Aptos"/>
                <a:cs typeface="Aptos"/>
              </a:defRPr>
            </a:pPr>
            <a:r>
              <a:rPr sz="1500" b="0">
                <a:solidFill>
                  <a:srgbClr val="65746B"/>
                </a:solidFill>
                <a:latin typeface="Aptos"/>
                <a:ea typeface="Aptos"/>
                <a:cs typeface="Aptos"/>
              </a:rPr>
              <a:t>Asphalt  ·  Flooring  ·  Ice  ·  Loam  ·  Snow</a:t>
            </a:r>
          </a:p>
        </p:txBody>
      </p:sp>
      <p:sp>
        <p:nvSpPr>
          <p:cNvPr id="11" name="Rectangle 10">
            <a:extLst>
              <a:ext uri="{FF2B5EF4-FFF2-40B4-BE49-F238E27FC236}">
                <a16:creationId xmlns:a16="http://schemas.microsoft.com/office/drawing/2014/main" id="{6DD42C1E-6DC3-44E8-AE49-CBA391460BD0}"/>
              </a:ext>
            </a:extLst>
          </p:cNvPr>
          <p:cNvSpPr>
            <a:spLocks noGrp="1"/>
          </p:cNvSpPr>
          <p:nvPr/>
        </p:nvSpPr>
        <p:spPr>
          <a:xfrm>
            <a:off x="6334125" y="1524000"/>
            <a:ext cx="19050" cy="4238625"/>
          </a:xfrm>
          <a:prstGeom prst="rect">
            <a:avLst/>
          </a:prstGeom>
          <a:solidFill>
            <a:srgbClr val="D6DED4"/>
          </a:solidFill>
          <a:ln w="0">
            <a:noFill/>
            <a:prstDash val="solid"/>
          </a:ln>
        </p:spPr>
      </p:sp>
      <p:sp>
        <p:nvSpPr>
          <p:cNvPr id="12" name="Rectangle 11">
            <a:extLst>
              <a:ext uri="{FF2B5EF4-FFF2-40B4-BE49-F238E27FC236}">
                <a16:creationId xmlns:a16="http://schemas.microsoft.com/office/drawing/2014/main" id="{DBD74463-FEDF-42EA-BD1F-04B213C6D1D0}"/>
              </a:ext>
            </a:extLst>
          </p:cNvPr>
          <p:cNvSpPr>
            <a:spLocks noGrp="1"/>
          </p:cNvSpPr>
          <p:nvPr/>
        </p:nvSpPr>
        <p:spPr>
          <a:xfrm>
            <a:off x="6724650" y="1552575"/>
            <a:ext cx="4476750" cy="381000"/>
          </a:xfrm>
          <a:prstGeom prst="rect">
            <a:avLst/>
          </a:prstGeom>
          <a:noFill/>
          <a:ln w="0">
            <a:noFill/>
            <a:prstDash val="solid"/>
          </a:ln>
        </p:spPr>
        <p:txBody>
          <a:bodyPr wrap="square" lIns="0" tIns="0" rIns="0" bIns="0" anchor="t">
            <a:normAutofit/>
          </a:bodyPr>
          <a:lstStyle>
            <a:defPPr algn="l">
              <a:defRPr sz="1200" b="1">
                <a:solidFill>
                  <a:srgbClr val="789578"/>
                </a:solidFill>
                <a:latin typeface="Aptos"/>
                <a:ea typeface="Aptos"/>
                <a:cs typeface="Aptos"/>
              </a:defRPr>
            </a:defPPr>
          </a:lstStyle>
          <a:p>
            <a:pPr algn="l">
              <a:defRPr sz="1200" b="1">
                <a:solidFill>
                  <a:srgbClr val="789578"/>
                </a:solidFill>
                <a:latin typeface="Aptos"/>
                <a:ea typeface="Aptos"/>
                <a:cs typeface="Aptos"/>
              </a:defRPr>
            </a:pPr>
            <a:r>
              <a:rPr sz="1200" b="1">
                <a:solidFill>
                  <a:srgbClr val="789578"/>
                </a:solidFill>
                <a:latin typeface="Aptos"/>
                <a:ea typeface="Aptos"/>
                <a:cs typeface="Aptos"/>
              </a:rPr>
              <a:t>RESEARCH INSPIRATION</a:t>
            </a:r>
          </a:p>
        </p:txBody>
      </p:sp>
      <p:sp>
        <p:nvSpPr>
          <p:cNvPr id="13" name="Rectangle 12">
            <a:extLst>
              <a:ext uri="{FF2B5EF4-FFF2-40B4-BE49-F238E27FC236}">
                <a16:creationId xmlns:a16="http://schemas.microsoft.com/office/drawing/2014/main" id="{CD6737B7-B31F-4830-9D4C-ECC86205AA2B}"/>
              </a:ext>
            </a:extLst>
          </p:cNvPr>
          <p:cNvSpPr>
            <a:spLocks noGrp="1"/>
          </p:cNvSpPr>
          <p:nvPr/>
        </p:nvSpPr>
        <p:spPr>
          <a:xfrm>
            <a:off x="6724650" y="1962150"/>
            <a:ext cx="4476750" cy="952500"/>
          </a:xfrm>
          <a:prstGeom prst="rect">
            <a:avLst/>
          </a:prstGeom>
          <a:noFill/>
          <a:ln w="0">
            <a:noFill/>
            <a:prstDash val="solid"/>
          </a:ln>
        </p:spPr>
        <p:txBody>
          <a:bodyPr wrap="square" lIns="0" tIns="0" rIns="0" bIns="0" anchor="t">
            <a:normAutofit/>
          </a:bodyPr>
          <a:lstStyle>
            <a:defPPr algn="l">
              <a:defRPr sz="1725" b="0">
                <a:solidFill>
                  <a:srgbClr val="26322D"/>
                </a:solidFill>
                <a:latin typeface="Aptos"/>
                <a:ea typeface="Aptos"/>
                <a:cs typeface="Aptos"/>
              </a:defRPr>
            </a:defPPr>
          </a:lstStyle>
          <a:p>
            <a:pPr algn="l">
              <a:defRPr sz="1725" b="0">
                <a:solidFill>
                  <a:srgbClr val="26322D"/>
                </a:solidFill>
                <a:latin typeface="Aptos"/>
                <a:ea typeface="Aptos"/>
                <a:cs typeface="Aptos"/>
              </a:defRPr>
            </a:pPr>
            <a:r>
              <a:rPr sz="1725" b="0">
                <a:solidFill>
                  <a:srgbClr val="26322D"/>
                </a:solidFill>
                <a:latin typeface="Aptos"/>
                <a:ea typeface="Aptos"/>
                <a:cs typeface="Aptos"/>
              </a:rPr>
              <a:t>Tactile terrain classification on a small legged robot.</a:t>
            </a:r>
          </a:p>
        </p:txBody>
      </p:sp>
      <p:sp>
        <p:nvSpPr>
          <p:cNvPr id="14" name="Rectangle 13">
            <a:extLst>
              <a:ext uri="{FF2B5EF4-FFF2-40B4-BE49-F238E27FC236}">
                <a16:creationId xmlns:a16="http://schemas.microsoft.com/office/drawing/2014/main" id="{FDD69BC6-157B-4192-91B9-B7F512EE5F7E}"/>
              </a:ext>
            </a:extLst>
          </p:cNvPr>
          <p:cNvSpPr>
            <a:spLocks noGrp="1"/>
          </p:cNvSpPr>
          <p:nvPr/>
        </p:nvSpPr>
        <p:spPr>
          <a:xfrm>
            <a:off x="6724650" y="3267075"/>
            <a:ext cx="4476750" cy="381000"/>
          </a:xfrm>
          <a:prstGeom prst="rect">
            <a:avLst/>
          </a:prstGeom>
          <a:noFill/>
          <a:ln w="0">
            <a:noFill/>
            <a:prstDash val="solid"/>
          </a:ln>
        </p:spPr>
        <p:txBody>
          <a:bodyPr wrap="square" lIns="0" tIns="0" rIns="0" bIns="0" anchor="t">
            <a:normAutofit/>
          </a:bodyPr>
          <a:lstStyle>
            <a:defPPr algn="l">
              <a:defRPr sz="1200" b="1">
                <a:solidFill>
                  <a:srgbClr val="789578"/>
                </a:solidFill>
                <a:latin typeface="Aptos"/>
                <a:ea typeface="Aptos"/>
                <a:cs typeface="Aptos"/>
              </a:defRPr>
            </a:defPPr>
          </a:lstStyle>
          <a:p>
            <a:pPr algn="l">
              <a:defRPr sz="1200" b="1">
                <a:solidFill>
                  <a:srgbClr val="789578"/>
                </a:solidFill>
                <a:latin typeface="Aptos"/>
                <a:ea typeface="Aptos"/>
                <a:cs typeface="Aptos"/>
              </a:defRPr>
            </a:pPr>
            <a:r>
              <a:rPr sz="1200" b="1">
                <a:solidFill>
                  <a:srgbClr val="789578"/>
                </a:solidFill>
                <a:latin typeface="Aptos"/>
                <a:ea typeface="Aptos"/>
                <a:cs typeface="Aptos"/>
              </a:rPr>
              <a:t>THIS IMPLEMENTATION</a:t>
            </a:r>
          </a:p>
        </p:txBody>
      </p:sp>
      <p:sp>
        <p:nvSpPr>
          <p:cNvPr id="15" name="Rectangle 14">
            <a:extLst>
              <a:ext uri="{FF2B5EF4-FFF2-40B4-BE49-F238E27FC236}">
                <a16:creationId xmlns:a16="http://schemas.microsoft.com/office/drawing/2014/main" id="{AA52AFA1-6D78-4425-BFC6-AB7D93CEA78B}"/>
              </a:ext>
            </a:extLst>
          </p:cNvPr>
          <p:cNvSpPr>
            <a:spLocks noGrp="1"/>
          </p:cNvSpPr>
          <p:nvPr/>
        </p:nvSpPr>
        <p:spPr>
          <a:xfrm>
            <a:off x="6724650" y="3676650"/>
            <a:ext cx="4476750" cy="1238250"/>
          </a:xfrm>
          <a:prstGeom prst="rect">
            <a:avLst/>
          </a:prstGeom>
          <a:noFill/>
          <a:ln w="0">
            <a:noFill/>
            <a:prstDash val="solid"/>
          </a:ln>
        </p:spPr>
        <p:txBody>
          <a:bodyPr wrap="square" lIns="0" tIns="0" rIns="0" bIns="0" anchor="t">
            <a:normAutofit/>
          </a:bodyPr>
          <a:lstStyle>
            <a:defPPr algn="l">
              <a:defRPr sz="1725" b="0">
                <a:solidFill>
                  <a:srgbClr val="26322D"/>
                </a:solidFill>
                <a:latin typeface="Aptos"/>
                <a:ea typeface="Aptos"/>
                <a:cs typeface="Aptos"/>
              </a:defRPr>
            </a:defPPr>
          </a:lstStyle>
          <a:p>
            <a:pPr algn="l">
              <a:defRPr sz="1725" b="0">
                <a:solidFill>
                  <a:srgbClr val="26322D"/>
                </a:solidFill>
                <a:latin typeface="Aptos"/>
                <a:ea typeface="Aptos"/>
                <a:cs typeface="Aptos"/>
              </a:defRPr>
            </a:pPr>
            <a:r>
              <a:rPr sz="1725" b="0">
                <a:solidFill>
                  <a:srgbClr val="26322D"/>
                </a:solidFill>
                <a:latin typeface="Aptos"/>
                <a:ea typeface="Aptos"/>
                <a:cs typeface="Aptos"/>
              </a:rPr>
              <a:t>Real BorealTC measurements from a wheeled Husky: IMU, motor-current and wheel-speed channels.</a:t>
            </a:r>
          </a:p>
        </p:txBody>
      </p:sp>
      <p:sp>
        <p:nvSpPr>
          <p:cNvPr id="16" name="Rectangle 15">
            <a:extLst>
              <a:ext uri="{FF2B5EF4-FFF2-40B4-BE49-F238E27FC236}">
                <a16:creationId xmlns:a16="http://schemas.microsoft.com/office/drawing/2014/main" id="{68BA193D-2777-4532-8CE8-4D89CE014383}"/>
              </a:ext>
            </a:extLst>
          </p:cNvPr>
          <p:cNvSpPr>
            <a:spLocks noGrp="1"/>
          </p:cNvSpPr>
          <p:nvPr/>
        </p:nvSpPr>
        <p:spPr>
          <a:xfrm>
            <a:off x="6724650" y="5276850"/>
            <a:ext cx="4476750" cy="533400"/>
          </a:xfrm>
          <a:prstGeom prst="rect">
            <a:avLst/>
          </a:prstGeom>
          <a:solidFill>
            <a:srgbClr val="E8EEE5"/>
          </a:solidFill>
          <a:ln w="0">
            <a:noFill/>
            <a:prstDash val="solid"/>
          </a:ln>
        </p:spPr>
      </p:sp>
      <p:sp>
        <p:nvSpPr>
          <p:cNvPr id="17" name="Rectangle 16">
            <a:extLst>
              <a:ext uri="{FF2B5EF4-FFF2-40B4-BE49-F238E27FC236}">
                <a16:creationId xmlns:a16="http://schemas.microsoft.com/office/drawing/2014/main" id="{F0A19EC5-25C7-4D44-96A8-D53F3FADB1BF}"/>
              </a:ext>
            </a:extLst>
          </p:cNvPr>
          <p:cNvSpPr>
            <a:spLocks noGrp="1"/>
          </p:cNvSpPr>
          <p:nvPr/>
        </p:nvSpPr>
        <p:spPr>
          <a:xfrm>
            <a:off x="6915150" y="5419725"/>
            <a:ext cx="4095750" cy="323850"/>
          </a:xfrm>
          <a:prstGeom prst="rect">
            <a:avLst/>
          </a:prstGeom>
          <a:noFill/>
          <a:ln w="0">
            <a:noFill/>
            <a:prstDash val="solid"/>
          </a:ln>
        </p:spPr>
        <p:txBody>
          <a:bodyPr wrap="square" lIns="0" tIns="0" rIns="0" bIns="0" anchor="t">
            <a:normAutofit/>
          </a:bodyPr>
          <a:lstStyle>
            <a:defPPr algn="l">
              <a:defRPr sz="1425" b="1">
                <a:solidFill>
                  <a:srgbClr val="214C3B"/>
                </a:solidFill>
                <a:latin typeface="Aptos"/>
                <a:ea typeface="Aptos"/>
                <a:cs typeface="Aptos"/>
              </a:defRPr>
            </a:defPPr>
          </a:lstStyle>
          <a:p>
            <a:pPr algn="l">
              <a:defRPr sz="1425" b="1">
                <a:solidFill>
                  <a:srgbClr val="214C3B"/>
                </a:solidFill>
                <a:latin typeface="Aptos"/>
                <a:ea typeface="Aptos"/>
                <a:cs typeface="Aptos"/>
              </a:defRPr>
            </a:pPr>
            <a:r>
              <a:rPr sz="1425" b="1">
                <a:solidFill>
                  <a:srgbClr val="214C3B"/>
                </a:solidFill>
                <a:latin typeface="Aptos"/>
                <a:ea typeface="Aptos"/>
                <a:cs typeface="Aptos"/>
              </a:rPr>
              <a:t>A real-data adaptation, not an exact reproduction.</a:t>
            </a:r>
          </a:p>
        </p:txBody>
      </p:sp>
    </p:spTree>
    <p:extLst>
      <p:ext uri="{BB962C8B-B14F-4D97-AF65-F5344CB8AC3E}">
        <p14:creationId xmlns:p14="http://schemas.microsoft.com/office/powerpoint/2010/main" val="1724158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3CB824E-270D-482A-9540-3B4735E20F3C}"/>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DATASET PROVENANCE</a:t>
            </a:r>
          </a:p>
        </p:txBody>
      </p:sp>
      <p:sp>
        <p:nvSpPr>
          <p:cNvPr id="2" name="Rectangle 1">
            <a:extLst>
              <a:ext uri="{FF2B5EF4-FFF2-40B4-BE49-F238E27FC236}">
                <a16:creationId xmlns:a16="http://schemas.microsoft.com/office/drawing/2014/main" id="{124249B2-5B93-4428-B388-BA7D197A6CCC}"/>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The pinned dataset contains 71 recordings</a:t>
            </a:r>
          </a:p>
        </p:txBody>
      </p:sp>
      <p:sp>
        <p:nvSpPr>
          <p:cNvPr id="3" name="Rectangle 2">
            <a:extLst>
              <a:ext uri="{FF2B5EF4-FFF2-40B4-BE49-F238E27FC236}">
                <a16:creationId xmlns:a16="http://schemas.microsoft.com/office/drawing/2014/main" id="{0847C317-D4AF-49D1-B11D-54951AE9441F}"/>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CDADB095-B69A-42DC-A30D-7809AB2F950D}"/>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A34D33D7-9EF2-4738-8E25-3516A86FD95B}"/>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03 / 20</a:t>
            </a:r>
          </a:p>
        </p:txBody>
      </p:sp>
      <p:graphicFrame>
        <p:nvGraphicFramePr>
          <p:cNvPr id="6" name="Table 5">
            <a:extLst>
              <a:ext uri="{FF2B5EF4-FFF2-40B4-BE49-F238E27FC236}">
                <a16:creationId xmlns:a16="http://schemas.microsoft.com/office/drawing/2014/main" id="{DE53C04F-192D-4E1B-BEEA-3303D7327B2A}"/>
              </a:ext>
            </a:extLst>
          </p:cNvPr>
          <p:cNvGraphicFramePr/>
          <p:nvPr/>
        </p:nvGraphicFramePr>
        <p:xfrm>
          <a:off x="723900" y="1562100"/>
          <a:ext cx="5429250" cy="2125980"/>
        </p:xfrm>
        <a:graphic>
          <a:graphicData uri="http://schemas.openxmlformats.org/drawingml/2006/table">
            <a:tbl>
              <a:tblPr/>
              <a:tblGrid>
                <a:gridCol w="295275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tblGrid>
              <a:tr h="342900">
                <a:tc>
                  <a:txBody>
                    <a:bodyPr/>
                    <a:lstStyle/>
                    <a:p>
                      <a:r>
                        <a:rPr sz="1350" b="1">
                          <a:solidFill>
                            <a:srgbClr val="FFFEFA"/>
                          </a:solidFill>
                          <a:latin typeface="Aptos"/>
                          <a:ea typeface="Aptos"/>
                          <a:cs typeface="Aptos"/>
                        </a:rPr>
                        <a:t>Terrain</a:t>
                      </a:r>
                    </a:p>
                  </a:txBody>
                  <a:tcPr>
                    <a:lnL w="9525">
                      <a:solidFill>
                        <a:srgbClr val="D6DED4"/>
                      </a:solidFill>
                      <a:prstDash val="soli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Recordings</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Sensor CSVs</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extLst>
                  <a:ext uri="{0D108BD9-81ED-4DB2-BD59-A6C34878D82A}">
                    <a16:rowId xmlns:a16="http://schemas.microsoft.com/office/drawing/2014/main" val="10000"/>
                  </a:ext>
                </a:extLst>
              </a:tr>
              <a:tr h="0">
                <a:tc>
                  <a:txBody>
                    <a:bodyPr/>
                    <a:lstStyle/>
                    <a:p>
                      <a:r>
                        <a:rPr sz="1350" b="1">
                          <a:solidFill>
                            <a:srgbClr val="26322D"/>
                          </a:solidFill>
                          <a:latin typeface="Aptos"/>
                          <a:ea typeface="Aptos"/>
                          <a:cs typeface="Aptos"/>
                        </a:rPr>
                        <a:t>Asphalt</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7</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14</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1"/>
                  </a:ext>
                </a:extLst>
              </a:tr>
              <a:tr h="0">
                <a:tc>
                  <a:txBody>
                    <a:bodyPr/>
                    <a:lstStyle/>
                    <a:p>
                      <a:r>
                        <a:rPr sz="1350" b="1">
                          <a:solidFill>
                            <a:srgbClr val="26322D"/>
                          </a:solidFill>
                          <a:latin typeface="Aptos"/>
                          <a:ea typeface="Aptos"/>
                          <a:cs typeface="Aptos"/>
                        </a:rPr>
                        <a:t>Flooring</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10</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20</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extLst>
                  <a:ext uri="{0D108BD9-81ED-4DB2-BD59-A6C34878D82A}">
                    <a16:rowId xmlns:a16="http://schemas.microsoft.com/office/drawing/2014/main" val="10002"/>
                  </a:ext>
                </a:extLst>
              </a:tr>
              <a:tr h="0">
                <a:tc>
                  <a:txBody>
                    <a:bodyPr/>
                    <a:lstStyle/>
                    <a:p>
                      <a:r>
                        <a:rPr sz="1350" b="1">
                          <a:solidFill>
                            <a:srgbClr val="26322D"/>
                          </a:solidFill>
                          <a:latin typeface="Aptos"/>
                          <a:ea typeface="Aptos"/>
                          <a:cs typeface="Aptos"/>
                        </a:rPr>
                        <a:t>Ice</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13</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26</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3"/>
                  </a:ext>
                </a:extLst>
              </a:tr>
              <a:tr h="0">
                <a:tc>
                  <a:txBody>
                    <a:bodyPr/>
                    <a:lstStyle/>
                    <a:p>
                      <a:r>
                        <a:rPr sz="1350" b="1">
                          <a:solidFill>
                            <a:srgbClr val="26322D"/>
                          </a:solidFill>
                          <a:latin typeface="Aptos"/>
                          <a:ea typeface="Aptos"/>
                          <a:cs typeface="Aptos"/>
                        </a:rPr>
                        <a:t>Loam (SANDY_LOAM)</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14</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28</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extLst>
                  <a:ext uri="{0D108BD9-81ED-4DB2-BD59-A6C34878D82A}">
                    <a16:rowId xmlns:a16="http://schemas.microsoft.com/office/drawing/2014/main" val="10004"/>
                  </a:ext>
                </a:extLst>
              </a:tr>
              <a:tr h="0">
                <a:tc>
                  <a:txBody>
                    <a:bodyPr/>
                    <a:lstStyle/>
                    <a:p>
                      <a:r>
                        <a:rPr sz="1350" b="1">
                          <a:solidFill>
                            <a:srgbClr val="26322D"/>
                          </a:solidFill>
                          <a:latin typeface="Aptos"/>
                          <a:ea typeface="Aptos"/>
                          <a:cs typeface="Aptos"/>
                        </a:rPr>
                        <a:t>Snow</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27</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54</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5"/>
                  </a:ext>
                </a:extLst>
              </a:tr>
              <a:tr h="0">
                <a:tc>
                  <a:txBody>
                    <a:bodyPr/>
                    <a:lstStyle/>
                    <a:p>
                      <a:r>
                        <a:rPr sz="1350" b="1">
                          <a:solidFill>
                            <a:srgbClr val="26322D"/>
                          </a:solidFill>
                          <a:latin typeface="Aptos"/>
                          <a:ea typeface="Aptos"/>
                          <a:cs typeface="Aptos"/>
                        </a:rPr>
                        <a:t>Total</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71</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142</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extLst>
                  <a:ext uri="{0D108BD9-81ED-4DB2-BD59-A6C34878D82A}">
                    <a16:rowId xmlns:a16="http://schemas.microsoft.com/office/drawing/2014/main" val="10006"/>
                  </a:ext>
                </a:extLst>
              </a:tr>
            </a:tbl>
          </a:graphicData>
        </a:graphic>
      </p:graphicFrame>
      <p:sp>
        <p:nvSpPr>
          <p:cNvPr id="7" name="Rectangle 6">
            <a:extLst>
              <a:ext uri="{FF2B5EF4-FFF2-40B4-BE49-F238E27FC236}">
                <a16:creationId xmlns:a16="http://schemas.microsoft.com/office/drawing/2014/main" id="{B557D449-B10B-422F-B186-9426EEE19A9E}"/>
              </a:ext>
            </a:extLst>
          </p:cNvPr>
          <p:cNvSpPr>
            <a:spLocks noGrp="1"/>
          </p:cNvSpPr>
          <p:nvPr/>
        </p:nvSpPr>
        <p:spPr>
          <a:xfrm>
            <a:off x="6743700" y="1562100"/>
            <a:ext cx="4429125" cy="304800"/>
          </a:xfrm>
          <a:prstGeom prst="rect">
            <a:avLst/>
          </a:prstGeom>
          <a:noFill/>
          <a:ln w="0">
            <a:noFill/>
            <a:prstDash val="solid"/>
          </a:ln>
        </p:spPr>
        <p:txBody>
          <a:bodyPr wrap="square" lIns="0" tIns="0" rIns="0" bIns="0" anchor="t">
            <a:normAutofit/>
          </a:bodyPr>
          <a:lstStyle>
            <a:defPPr algn="l">
              <a:defRPr sz="1275" b="1">
                <a:solidFill>
                  <a:srgbClr val="C2943B"/>
                </a:solidFill>
                <a:latin typeface="Aptos"/>
                <a:ea typeface="Aptos"/>
                <a:cs typeface="Aptos"/>
              </a:defRPr>
            </a:defPPr>
          </a:lstStyle>
          <a:p>
            <a:pPr algn="l">
              <a:defRPr sz="1275" b="1">
                <a:solidFill>
                  <a:srgbClr val="C2943B"/>
                </a:solidFill>
                <a:latin typeface="Aptos"/>
                <a:ea typeface="Aptos"/>
                <a:cs typeface="Aptos"/>
              </a:defRPr>
            </a:pPr>
            <a:r>
              <a:rPr sz="1275" b="1">
                <a:solidFill>
                  <a:srgbClr val="C2943B"/>
                </a:solidFill>
                <a:latin typeface="Aptos"/>
                <a:ea typeface="Aptos"/>
                <a:cs typeface="Aptos"/>
              </a:rPr>
              <a:t>SOURCE SNAPSHOT</a:t>
            </a:r>
          </a:p>
        </p:txBody>
      </p:sp>
      <p:sp>
        <p:nvSpPr>
          <p:cNvPr id="8" name="Rectangle 7">
            <a:extLst>
              <a:ext uri="{FF2B5EF4-FFF2-40B4-BE49-F238E27FC236}">
                <a16:creationId xmlns:a16="http://schemas.microsoft.com/office/drawing/2014/main" id="{88F8EF15-143C-4B31-BC39-AA0084FAEC09}"/>
              </a:ext>
            </a:extLst>
          </p:cNvPr>
          <p:cNvSpPr>
            <a:spLocks noGrp="1"/>
          </p:cNvSpPr>
          <p:nvPr/>
        </p:nvSpPr>
        <p:spPr>
          <a:xfrm>
            <a:off x="6743700" y="1990725"/>
            <a:ext cx="4429125" cy="714375"/>
          </a:xfrm>
          <a:prstGeom prst="rect">
            <a:avLst/>
          </a:prstGeom>
          <a:noFill/>
          <a:ln w="0">
            <a:noFill/>
            <a:prstDash val="solid"/>
          </a:ln>
        </p:spPr>
        <p:txBody>
          <a:bodyPr wrap="square" lIns="0" tIns="0" rIns="0" bIns="0" anchor="t">
            <a:normAutofit/>
          </a:bodyPr>
          <a:lstStyle>
            <a:defPPr algn="l">
              <a:defRPr sz="1575" b="1">
                <a:solidFill>
                  <a:srgbClr val="214C3B"/>
                </a:solidFill>
                <a:latin typeface="Aptos"/>
                <a:ea typeface="Aptos"/>
                <a:cs typeface="Aptos"/>
              </a:defRPr>
            </a:defPPr>
          </a:lstStyle>
          <a:p>
            <a:pPr algn="l">
              <a:defRPr sz="1575" b="1">
                <a:solidFill>
                  <a:srgbClr val="214C3B"/>
                </a:solidFill>
                <a:latin typeface="Aptos"/>
                <a:ea typeface="Aptos"/>
                <a:cs typeface="Aptos"/>
              </a:defRPr>
            </a:pPr>
            <a:r>
              <a:rPr sz="1575" b="1">
                <a:solidFill>
                  <a:srgbClr val="214C3B"/>
                </a:solidFill>
                <a:latin typeface="Aptos"/>
                <a:ea typeface="Aptos"/>
                <a:cs typeface="Aptos"/>
              </a:rPr>
              <a:t>BorealTC revision</a:t>
            </a:r>
          </a:p>
          <a:p>
            <a:pPr algn="l">
              <a:defRPr sz="1575" b="1">
                <a:solidFill>
                  <a:srgbClr val="214C3B"/>
                </a:solidFill>
                <a:latin typeface="Aptos"/>
                <a:ea typeface="Aptos"/>
                <a:cs typeface="Aptos"/>
              </a:defRPr>
            </a:pPr>
            <a:r>
              <a:rPr sz="1575" b="1">
                <a:solidFill>
                  <a:srgbClr val="214C3B"/>
                </a:solidFill>
                <a:latin typeface="Aptos"/>
                <a:ea typeface="Aptos"/>
                <a:cs typeface="Aptos"/>
              </a:rPr>
              <a:t>0146dcd9fa08c34a9075a80448ac04c0a947b568</a:t>
            </a:r>
          </a:p>
        </p:txBody>
      </p:sp>
      <p:sp>
        <p:nvSpPr>
          <p:cNvPr id="9" name="Rectangle 8">
            <a:extLst>
              <a:ext uri="{FF2B5EF4-FFF2-40B4-BE49-F238E27FC236}">
                <a16:creationId xmlns:a16="http://schemas.microsoft.com/office/drawing/2014/main" id="{BD77AF2E-1140-45D6-A294-5155A2D149F5}"/>
              </a:ext>
            </a:extLst>
          </p:cNvPr>
          <p:cNvSpPr>
            <a:spLocks noGrp="1"/>
          </p:cNvSpPr>
          <p:nvPr/>
        </p:nvSpPr>
        <p:spPr>
          <a:xfrm>
            <a:off x="6743700" y="2981325"/>
            <a:ext cx="4286250" cy="619125"/>
          </a:xfrm>
          <a:prstGeom prst="rect">
            <a:avLst/>
          </a:prstGeom>
          <a:noFill/>
          <a:ln w="0">
            <a:noFill/>
            <a:prstDash val="solid"/>
          </a:ln>
        </p:spPr>
        <p:txBody>
          <a:bodyPr wrap="square" lIns="0" tIns="0" rIns="0" bIns="0" anchor="t">
            <a:normAutofit/>
          </a:bodyPr>
          <a:lstStyle>
            <a:defPPr algn="l">
              <a:defRPr sz="1725" b="1">
                <a:solidFill>
                  <a:srgbClr val="26322D"/>
                </a:solidFill>
                <a:latin typeface="Aptos"/>
                <a:ea typeface="Aptos"/>
                <a:cs typeface="Aptos"/>
              </a:defRPr>
            </a:defPPr>
          </a:lstStyle>
          <a:p>
            <a:pPr algn="l">
              <a:defRPr sz="1725" b="1">
                <a:solidFill>
                  <a:srgbClr val="26322D"/>
                </a:solidFill>
                <a:latin typeface="Aptos"/>
                <a:ea typeface="Aptos"/>
                <a:cs typeface="Aptos"/>
              </a:defRPr>
            </a:pPr>
            <a:r>
              <a:rPr sz="1725" b="1">
                <a:solidFill>
                  <a:srgbClr val="26322D"/>
                </a:solidFill>
                <a:latin typeface="Aptos"/>
                <a:ea typeface="Aptos"/>
                <a:cs typeface="Aptos"/>
              </a:rPr>
              <a:t>144 manifested files  ·  90,534,541 bytes</a:t>
            </a:r>
          </a:p>
        </p:txBody>
      </p:sp>
      <p:sp>
        <p:nvSpPr>
          <p:cNvPr id="10" name="Rectangle 9">
            <a:extLst>
              <a:ext uri="{FF2B5EF4-FFF2-40B4-BE49-F238E27FC236}">
                <a16:creationId xmlns:a16="http://schemas.microsoft.com/office/drawing/2014/main" id="{718C8F5C-9AEE-4DC1-BAFB-447E3E46F0D8}"/>
              </a:ext>
            </a:extLst>
          </p:cNvPr>
          <p:cNvSpPr>
            <a:spLocks noGrp="1"/>
          </p:cNvSpPr>
          <p:nvPr/>
        </p:nvSpPr>
        <p:spPr>
          <a:xfrm>
            <a:off x="6743700" y="3676650"/>
            <a:ext cx="4286250" cy="933450"/>
          </a:xfrm>
          <a:prstGeom prst="rect">
            <a:avLst/>
          </a:prstGeom>
          <a:noFill/>
          <a:ln w="0">
            <a:noFill/>
            <a:prstDash val="solid"/>
          </a:ln>
        </p:spPr>
        <p:txBody>
          <a:bodyPr wrap="square" lIns="0" tIns="0" rIns="0" bIns="0" anchor="t">
            <a:normAutofit/>
          </a:bodyPr>
          <a:lstStyle>
            <a:defPPr algn="l">
              <a:defRPr sz="1500" b="0">
                <a:solidFill>
                  <a:srgbClr val="65746B"/>
                </a:solidFill>
                <a:latin typeface="Aptos"/>
                <a:ea typeface="Aptos"/>
                <a:cs typeface="Aptos"/>
              </a:defRPr>
            </a:defPPr>
          </a:lstStyle>
          <a:p>
            <a:pPr algn="l">
              <a:defRPr sz="1500" b="0">
                <a:solidFill>
                  <a:srgbClr val="65746B"/>
                </a:solidFill>
                <a:latin typeface="Aptos"/>
                <a:ea typeface="Aptos"/>
                <a:cs typeface="Aptos"/>
              </a:defRPr>
            </a:pPr>
            <a:r>
              <a:rPr sz="1500" b="0">
                <a:solidFill>
                  <a:srgbClr val="65746B"/>
                </a:solidFill>
                <a:latin typeface="Aptos"/>
                <a:ea typeface="Aptos"/>
                <a:cs typeface="Aptos"/>
              </a:rPr>
              <a:t>142 sensor CSVs plus dataset README and license file. Mixed-terrain recordings are excluded.</a:t>
            </a:r>
          </a:p>
        </p:txBody>
      </p:sp>
      <p:sp>
        <p:nvSpPr>
          <p:cNvPr id="11" name="Rectangle 10">
            <a:extLst>
              <a:ext uri="{FF2B5EF4-FFF2-40B4-BE49-F238E27FC236}">
                <a16:creationId xmlns:a16="http://schemas.microsoft.com/office/drawing/2014/main" id="{2EEA9FD0-D337-4577-9CC9-46DED4C0419C}"/>
              </a:ext>
            </a:extLst>
          </p:cNvPr>
          <p:cNvSpPr>
            <a:spLocks noGrp="1"/>
          </p:cNvSpPr>
          <p:nvPr/>
        </p:nvSpPr>
        <p:spPr>
          <a:xfrm>
            <a:off x="6743700" y="4857750"/>
            <a:ext cx="4333875" cy="876300"/>
          </a:xfrm>
          <a:prstGeom prst="rect">
            <a:avLst/>
          </a:prstGeom>
          <a:solidFill>
            <a:srgbClr val="E8EEE5"/>
          </a:solidFill>
          <a:ln w="0">
            <a:noFill/>
            <a:prstDash val="solid"/>
          </a:ln>
        </p:spPr>
      </p:sp>
      <p:sp>
        <p:nvSpPr>
          <p:cNvPr id="12" name="Rectangle 11">
            <a:extLst>
              <a:ext uri="{FF2B5EF4-FFF2-40B4-BE49-F238E27FC236}">
                <a16:creationId xmlns:a16="http://schemas.microsoft.com/office/drawing/2014/main" id="{9138857B-5E58-4431-B3F9-D14A3E8067EE}"/>
              </a:ext>
            </a:extLst>
          </p:cNvPr>
          <p:cNvSpPr>
            <a:spLocks noGrp="1"/>
          </p:cNvSpPr>
          <p:nvPr/>
        </p:nvSpPr>
        <p:spPr>
          <a:xfrm>
            <a:off x="6953250" y="5010150"/>
            <a:ext cx="3981450" cy="628650"/>
          </a:xfrm>
          <a:prstGeom prst="rect">
            <a:avLst/>
          </a:prstGeom>
          <a:noFill/>
          <a:ln w="0">
            <a:noFill/>
            <a:prstDash val="solid"/>
          </a:ln>
        </p:spPr>
        <p:txBody>
          <a:bodyPr wrap="square" lIns="0" tIns="0" rIns="0" bIns="0" anchor="t">
            <a:normAutofit/>
          </a:bodyPr>
          <a:lstStyle>
            <a:defPPr algn="l">
              <a:defRPr sz="1350" b="0">
                <a:solidFill>
                  <a:srgbClr val="214C3B"/>
                </a:solidFill>
                <a:latin typeface="Aptos"/>
                <a:ea typeface="Aptos"/>
                <a:cs typeface="Aptos"/>
              </a:defRPr>
            </a:defPPr>
          </a:lstStyle>
          <a:p>
            <a:pPr algn="l">
              <a:defRPr sz="1350" b="0">
                <a:solidFill>
                  <a:srgbClr val="214C3B"/>
                </a:solidFill>
                <a:latin typeface="Aptos"/>
                <a:ea typeface="Aptos"/>
                <a:cs typeface="Aptos"/>
              </a:defRPr>
            </a:pPr>
            <a:r>
              <a:rPr sz="1350" b="0">
                <a:solidFill>
                  <a:srgbClr val="214C3B"/>
                </a:solidFill>
                <a:latin typeface="Aptos"/>
                <a:ea typeface="Aptos"/>
                <a:cs typeface="Aptos"/>
              </a:rPr>
              <a:t>The archive includes the manifest and checksum-verifying downloader. Raw CSVs are retrieved from the pinned source.</a:t>
            </a:r>
          </a:p>
        </p:txBody>
      </p:sp>
      <p:sp>
        <p:nvSpPr>
          <p:cNvPr id="13" name="Rectangle 12">
            <a:extLst>
              <a:ext uri="{FF2B5EF4-FFF2-40B4-BE49-F238E27FC236}">
                <a16:creationId xmlns:a16="http://schemas.microsoft.com/office/drawing/2014/main" id="{50748D61-CB59-4FDF-BDE2-ECE318EB1C3E}"/>
              </a:ext>
            </a:extLst>
          </p:cNvPr>
          <p:cNvSpPr>
            <a:spLocks noGrp="1"/>
          </p:cNvSpPr>
          <p:nvPr/>
        </p:nvSpPr>
        <p:spPr>
          <a:xfrm>
            <a:off x="723900" y="5734050"/>
            <a:ext cx="5476875" cy="314325"/>
          </a:xfrm>
          <a:prstGeom prst="rect">
            <a:avLst/>
          </a:prstGeom>
          <a:noFill/>
          <a:ln w="0">
            <a:noFill/>
            <a:prstDash val="solid"/>
          </a:ln>
        </p:spPr>
        <p:txBody>
          <a:bodyPr wrap="square" lIns="0" tIns="0" rIns="0" bIns="0" anchor="t">
            <a:normAutofit/>
          </a:bodyPr>
          <a:lstStyle>
            <a:defPPr algn="l">
              <a:defRPr sz="1275" b="0">
                <a:solidFill>
                  <a:srgbClr val="65746B"/>
                </a:solidFill>
                <a:latin typeface="Aptos"/>
                <a:ea typeface="Aptos"/>
                <a:cs typeface="Aptos"/>
              </a:defRPr>
            </a:defPPr>
          </a:lstStyle>
          <a:p>
            <a:pPr algn="l">
              <a:defRPr sz="1275" b="0">
                <a:solidFill>
                  <a:srgbClr val="65746B"/>
                </a:solidFill>
                <a:latin typeface="Aptos"/>
                <a:ea typeface="Aptos"/>
                <a:cs typeface="Aptos"/>
              </a:defRPr>
            </a:pPr>
            <a:r>
              <a:rPr sz="1275" b="0">
                <a:solidFill>
                  <a:srgbClr val="65746B"/>
                </a:solidFill>
                <a:latin typeface="Aptos"/>
                <a:ea typeface="Aptos"/>
                <a:cs typeface="Aptos"/>
              </a:rPr>
              <a:t>Dataset README declares CC0 1.0.</a:t>
            </a:r>
          </a:p>
        </p:txBody>
      </p:sp>
    </p:spTree>
    <p:extLst>
      <p:ext uri="{BB962C8B-B14F-4D97-AF65-F5344CB8AC3E}">
        <p14:creationId xmlns:p14="http://schemas.microsoft.com/office/powerpoint/2010/main" val="122566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87030F4-59CF-433D-90C9-066BCF0569B6}"/>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DATASET COMPOSITION</a:t>
            </a:r>
          </a:p>
        </p:txBody>
      </p:sp>
      <p:sp>
        <p:nvSpPr>
          <p:cNvPr id="2" name="Rectangle 1">
            <a:extLst>
              <a:ext uri="{FF2B5EF4-FFF2-40B4-BE49-F238E27FC236}">
                <a16:creationId xmlns:a16="http://schemas.microsoft.com/office/drawing/2014/main" id="{7BFCEF9C-BB52-4112-9655-23449B4D1E83}"/>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The fixed split preserves all five classes</a:t>
            </a:r>
          </a:p>
        </p:txBody>
      </p:sp>
      <p:sp>
        <p:nvSpPr>
          <p:cNvPr id="3" name="Rectangle 2">
            <a:extLst>
              <a:ext uri="{FF2B5EF4-FFF2-40B4-BE49-F238E27FC236}">
                <a16:creationId xmlns:a16="http://schemas.microsoft.com/office/drawing/2014/main" id="{DC2DACA8-E48D-493A-9945-DA354D00EB7E}"/>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04F53D90-51F5-4458-8147-837CFF1D569D}"/>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D8085232-344D-4E54-A7EA-E214E52E4F64}"/>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04 / 20</a:t>
            </a:r>
          </a:p>
        </p:txBody>
      </p:sp>
      <p:graphicFrame>
        <p:nvGraphicFramePr>
          <p:cNvPr id="6" name="Table 5">
            <a:extLst>
              <a:ext uri="{FF2B5EF4-FFF2-40B4-BE49-F238E27FC236}">
                <a16:creationId xmlns:a16="http://schemas.microsoft.com/office/drawing/2014/main" id="{375D1DE4-030B-43C6-8B96-5C247429956F}"/>
              </a:ext>
            </a:extLst>
          </p:cNvPr>
          <p:cNvGraphicFramePr/>
          <p:nvPr/>
        </p:nvGraphicFramePr>
        <p:xfrm>
          <a:off x="666750" y="1562100"/>
          <a:ext cx="10858500" cy="2125980"/>
        </p:xfrm>
        <a:graphic>
          <a:graphicData uri="http://schemas.openxmlformats.org/drawingml/2006/table">
            <a:tbl>
              <a:tblPr/>
              <a:tblGrid>
                <a:gridCol w="23812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3812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342900">
                <a:tc>
                  <a:txBody>
                    <a:bodyPr/>
                    <a:lstStyle/>
                    <a:p>
                      <a:r>
                        <a:rPr sz="1350" b="1">
                          <a:solidFill>
                            <a:srgbClr val="FFFEFA"/>
                          </a:solidFill>
                          <a:latin typeface="Aptos"/>
                          <a:ea typeface="Aptos"/>
                          <a:cs typeface="Aptos"/>
                        </a:rPr>
                        <a:t>Terrain</a:t>
                      </a:r>
                    </a:p>
                  </a:txBody>
                  <a:tcPr>
                    <a:lnL w="9525">
                      <a:solidFill>
                        <a:srgbClr val="D6DED4"/>
                      </a:solidFill>
                      <a:prstDash val="soli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Train windows</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Validation windows</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Test windows</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Total</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extLst>
                  <a:ext uri="{0D108BD9-81ED-4DB2-BD59-A6C34878D82A}">
                    <a16:rowId xmlns:a16="http://schemas.microsoft.com/office/drawing/2014/main" val="10000"/>
                  </a:ext>
                </a:extLst>
              </a:tr>
              <a:tr h="0">
                <a:tc>
                  <a:txBody>
                    <a:bodyPr/>
                    <a:lstStyle/>
                    <a:p>
                      <a:r>
                        <a:rPr sz="1350" b="1">
                          <a:solidFill>
                            <a:srgbClr val="26322D"/>
                          </a:solidFill>
                          <a:latin typeface="Aptos"/>
                          <a:ea typeface="Aptos"/>
                          <a:cs typeface="Aptos"/>
                        </a:rPr>
                        <a:t>Asphalt</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275</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5</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51</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331</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1"/>
                  </a:ext>
                </a:extLst>
              </a:tr>
              <a:tr h="0">
                <a:tc>
                  <a:txBody>
                    <a:bodyPr/>
                    <a:lstStyle/>
                    <a:p>
                      <a:r>
                        <a:rPr sz="1350" b="1">
                          <a:solidFill>
                            <a:srgbClr val="26322D"/>
                          </a:solidFill>
                          <a:latin typeface="Aptos"/>
                          <a:ea typeface="Aptos"/>
                          <a:cs typeface="Aptos"/>
                        </a:rPr>
                        <a:t>Flooring</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617</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259</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378</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1254</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extLst>
                  <a:ext uri="{0D108BD9-81ED-4DB2-BD59-A6C34878D82A}">
                    <a16:rowId xmlns:a16="http://schemas.microsoft.com/office/drawing/2014/main" val="10002"/>
                  </a:ext>
                </a:extLst>
              </a:tr>
              <a:tr h="0">
                <a:tc>
                  <a:txBody>
                    <a:bodyPr/>
                    <a:lstStyle/>
                    <a:p>
                      <a:r>
                        <a:rPr sz="1350" b="1">
                          <a:solidFill>
                            <a:srgbClr val="26322D"/>
                          </a:solidFill>
                          <a:latin typeface="Aptos"/>
                          <a:ea typeface="Aptos"/>
                          <a:cs typeface="Aptos"/>
                        </a:rPr>
                        <a:t>Ice</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1049</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67</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221</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1337</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3"/>
                  </a:ext>
                </a:extLst>
              </a:tr>
              <a:tr h="0">
                <a:tc>
                  <a:txBody>
                    <a:bodyPr/>
                    <a:lstStyle/>
                    <a:p>
                      <a:r>
                        <a:rPr sz="1350" b="1">
                          <a:solidFill>
                            <a:srgbClr val="26322D"/>
                          </a:solidFill>
                          <a:latin typeface="Aptos"/>
                          <a:ea typeface="Aptos"/>
                          <a:cs typeface="Aptos"/>
                        </a:rPr>
                        <a:t>Loam</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211</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83</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87</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381</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extLst>
                  <a:ext uri="{0D108BD9-81ED-4DB2-BD59-A6C34878D82A}">
                    <a16:rowId xmlns:a16="http://schemas.microsoft.com/office/drawing/2014/main" val="10004"/>
                  </a:ext>
                </a:extLst>
              </a:tr>
              <a:tr h="0">
                <a:tc>
                  <a:txBody>
                    <a:bodyPr/>
                    <a:lstStyle/>
                    <a:p>
                      <a:r>
                        <a:rPr sz="1350" b="1">
                          <a:solidFill>
                            <a:srgbClr val="26322D"/>
                          </a:solidFill>
                          <a:latin typeface="Aptos"/>
                          <a:ea typeface="Aptos"/>
                          <a:cs typeface="Aptos"/>
                        </a:rPr>
                        <a:t>Snow</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502</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157</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193</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852</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5"/>
                  </a:ext>
                </a:extLst>
              </a:tr>
              <a:tr h="0">
                <a:tc>
                  <a:txBody>
                    <a:bodyPr/>
                    <a:lstStyle/>
                    <a:p>
                      <a:r>
                        <a:rPr sz="1350" b="1">
                          <a:solidFill>
                            <a:srgbClr val="26322D"/>
                          </a:solidFill>
                          <a:latin typeface="Aptos"/>
                          <a:ea typeface="Aptos"/>
                          <a:cs typeface="Aptos"/>
                        </a:rPr>
                        <a:t>Total</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2,654</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571</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930</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4,155</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extLst>
                  <a:ext uri="{0D108BD9-81ED-4DB2-BD59-A6C34878D82A}">
                    <a16:rowId xmlns:a16="http://schemas.microsoft.com/office/drawing/2014/main" val="10006"/>
                  </a:ext>
                </a:extLst>
              </a:tr>
            </a:tbl>
          </a:graphicData>
        </a:graphic>
      </p:graphicFrame>
      <p:sp>
        <p:nvSpPr>
          <p:cNvPr id="7" name="Rectangle 6">
            <a:extLst>
              <a:ext uri="{FF2B5EF4-FFF2-40B4-BE49-F238E27FC236}">
                <a16:creationId xmlns:a16="http://schemas.microsoft.com/office/drawing/2014/main" id="{1B8C2515-D703-48FA-B383-8C04FDB39C8A}"/>
              </a:ext>
            </a:extLst>
          </p:cNvPr>
          <p:cNvSpPr>
            <a:spLocks noGrp="1"/>
          </p:cNvSpPr>
          <p:nvPr/>
        </p:nvSpPr>
        <p:spPr>
          <a:xfrm>
            <a:off x="704850" y="5638800"/>
            <a:ext cx="10382250" cy="361950"/>
          </a:xfrm>
          <a:prstGeom prst="rect">
            <a:avLst/>
          </a:prstGeom>
          <a:noFill/>
          <a:ln w="0">
            <a:noFill/>
            <a:prstDash val="solid"/>
          </a:ln>
        </p:spPr>
        <p:txBody>
          <a:bodyPr wrap="square" lIns="0" tIns="0" rIns="0" bIns="0" anchor="t">
            <a:normAutofit/>
          </a:bodyPr>
          <a:lstStyle>
            <a:defPPr algn="l">
              <a:defRPr sz="1650" b="1">
                <a:solidFill>
                  <a:srgbClr val="214C3B"/>
                </a:solidFill>
                <a:latin typeface="Aptos"/>
                <a:ea typeface="Aptos"/>
                <a:cs typeface="Aptos"/>
              </a:defRPr>
            </a:defPPr>
          </a:lstStyle>
          <a:p>
            <a:pPr algn="l">
              <a:defRPr sz="1650" b="1">
                <a:solidFill>
                  <a:srgbClr val="214C3B"/>
                </a:solidFill>
                <a:latin typeface="Aptos"/>
                <a:ea typeface="Aptos"/>
                <a:cs typeface="Aptos"/>
              </a:defRPr>
            </a:pPr>
            <a:r>
              <a:rPr sz="1650" b="1">
                <a:solidFill>
                  <a:srgbClr val="214C3B"/>
                </a:solidFill>
                <a:latin typeface="Aptos"/>
                <a:ea typeface="Aptos"/>
                <a:cs typeface="Aptos"/>
              </a:rPr>
              <a:t>Recordings stay intact: 43 train  ·  14 validation  ·  14 test</a:t>
            </a:r>
          </a:p>
        </p:txBody>
      </p:sp>
      <p:sp>
        <p:nvSpPr>
          <p:cNvPr id="8" name="Rectangle 7">
            <a:extLst>
              <a:ext uri="{FF2B5EF4-FFF2-40B4-BE49-F238E27FC236}">
                <a16:creationId xmlns:a16="http://schemas.microsoft.com/office/drawing/2014/main" id="{B5734D4B-F295-41EB-B34A-4779278739A8}"/>
              </a:ext>
            </a:extLst>
          </p:cNvPr>
          <p:cNvSpPr>
            <a:spLocks noGrp="1"/>
          </p:cNvSpPr>
          <p:nvPr/>
        </p:nvSpPr>
        <p:spPr>
          <a:xfrm>
            <a:off x="704850" y="6019800"/>
            <a:ext cx="10382250" cy="238125"/>
          </a:xfrm>
          <a:prstGeom prst="rect">
            <a:avLst/>
          </a:prstGeom>
          <a:noFill/>
          <a:ln w="0">
            <a:noFill/>
            <a:prstDash val="solid"/>
          </a:ln>
        </p:spPr>
        <p:txBody>
          <a:bodyPr wrap="square" lIns="0" tIns="0" rIns="0" bIns="0" anchor="t">
            <a:normAutofit/>
          </a:bodyPr>
          <a:lstStyle>
            <a:defPPr algn="l">
              <a:defRPr sz="1275" b="0">
                <a:solidFill>
                  <a:srgbClr val="65746B"/>
                </a:solidFill>
                <a:latin typeface="Aptos"/>
                <a:ea typeface="Aptos"/>
                <a:cs typeface="Aptos"/>
              </a:defRPr>
            </a:defPPr>
          </a:lstStyle>
          <a:p>
            <a:pPr algn="l">
              <a:defRPr sz="1275" b="0">
                <a:solidFill>
                  <a:srgbClr val="65746B"/>
                </a:solidFill>
                <a:latin typeface="Aptos"/>
                <a:ea typeface="Aptos"/>
                <a:cs typeface="Aptos"/>
              </a:defRPr>
            </a:pPr>
            <a:r>
              <a:rPr sz="1275" b="0">
                <a:solidFill>
                  <a:srgbClr val="65746B"/>
                </a:solidFill>
                <a:latin typeface="Aptos"/>
                <a:ea typeface="Aptos"/>
                <a:cs typeface="Aptos"/>
              </a:rPr>
              <a:t>Window counts reflect recording duration; windows are not independent field trials.</a:t>
            </a:r>
          </a:p>
        </p:txBody>
      </p:sp>
    </p:spTree>
    <p:extLst>
      <p:ext uri="{BB962C8B-B14F-4D97-AF65-F5344CB8AC3E}">
        <p14:creationId xmlns:p14="http://schemas.microsoft.com/office/powerpoint/2010/main" val="1351905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98E9F07-1578-48FA-906B-EBA0FBA17CA7}"/>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MEASURED INPUT</a:t>
            </a:r>
          </a:p>
        </p:txBody>
      </p:sp>
      <p:sp>
        <p:nvSpPr>
          <p:cNvPr id="2" name="Rectangle 1">
            <a:extLst>
              <a:ext uri="{FF2B5EF4-FFF2-40B4-BE49-F238E27FC236}">
                <a16:creationId xmlns:a16="http://schemas.microsoft.com/office/drawing/2014/main" id="{2F87F998-6823-4268-9AF8-0F994FA89B0D}"/>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One held-out window contains ten sensor traces</a:t>
            </a:r>
          </a:p>
        </p:txBody>
      </p:sp>
      <p:sp>
        <p:nvSpPr>
          <p:cNvPr id="3" name="Rectangle 2">
            <a:extLst>
              <a:ext uri="{FF2B5EF4-FFF2-40B4-BE49-F238E27FC236}">
                <a16:creationId xmlns:a16="http://schemas.microsoft.com/office/drawing/2014/main" id="{9E962B07-4B8F-4780-BE4C-4B28ECDD8FD4}"/>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765416B4-0494-432E-93E3-44B0A4947777}"/>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31035BDA-3AC1-4C90-AC5A-8CFBAE713E91}"/>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05 / 20</a:t>
            </a:r>
          </a:p>
        </p:txBody>
      </p:sp>
      <p:sp>
        <p:nvSpPr>
          <p:cNvPr id="6" name="Rectangle 5">
            <a:extLst>
              <a:ext uri="{FF2B5EF4-FFF2-40B4-BE49-F238E27FC236}">
                <a16:creationId xmlns:a16="http://schemas.microsoft.com/office/drawing/2014/main" id="{C0609045-1B08-42F0-A9E3-9167988D81A5}"/>
              </a:ext>
            </a:extLst>
          </p:cNvPr>
          <p:cNvSpPr>
            <a:spLocks noGrp="1"/>
          </p:cNvSpPr>
          <p:nvPr/>
        </p:nvSpPr>
        <p:spPr>
          <a:xfrm>
            <a:off x="723900" y="1362075"/>
            <a:ext cx="10572750" cy="295275"/>
          </a:xfrm>
          <a:prstGeom prst="rect">
            <a:avLst/>
          </a:prstGeom>
          <a:noFill/>
          <a:ln w="0">
            <a:noFill/>
            <a:prstDash val="solid"/>
          </a:ln>
        </p:spPr>
        <p:txBody>
          <a:bodyPr wrap="square" lIns="0" tIns="0" rIns="0" bIns="0" anchor="t">
            <a:normAutofit/>
          </a:bodyPr>
          <a:lstStyle>
            <a:defPPr algn="l">
              <a:defRPr sz="1425" b="1">
                <a:solidFill>
                  <a:srgbClr val="65746B"/>
                </a:solidFill>
                <a:latin typeface="Aptos"/>
                <a:ea typeface="Aptos"/>
                <a:cs typeface="Aptos"/>
              </a:defRPr>
            </a:defPPr>
          </a:lstStyle>
          <a:p>
            <a:pPr algn="l">
              <a:defRPr sz="1425" b="1">
                <a:solidFill>
                  <a:srgbClr val="65746B"/>
                </a:solidFill>
                <a:latin typeface="Aptos"/>
                <a:ea typeface="Aptos"/>
                <a:cs typeface="Aptos"/>
              </a:defRPr>
            </a:pPr>
            <a:r>
              <a:rPr sz="1425" b="1">
                <a:solidFill>
                  <a:srgbClr val="65746B"/>
                </a:solidFill>
                <a:latin typeface="Aptos"/>
                <a:ea typeface="Aptos"/>
                <a:cs typeface="Aptos"/>
              </a:rPr>
              <a:t>Example: ASPHALT/03  ·  held-out sample 185  ·  ASPHALT  ·  100 Hz</a:t>
            </a:r>
          </a:p>
        </p:txBody>
      </p:sp>
      <p:graphicFrame>
        <p:nvGraphicFramePr>
          <p:cNvPr id="7" name="Chart">
            <a:extLst>
              <a:ext uri="{FF2B5EF4-FFF2-40B4-BE49-F238E27FC236}">
                <a16:creationId xmlns:a16="http://schemas.microsoft.com/office/drawing/2014/main" id="{953EE937-8450-42EB-927E-480886D4136E}"/>
              </a:ext>
            </a:extLst>
          </p:cNvPr>
          <p:cNvGraphicFramePr/>
          <p:nvPr/>
        </p:nvGraphicFramePr>
        <p:xfrm>
          <a:off x="666750" y="1733550"/>
          <a:ext cx="5334000" cy="18859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a:extLst>
              <a:ext uri="{FF2B5EF4-FFF2-40B4-BE49-F238E27FC236}">
                <a16:creationId xmlns:a16="http://schemas.microsoft.com/office/drawing/2014/main" id="{BC4BBDF6-B220-4248-913D-2F1A4F21A3F7}"/>
              </a:ext>
            </a:extLst>
          </p:cNvPr>
          <p:cNvGraphicFramePr/>
          <p:nvPr/>
        </p:nvGraphicFramePr>
        <p:xfrm>
          <a:off x="6191250" y="1733550"/>
          <a:ext cx="5334000" cy="18859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a:extLst>
              <a:ext uri="{FF2B5EF4-FFF2-40B4-BE49-F238E27FC236}">
                <a16:creationId xmlns:a16="http://schemas.microsoft.com/office/drawing/2014/main" id="{23DCB849-BF62-4881-A083-B6D067D38FC2}"/>
              </a:ext>
            </a:extLst>
          </p:cNvPr>
          <p:cNvGraphicFramePr/>
          <p:nvPr/>
        </p:nvGraphicFramePr>
        <p:xfrm>
          <a:off x="666750" y="3800475"/>
          <a:ext cx="5334000" cy="188595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Chart">
            <a:extLst>
              <a:ext uri="{FF2B5EF4-FFF2-40B4-BE49-F238E27FC236}">
                <a16:creationId xmlns:a16="http://schemas.microsoft.com/office/drawing/2014/main" id="{0FFB45AB-A202-4B84-8522-72D63D449B87}"/>
              </a:ext>
            </a:extLst>
          </p:cNvPr>
          <p:cNvGraphicFramePr/>
          <p:nvPr/>
        </p:nvGraphicFramePr>
        <p:xfrm>
          <a:off x="6191250" y="3800475"/>
          <a:ext cx="5334000" cy="1885950"/>
        </p:xfrm>
        <a:graphic>
          <a:graphicData uri="http://schemas.openxmlformats.org/drawingml/2006/chart">
            <c:chart xmlns:c="http://schemas.openxmlformats.org/drawingml/2006/chart" xmlns:r="http://schemas.openxmlformats.org/officeDocument/2006/relationships" r:id="rId6"/>
          </a:graphicData>
        </a:graphic>
      </p:graphicFrame>
      <p:sp>
        <p:nvSpPr>
          <p:cNvPr id="11" name="Rectangle 10">
            <a:extLst>
              <a:ext uri="{FF2B5EF4-FFF2-40B4-BE49-F238E27FC236}">
                <a16:creationId xmlns:a16="http://schemas.microsoft.com/office/drawing/2014/main" id="{005466C6-9241-4D5D-B233-54325C7A44FD}"/>
              </a:ext>
            </a:extLst>
          </p:cNvPr>
          <p:cNvSpPr>
            <a:spLocks noGrp="1"/>
          </p:cNvSpPr>
          <p:nvPr/>
        </p:nvSpPr>
        <p:spPr>
          <a:xfrm>
            <a:off x="723900" y="5886450"/>
            <a:ext cx="10668000" cy="257175"/>
          </a:xfrm>
          <a:prstGeom prst="rect">
            <a:avLst/>
          </a:prstGeom>
          <a:noFill/>
          <a:ln w="0">
            <a:noFill/>
            <a:prstDash val="solid"/>
          </a:ln>
        </p:spPr>
        <p:txBody>
          <a:bodyPr wrap="square" lIns="0" tIns="0" rIns="0" bIns="0" anchor="t">
            <a:normAutofit/>
          </a:bodyPr>
          <a:lstStyle>
            <a:defPPr algn="l">
              <a:defRPr sz="1275" b="0">
                <a:solidFill>
                  <a:srgbClr val="65746B"/>
                </a:solidFill>
                <a:latin typeface="Aptos"/>
                <a:ea typeface="Aptos"/>
                <a:cs typeface="Aptos"/>
              </a:defRPr>
            </a:defPPr>
          </a:lstStyle>
          <a:p>
            <a:pPr algn="l">
              <a:defRPr sz="1275" b="0">
                <a:solidFill>
                  <a:srgbClr val="65746B"/>
                </a:solidFill>
                <a:latin typeface="Aptos"/>
                <a:ea typeface="Aptos"/>
                <a:cs typeface="Aptos"/>
              </a:defRPr>
            </a:pPr>
            <a:r>
              <a:rPr sz="1275" b="0">
                <a:solidFill>
                  <a:srgbClr val="65746B"/>
                </a:solidFill>
                <a:latin typeface="Aptos"/>
                <a:ea typeface="Aptos"/>
                <a:cs typeface="Aptos"/>
              </a:rPr>
              <a:t>Every fifth of 170 samples is shown to keep the real 1.7-second trace readable.</a:t>
            </a:r>
          </a:p>
        </p:txBody>
      </p:sp>
    </p:spTree>
    <p:extLst>
      <p:ext uri="{BB962C8B-B14F-4D97-AF65-F5344CB8AC3E}">
        <p14:creationId xmlns:p14="http://schemas.microsoft.com/office/powerpoint/2010/main" val="365376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FEB9FC3-C771-4D7D-8F79-0831A65105A7}"/>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DATA PREPARATION</a:t>
            </a:r>
          </a:p>
        </p:txBody>
      </p:sp>
      <p:sp>
        <p:nvSpPr>
          <p:cNvPr id="2" name="Rectangle 1">
            <a:extLst>
              <a:ext uri="{FF2B5EF4-FFF2-40B4-BE49-F238E27FC236}">
                <a16:creationId xmlns:a16="http://schemas.microsoft.com/office/drawing/2014/main" id="{9ECFE5AC-2CE9-4C52-BE69-CFA28DE857C6}"/>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Preprocessing keeps the sensor timeline causal</a:t>
            </a:r>
          </a:p>
        </p:txBody>
      </p:sp>
      <p:sp>
        <p:nvSpPr>
          <p:cNvPr id="3" name="Rectangle 2">
            <a:extLst>
              <a:ext uri="{FF2B5EF4-FFF2-40B4-BE49-F238E27FC236}">
                <a16:creationId xmlns:a16="http://schemas.microsoft.com/office/drawing/2014/main" id="{32FF7B53-60F5-4367-908E-3F966A2C7FFC}"/>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4EFA1958-B16F-47E5-B81D-8A7C1F5F2ECA}"/>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7401FECE-4D26-46BA-AF28-3681E9A38051}"/>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06 / 20</a:t>
            </a:r>
          </a:p>
        </p:txBody>
      </p:sp>
      <p:sp>
        <p:nvSpPr>
          <p:cNvPr id="6" name="Rectangle 5">
            <a:extLst>
              <a:ext uri="{FF2B5EF4-FFF2-40B4-BE49-F238E27FC236}">
                <a16:creationId xmlns:a16="http://schemas.microsoft.com/office/drawing/2014/main" id="{9C420466-FBB2-49D9-8339-9D3807D0C366}"/>
              </a:ext>
            </a:extLst>
          </p:cNvPr>
          <p:cNvSpPr>
            <a:spLocks noGrp="1"/>
          </p:cNvSpPr>
          <p:nvPr/>
        </p:nvSpPr>
        <p:spPr>
          <a:xfrm>
            <a:off x="742950" y="1571625"/>
            <a:ext cx="476250" cy="285750"/>
          </a:xfrm>
          <a:prstGeom prst="rect">
            <a:avLst/>
          </a:prstGeom>
          <a:noFill/>
          <a:ln w="0">
            <a:noFill/>
            <a:prstDash val="solid"/>
          </a:ln>
        </p:spPr>
        <p:txBody>
          <a:bodyPr wrap="square" lIns="0" tIns="0" rIns="0" bIns="0" anchor="t">
            <a:normAutofit/>
          </a:bodyPr>
          <a:lstStyle>
            <a:defPPr algn="l">
              <a:defRPr sz="1350" b="1">
                <a:solidFill>
                  <a:srgbClr val="C2943B"/>
                </a:solidFill>
                <a:latin typeface="Aptos"/>
                <a:ea typeface="Aptos"/>
                <a:cs typeface="Aptos"/>
              </a:defRPr>
            </a:defPPr>
          </a:lstStyle>
          <a:p>
            <a:pPr algn="l">
              <a:defRPr sz="1350" b="1">
                <a:solidFill>
                  <a:srgbClr val="C2943B"/>
                </a:solidFill>
                <a:latin typeface="Aptos"/>
                <a:ea typeface="Aptos"/>
                <a:cs typeface="Aptos"/>
              </a:defRPr>
            </a:pPr>
            <a:r>
              <a:rPr sz="1350" b="1">
                <a:solidFill>
                  <a:srgbClr val="C2943B"/>
                </a:solidFill>
                <a:latin typeface="Aptos"/>
                <a:ea typeface="Aptos"/>
                <a:cs typeface="Aptos"/>
              </a:rPr>
              <a:t>01</a:t>
            </a:r>
          </a:p>
        </p:txBody>
      </p:sp>
      <p:sp>
        <p:nvSpPr>
          <p:cNvPr id="7" name="Rectangle 6">
            <a:extLst>
              <a:ext uri="{FF2B5EF4-FFF2-40B4-BE49-F238E27FC236}">
                <a16:creationId xmlns:a16="http://schemas.microsoft.com/office/drawing/2014/main" id="{A8502DDC-2BF1-4410-A259-C34670CB9762}"/>
              </a:ext>
            </a:extLst>
          </p:cNvPr>
          <p:cNvSpPr>
            <a:spLocks noGrp="1"/>
          </p:cNvSpPr>
          <p:nvPr/>
        </p:nvSpPr>
        <p:spPr>
          <a:xfrm>
            <a:off x="1409700" y="1571625"/>
            <a:ext cx="2381250" cy="333375"/>
          </a:xfrm>
          <a:prstGeom prst="rect">
            <a:avLst/>
          </a:prstGeom>
          <a:noFill/>
          <a:ln w="0">
            <a:noFill/>
            <a:prstDash val="solid"/>
          </a:ln>
        </p:spPr>
        <p:txBody>
          <a:bodyPr wrap="square" lIns="0" tIns="0" rIns="0" bIns="0" anchor="t">
            <a:normAutofit/>
          </a:bodyPr>
          <a:lstStyle>
            <a:defPPr algn="l">
              <a:defRPr sz="1650" b="1">
                <a:solidFill>
                  <a:srgbClr val="214C3B"/>
                </a:solidFill>
                <a:latin typeface="Aptos"/>
                <a:ea typeface="Aptos"/>
                <a:cs typeface="Aptos"/>
              </a:defRPr>
            </a:defPPr>
          </a:lstStyle>
          <a:p>
            <a:pPr algn="l">
              <a:defRPr sz="1650" b="1">
                <a:solidFill>
                  <a:srgbClr val="214C3B"/>
                </a:solidFill>
                <a:latin typeface="Aptos"/>
                <a:ea typeface="Aptos"/>
                <a:cs typeface="Aptos"/>
              </a:defRPr>
            </a:pPr>
            <a:r>
              <a:rPr sz="1650" b="1">
                <a:solidFill>
                  <a:srgbClr val="214C3B"/>
                </a:solidFill>
                <a:latin typeface="Aptos"/>
                <a:ea typeface="Aptos"/>
                <a:cs typeface="Aptos"/>
              </a:rPr>
              <a:t>Read paired files</a:t>
            </a:r>
          </a:p>
        </p:txBody>
      </p:sp>
      <p:sp>
        <p:nvSpPr>
          <p:cNvPr id="8" name="Rectangle 7">
            <a:extLst>
              <a:ext uri="{FF2B5EF4-FFF2-40B4-BE49-F238E27FC236}">
                <a16:creationId xmlns:a16="http://schemas.microsoft.com/office/drawing/2014/main" id="{06594915-3D45-4C29-847F-7FAF7D02F1D2}"/>
              </a:ext>
            </a:extLst>
          </p:cNvPr>
          <p:cNvSpPr>
            <a:spLocks noGrp="1"/>
          </p:cNvSpPr>
          <p:nvPr/>
        </p:nvSpPr>
        <p:spPr>
          <a:xfrm>
            <a:off x="4095750" y="1571625"/>
            <a:ext cx="6524625" cy="428625"/>
          </a:xfrm>
          <a:prstGeom prst="rect">
            <a:avLst/>
          </a:prstGeom>
          <a:noFill/>
          <a:ln w="0">
            <a:noFill/>
            <a:prstDash val="solid"/>
          </a:ln>
        </p:spPr>
        <p:txBody>
          <a:bodyPr wrap="square" lIns="0" tIns="0" rIns="0" bIns="0" anchor="t">
            <a:normAutofit/>
          </a:bodyPr>
          <a:lstStyle>
            <a:defPPr algn="l">
              <a:defRPr sz="1500" b="0">
                <a:solidFill>
                  <a:srgbClr val="26322D"/>
                </a:solidFill>
                <a:latin typeface="Aptos"/>
                <a:ea typeface="Aptos"/>
                <a:cs typeface="Aptos"/>
              </a:defRPr>
            </a:defPPr>
          </a:lstStyle>
          <a:p>
            <a:pPr algn="l">
              <a:defRPr sz="1500" b="0">
                <a:solidFill>
                  <a:srgbClr val="26322D"/>
                </a:solidFill>
                <a:latin typeface="Aptos"/>
                <a:ea typeface="Aptos"/>
                <a:cs typeface="Aptos"/>
              </a:defRPr>
            </a:pPr>
            <a:r>
              <a:rPr sz="1500" b="0">
                <a:solidFill>
                  <a:srgbClr val="26322D"/>
                </a:solidFill>
                <a:latin typeface="Aptos"/>
                <a:ea typeface="Aptos"/>
                <a:cs typeface="Aptos"/>
              </a:rPr>
              <a:t>IMU + wheel CSV</a:t>
            </a:r>
          </a:p>
        </p:txBody>
      </p:sp>
      <p:sp>
        <p:nvSpPr>
          <p:cNvPr id="9" name="Rectangle 8">
            <a:extLst>
              <a:ext uri="{FF2B5EF4-FFF2-40B4-BE49-F238E27FC236}">
                <a16:creationId xmlns:a16="http://schemas.microsoft.com/office/drawing/2014/main" id="{7EDBD953-2DCD-4CC1-8F5E-1A5D08BA9D40}"/>
              </a:ext>
            </a:extLst>
          </p:cNvPr>
          <p:cNvSpPr>
            <a:spLocks noGrp="1"/>
          </p:cNvSpPr>
          <p:nvPr/>
        </p:nvSpPr>
        <p:spPr>
          <a:xfrm>
            <a:off x="1409700" y="2085975"/>
            <a:ext cx="9144000" cy="9525"/>
          </a:xfrm>
          <a:prstGeom prst="rect">
            <a:avLst/>
          </a:prstGeom>
          <a:solidFill>
            <a:srgbClr val="D6DED4"/>
          </a:solidFill>
          <a:ln w="0">
            <a:noFill/>
            <a:prstDash val="solid"/>
          </a:ln>
        </p:spPr>
      </p:sp>
      <p:sp>
        <p:nvSpPr>
          <p:cNvPr id="10" name="Rectangle 9">
            <a:extLst>
              <a:ext uri="{FF2B5EF4-FFF2-40B4-BE49-F238E27FC236}">
                <a16:creationId xmlns:a16="http://schemas.microsoft.com/office/drawing/2014/main" id="{87C8E6C1-232C-4DEC-9CA0-FB2AA6060904}"/>
              </a:ext>
            </a:extLst>
          </p:cNvPr>
          <p:cNvSpPr>
            <a:spLocks noGrp="1"/>
          </p:cNvSpPr>
          <p:nvPr/>
        </p:nvSpPr>
        <p:spPr>
          <a:xfrm>
            <a:off x="742950" y="2438400"/>
            <a:ext cx="476250" cy="285750"/>
          </a:xfrm>
          <a:prstGeom prst="rect">
            <a:avLst/>
          </a:prstGeom>
          <a:noFill/>
          <a:ln w="0">
            <a:noFill/>
            <a:prstDash val="solid"/>
          </a:ln>
        </p:spPr>
        <p:txBody>
          <a:bodyPr wrap="square" lIns="0" tIns="0" rIns="0" bIns="0" anchor="t">
            <a:normAutofit/>
          </a:bodyPr>
          <a:lstStyle>
            <a:defPPr algn="l">
              <a:defRPr sz="1350" b="1">
                <a:solidFill>
                  <a:srgbClr val="C2943B"/>
                </a:solidFill>
                <a:latin typeface="Aptos"/>
                <a:ea typeface="Aptos"/>
                <a:cs typeface="Aptos"/>
              </a:defRPr>
            </a:defPPr>
          </a:lstStyle>
          <a:p>
            <a:pPr algn="l">
              <a:defRPr sz="1350" b="1">
                <a:solidFill>
                  <a:srgbClr val="C2943B"/>
                </a:solidFill>
                <a:latin typeface="Aptos"/>
                <a:ea typeface="Aptos"/>
                <a:cs typeface="Aptos"/>
              </a:defRPr>
            </a:pPr>
            <a:r>
              <a:rPr sz="1350" b="1">
                <a:solidFill>
                  <a:srgbClr val="C2943B"/>
                </a:solidFill>
                <a:latin typeface="Aptos"/>
                <a:ea typeface="Aptos"/>
                <a:cs typeface="Aptos"/>
              </a:rPr>
              <a:t>02</a:t>
            </a:r>
          </a:p>
        </p:txBody>
      </p:sp>
      <p:sp>
        <p:nvSpPr>
          <p:cNvPr id="11" name="Rectangle 10">
            <a:extLst>
              <a:ext uri="{FF2B5EF4-FFF2-40B4-BE49-F238E27FC236}">
                <a16:creationId xmlns:a16="http://schemas.microsoft.com/office/drawing/2014/main" id="{5603D2B6-65C8-4FD7-8179-D255AA93C22E}"/>
              </a:ext>
            </a:extLst>
          </p:cNvPr>
          <p:cNvSpPr>
            <a:spLocks noGrp="1"/>
          </p:cNvSpPr>
          <p:nvPr/>
        </p:nvSpPr>
        <p:spPr>
          <a:xfrm>
            <a:off x="1409700" y="2438400"/>
            <a:ext cx="2381250" cy="333375"/>
          </a:xfrm>
          <a:prstGeom prst="rect">
            <a:avLst/>
          </a:prstGeom>
          <a:noFill/>
          <a:ln w="0">
            <a:noFill/>
            <a:prstDash val="solid"/>
          </a:ln>
        </p:spPr>
        <p:txBody>
          <a:bodyPr wrap="square" lIns="0" tIns="0" rIns="0" bIns="0" anchor="t">
            <a:normAutofit/>
          </a:bodyPr>
          <a:lstStyle>
            <a:defPPr algn="l">
              <a:defRPr sz="1650" b="1">
                <a:solidFill>
                  <a:srgbClr val="214C3B"/>
                </a:solidFill>
                <a:latin typeface="Aptos"/>
                <a:ea typeface="Aptos"/>
                <a:cs typeface="Aptos"/>
              </a:defRPr>
            </a:defPPr>
          </a:lstStyle>
          <a:p>
            <a:pPr algn="l">
              <a:defRPr sz="1650" b="1">
                <a:solidFill>
                  <a:srgbClr val="214C3B"/>
                </a:solidFill>
                <a:latin typeface="Aptos"/>
                <a:ea typeface="Aptos"/>
                <a:cs typeface="Aptos"/>
              </a:defRPr>
            </a:pPr>
            <a:r>
              <a:rPr sz="1650" b="1">
                <a:solidFill>
                  <a:srgbClr val="214C3B"/>
                </a:solidFill>
                <a:latin typeface="Aptos"/>
                <a:ea typeface="Aptos"/>
                <a:cs typeface="Aptos"/>
              </a:rPr>
              <a:t>Validate rows</a:t>
            </a:r>
          </a:p>
        </p:txBody>
      </p:sp>
      <p:sp>
        <p:nvSpPr>
          <p:cNvPr id="12" name="Rectangle 11">
            <a:extLst>
              <a:ext uri="{FF2B5EF4-FFF2-40B4-BE49-F238E27FC236}">
                <a16:creationId xmlns:a16="http://schemas.microsoft.com/office/drawing/2014/main" id="{27FAE30C-394A-46BA-848C-53AF11804926}"/>
              </a:ext>
            </a:extLst>
          </p:cNvPr>
          <p:cNvSpPr>
            <a:spLocks noGrp="1"/>
          </p:cNvSpPr>
          <p:nvPr/>
        </p:nvSpPr>
        <p:spPr>
          <a:xfrm>
            <a:off x="4095750" y="2438400"/>
            <a:ext cx="6524625" cy="428625"/>
          </a:xfrm>
          <a:prstGeom prst="rect">
            <a:avLst/>
          </a:prstGeom>
          <a:noFill/>
          <a:ln w="0">
            <a:noFill/>
            <a:prstDash val="solid"/>
          </a:ln>
        </p:spPr>
        <p:txBody>
          <a:bodyPr wrap="square" lIns="0" tIns="0" rIns="0" bIns="0" anchor="t">
            <a:normAutofit/>
          </a:bodyPr>
          <a:lstStyle>
            <a:defPPr algn="l">
              <a:defRPr sz="1500" b="0">
                <a:solidFill>
                  <a:srgbClr val="26322D"/>
                </a:solidFill>
                <a:latin typeface="Aptos"/>
                <a:ea typeface="Aptos"/>
                <a:cs typeface="Aptos"/>
              </a:defRPr>
            </a:defPPr>
          </a:lstStyle>
          <a:p>
            <a:pPr algn="l">
              <a:defRPr sz="1500" b="0">
                <a:solidFill>
                  <a:srgbClr val="26322D"/>
                </a:solidFill>
                <a:latin typeface="Aptos"/>
                <a:ea typeface="Aptos"/>
                <a:cs typeface="Aptos"/>
              </a:defRPr>
            </a:pPr>
            <a:r>
              <a:rPr sz="1500" b="0">
                <a:solidFill>
                  <a:srgbClr val="26322D"/>
                </a:solidFill>
                <a:latin typeface="Aptos"/>
                <a:ea typeface="Aptos"/>
                <a:cs typeface="Aptos"/>
              </a:rPr>
              <a:t>Finite values; increasing timestamps</a:t>
            </a:r>
          </a:p>
        </p:txBody>
      </p:sp>
      <p:sp>
        <p:nvSpPr>
          <p:cNvPr id="13" name="Rectangle 12">
            <a:extLst>
              <a:ext uri="{FF2B5EF4-FFF2-40B4-BE49-F238E27FC236}">
                <a16:creationId xmlns:a16="http://schemas.microsoft.com/office/drawing/2014/main" id="{D8E44C6C-BC5A-42B0-BF5E-48D2B1017210}"/>
              </a:ext>
            </a:extLst>
          </p:cNvPr>
          <p:cNvSpPr>
            <a:spLocks noGrp="1"/>
          </p:cNvSpPr>
          <p:nvPr/>
        </p:nvSpPr>
        <p:spPr>
          <a:xfrm>
            <a:off x="1409700" y="2952750"/>
            <a:ext cx="9144000" cy="9525"/>
          </a:xfrm>
          <a:prstGeom prst="rect">
            <a:avLst/>
          </a:prstGeom>
          <a:solidFill>
            <a:srgbClr val="D6DED4"/>
          </a:solidFill>
          <a:ln w="0">
            <a:noFill/>
            <a:prstDash val="solid"/>
          </a:ln>
        </p:spPr>
      </p:sp>
      <p:sp>
        <p:nvSpPr>
          <p:cNvPr id="14" name="Rectangle 13">
            <a:extLst>
              <a:ext uri="{FF2B5EF4-FFF2-40B4-BE49-F238E27FC236}">
                <a16:creationId xmlns:a16="http://schemas.microsoft.com/office/drawing/2014/main" id="{6B2D4FC2-4D16-4BB5-A928-6D7B87DEC67C}"/>
              </a:ext>
            </a:extLst>
          </p:cNvPr>
          <p:cNvSpPr>
            <a:spLocks noGrp="1"/>
          </p:cNvSpPr>
          <p:nvPr/>
        </p:nvSpPr>
        <p:spPr>
          <a:xfrm>
            <a:off x="742950" y="3305175"/>
            <a:ext cx="476250" cy="285750"/>
          </a:xfrm>
          <a:prstGeom prst="rect">
            <a:avLst/>
          </a:prstGeom>
          <a:noFill/>
          <a:ln w="0">
            <a:noFill/>
            <a:prstDash val="solid"/>
          </a:ln>
        </p:spPr>
        <p:txBody>
          <a:bodyPr wrap="square" lIns="0" tIns="0" rIns="0" bIns="0" anchor="t">
            <a:normAutofit/>
          </a:bodyPr>
          <a:lstStyle>
            <a:defPPr algn="l">
              <a:defRPr sz="1350" b="1">
                <a:solidFill>
                  <a:srgbClr val="C2943B"/>
                </a:solidFill>
                <a:latin typeface="Aptos"/>
                <a:ea typeface="Aptos"/>
                <a:cs typeface="Aptos"/>
              </a:defRPr>
            </a:defPPr>
          </a:lstStyle>
          <a:p>
            <a:pPr algn="l">
              <a:defRPr sz="1350" b="1">
                <a:solidFill>
                  <a:srgbClr val="C2943B"/>
                </a:solidFill>
                <a:latin typeface="Aptos"/>
                <a:ea typeface="Aptos"/>
                <a:cs typeface="Aptos"/>
              </a:defRPr>
            </a:pPr>
            <a:r>
              <a:rPr sz="1350" b="1">
                <a:solidFill>
                  <a:srgbClr val="C2943B"/>
                </a:solidFill>
                <a:latin typeface="Aptos"/>
                <a:ea typeface="Aptos"/>
                <a:cs typeface="Aptos"/>
              </a:rPr>
              <a:t>03</a:t>
            </a:r>
          </a:p>
        </p:txBody>
      </p:sp>
      <p:sp>
        <p:nvSpPr>
          <p:cNvPr id="15" name="Rectangle 14">
            <a:extLst>
              <a:ext uri="{FF2B5EF4-FFF2-40B4-BE49-F238E27FC236}">
                <a16:creationId xmlns:a16="http://schemas.microsoft.com/office/drawing/2014/main" id="{68172ED9-06DE-4EB6-9D8D-1181EAD25E57}"/>
              </a:ext>
            </a:extLst>
          </p:cNvPr>
          <p:cNvSpPr>
            <a:spLocks noGrp="1"/>
          </p:cNvSpPr>
          <p:nvPr/>
        </p:nvSpPr>
        <p:spPr>
          <a:xfrm>
            <a:off x="1409700" y="3305175"/>
            <a:ext cx="2381250" cy="333375"/>
          </a:xfrm>
          <a:prstGeom prst="rect">
            <a:avLst/>
          </a:prstGeom>
          <a:noFill/>
          <a:ln w="0">
            <a:noFill/>
            <a:prstDash val="solid"/>
          </a:ln>
        </p:spPr>
        <p:txBody>
          <a:bodyPr wrap="square" lIns="0" tIns="0" rIns="0" bIns="0" anchor="t">
            <a:normAutofit/>
          </a:bodyPr>
          <a:lstStyle>
            <a:defPPr algn="l">
              <a:defRPr sz="1650" b="1">
                <a:solidFill>
                  <a:srgbClr val="214C3B"/>
                </a:solidFill>
                <a:latin typeface="Aptos"/>
                <a:ea typeface="Aptos"/>
                <a:cs typeface="Aptos"/>
              </a:defRPr>
            </a:defPPr>
          </a:lstStyle>
          <a:p>
            <a:pPr algn="l">
              <a:defRPr sz="1650" b="1">
                <a:solidFill>
                  <a:srgbClr val="214C3B"/>
                </a:solidFill>
                <a:latin typeface="Aptos"/>
                <a:ea typeface="Aptos"/>
                <a:cs typeface="Aptos"/>
              </a:defRPr>
            </a:pPr>
            <a:r>
              <a:rPr sz="1650" b="1">
                <a:solidFill>
                  <a:srgbClr val="214C3B"/>
                </a:solidFill>
                <a:latin typeface="Aptos"/>
                <a:ea typeface="Aptos"/>
                <a:cs typeface="Aptos"/>
              </a:rPr>
              <a:t>Align signals</a:t>
            </a:r>
          </a:p>
        </p:txBody>
      </p:sp>
      <p:sp>
        <p:nvSpPr>
          <p:cNvPr id="16" name="Rectangle 15">
            <a:extLst>
              <a:ext uri="{FF2B5EF4-FFF2-40B4-BE49-F238E27FC236}">
                <a16:creationId xmlns:a16="http://schemas.microsoft.com/office/drawing/2014/main" id="{BBD5B494-1197-41ED-9D64-93AEFE4617F3}"/>
              </a:ext>
            </a:extLst>
          </p:cNvPr>
          <p:cNvSpPr>
            <a:spLocks noGrp="1"/>
          </p:cNvSpPr>
          <p:nvPr/>
        </p:nvSpPr>
        <p:spPr>
          <a:xfrm>
            <a:off x="4095750" y="3305175"/>
            <a:ext cx="6524625" cy="428625"/>
          </a:xfrm>
          <a:prstGeom prst="rect">
            <a:avLst/>
          </a:prstGeom>
          <a:noFill/>
          <a:ln w="0">
            <a:noFill/>
            <a:prstDash val="solid"/>
          </a:ln>
        </p:spPr>
        <p:txBody>
          <a:bodyPr wrap="square" lIns="0" tIns="0" rIns="0" bIns="0" anchor="t">
            <a:normAutofit/>
          </a:bodyPr>
          <a:lstStyle>
            <a:defPPr algn="l">
              <a:defRPr sz="1500" b="0">
                <a:solidFill>
                  <a:srgbClr val="26322D"/>
                </a:solidFill>
                <a:latin typeface="Aptos"/>
                <a:ea typeface="Aptos"/>
                <a:cs typeface="Aptos"/>
              </a:defRPr>
            </a:defPPr>
          </a:lstStyle>
          <a:p>
            <a:pPr algn="l">
              <a:defRPr sz="1500" b="0">
                <a:solidFill>
                  <a:srgbClr val="26322D"/>
                </a:solidFill>
                <a:latin typeface="Aptos"/>
                <a:ea typeface="Aptos"/>
                <a:cs typeface="Aptos"/>
              </a:defRPr>
            </a:pPr>
            <a:r>
              <a:rPr sz="1500" b="0">
                <a:solidFill>
                  <a:srgbClr val="26322D"/>
                </a:solidFill>
                <a:latin typeface="Aptos"/>
                <a:ea typeface="Aptos"/>
                <a:cs typeface="Aptos"/>
              </a:rPr>
              <a:t>Latest preceding wheel value</a:t>
            </a:r>
          </a:p>
        </p:txBody>
      </p:sp>
      <p:sp>
        <p:nvSpPr>
          <p:cNvPr id="17" name="Rectangle 16">
            <a:extLst>
              <a:ext uri="{FF2B5EF4-FFF2-40B4-BE49-F238E27FC236}">
                <a16:creationId xmlns:a16="http://schemas.microsoft.com/office/drawing/2014/main" id="{F3F8A05A-0239-47E0-9599-D301CB485EBB}"/>
              </a:ext>
            </a:extLst>
          </p:cNvPr>
          <p:cNvSpPr>
            <a:spLocks noGrp="1"/>
          </p:cNvSpPr>
          <p:nvPr/>
        </p:nvSpPr>
        <p:spPr>
          <a:xfrm>
            <a:off x="1409700" y="3819525"/>
            <a:ext cx="9144000" cy="9525"/>
          </a:xfrm>
          <a:prstGeom prst="rect">
            <a:avLst/>
          </a:prstGeom>
          <a:solidFill>
            <a:srgbClr val="D6DED4"/>
          </a:solidFill>
          <a:ln w="0">
            <a:noFill/>
            <a:prstDash val="solid"/>
          </a:ln>
        </p:spPr>
      </p:sp>
      <p:sp>
        <p:nvSpPr>
          <p:cNvPr id="18" name="Rectangle 17">
            <a:extLst>
              <a:ext uri="{FF2B5EF4-FFF2-40B4-BE49-F238E27FC236}">
                <a16:creationId xmlns:a16="http://schemas.microsoft.com/office/drawing/2014/main" id="{3A128ECB-4D16-48D5-8C86-79CA13205E98}"/>
              </a:ext>
            </a:extLst>
          </p:cNvPr>
          <p:cNvSpPr>
            <a:spLocks noGrp="1"/>
          </p:cNvSpPr>
          <p:nvPr/>
        </p:nvSpPr>
        <p:spPr>
          <a:xfrm>
            <a:off x="742950" y="4171950"/>
            <a:ext cx="476250" cy="285750"/>
          </a:xfrm>
          <a:prstGeom prst="rect">
            <a:avLst/>
          </a:prstGeom>
          <a:noFill/>
          <a:ln w="0">
            <a:noFill/>
            <a:prstDash val="solid"/>
          </a:ln>
        </p:spPr>
        <p:txBody>
          <a:bodyPr wrap="square" lIns="0" tIns="0" rIns="0" bIns="0" anchor="t">
            <a:normAutofit/>
          </a:bodyPr>
          <a:lstStyle>
            <a:defPPr algn="l">
              <a:defRPr sz="1350" b="1">
                <a:solidFill>
                  <a:srgbClr val="C2943B"/>
                </a:solidFill>
                <a:latin typeface="Aptos"/>
                <a:ea typeface="Aptos"/>
                <a:cs typeface="Aptos"/>
              </a:defRPr>
            </a:defPPr>
          </a:lstStyle>
          <a:p>
            <a:pPr algn="l">
              <a:defRPr sz="1350" b="1">
                <a:solidFill>
                  <a:srgbClr val="C2943B"/>
                </a:solidFill>
                <a:latin typeface="Aptos"/>
                <a:ea typeface="Aptos"/>
                <a:cs typeface="Aptos"/>
              </a:defRPr>
            </a:pPr>
            <a:r>
              <a:rPr sz="1350" b="1">
                <a:solidFill>
                  <a:srgbClr val="C2943B"/>
                </a:solidFill>
                <a:latin typeface="Aptos"/>
                <a:ea typeface="Aptos"/>
                <a:cs typeface="Aptos"/>
              </a:rPr>
              <a:t>04</a:t>
            </a:r>
          </a:p>
        </p:txBody>
      </p:sp>
      <p:sp>
        <p:nvSpPr>
          <p:cNvPr id="19" name="Rectangle 18">
            <a:extLst>
              <a:ext uri="{FF2B5EF4-FFF2-40B4-BE49-F238E27FC236}">
                <a16:creationId xmlns:a16="http://schemas.microsoft.com/office/drawing/2014/main" id="{B7119FAD-A4D3-4BED-B5FB-1CFC94ED4321}"/>
              </a:ext>
            </a:extLst>
          </p:cNvPr>
          <p:cNvSpPr>
            <a:spLocks noGrp="1"/>
          </p:cNvSpPr>
          <p:nvPr/>
        </p:nvSpPr>
        <p:spPr>
          <a:xfrm>
            <a:off x="1409700" y="4171950"/>
            <a:ext cx="2381250" cy="333375"/>
          </a:xfrm>
          <a:prstGeom prst="rect">
            <a:avLst/>
          </a:prstGeom>
          <a:noFill/>
          <a:ln w="0">
            <a:noFill/>
            <a:prstDash val="solid"/>
          </a:ln>
        </p:spPr>
        <p:txBody>
          <a:bodyPr wrap="square" lIns="0" tIns="0" rIns="0" bIns="0" anchor="t">
            <a:normAutofit/>
          </a:bodyPr>
          <a:lstStyle>
            <a:defPPr algn="l">
              <a:defRPr sz="1650" b="1">
                <a:solidFill>
                  <a:srgbClr val="214C3B"/>
                </a:solidFill>
                <a:latin typeface="Aptos"/>
                <a:ea typeface="Aptos"/>
                <a:cs typeface="Aptos"/>
              </a:defRPr>
            </a:defPPr>
          </a:lstStyle>
          <a:p>
            <a:pPr algn="l">
              <a:defRPr sz="1650" b="1">
                <a:solidFill>
                  <a:srgbClr val="214C3B"/>
                </a:solidFill>
                <a:latin typeface="Aptos"/>
                <a:ea typeface="Aptos"/>
                <a:cs typeface="Aptos"/>
              </a:defRPr>
            </a:pPr>
            <a:r>
              <a:rPr sz="1650" b="1">
                <a:solidFill>
                  <a:srgbClr val="214C3B"/>
                </a:solidFill>
                <a:latin typeface="Aptos"/>
                <a:ea typeface="Aptos"/>
                <a:cs typeface="Aptos"/>
              </a:rPr>
              <a:t>Make windows</a:t>
            </a:r>
          </a:p>
        </p:txBody>
      </p:sp>
      <p:sp>
        <p:nvSpPr>
          <p:cNvPr id="20" name="Rectangle 19">
            <a:extLst>
              <a:ext uri="{FF2B5EF4-FFF2-40B4-BE49-F238E27FC236}">
                <a16:creationId xmlns:a16="http://schemas.microsoft.com/office/drawing/2014/main" id="{F292FE04-C182-49D3-B9B9-D412B2287920}"/>
              </a:ext>
            </a:extLst>
          </p:cNvPr>
          <p:cNvSpPr>
            <a:spLocks noGrp="1"/>
          </p:cNvSpPr>
          <p:nvPr/>
        </p:nvSpPr>
        <p:spPr>
          <a:xfrm>
            <a:off x="4095750" y="4171950"/>
            <a:ext cx="6524625" cy="428625"/>
          </a:xfrm>
          <a:prstGeom prst="rect">
            <a:avLst/>
          </a:prstGeom>
          <a:noFill/>
          <a:ln w="0">
            <a:noFill/>
            <a:prstDash val="solid"/>
          </a:ln>
        </p:spPr>
        <p:txBody>
          <a:bodyPr wrap="square" lIns="0" tIns="0" rIns="0" bIns="0" anchor="t">
            <a:normAutofit/>
          </a:bodyPr>
          <a:lstStyle>
            <a:defPPr algn="l">
              <a:defRPr sz="1500" b="0">
                <a:solidFill>
                  <a:srgbClr val="26322D"/>
                </a:solidFill>
                <a:latin typeface="Aptos"/>
                <a:ea typeface="Aptos"/>
                <a:cs typeface="Aptos"/>
              </a:defRPr>
            </a:defPPr>
          </a:lstStyle>
          <a:p>
            <a:pPr algn="l">
              <a:defRPr sz="1500" b="0">
                <a:solidFill>
                  <a:srgbClr val="26322D"/>
                </a:solidFill>
                <a:latin typeface="Aptos"/>
                <a:ea typeface="Aptos"/>
                <a:cs typeface="Aptos"/>
              </a:defRPr>
            </a:pPr>
            <a:r>
              <a:rPr sz="1500" b="0">
                <a:solidFill>
                  <a:srgbClr val="26322D"/>
                </a:solidFill>
                <a:latin typeface="Aptos"/>
                <a:ea typeface="Aptos"/>
                <a:cs typeface="Aptos"/>
              </a:rPr>
              <a:t>170 samples; no overlap</a:t>
            </a:r>
          </a:p>
        </p:txBody>
      </p:sp>
      <p:sp>
        <p:nvSpPr>
          <p:cNvPr id="21" name="Rectangle 20">
            <a:extLst>
              <a:ext uri="{FF2B5EF4-FFF2-40B4-BE49-F238E27FC236}">
                <a16:creationId xmlns:a16="http://schemas.microsoft.com/office/drawing/2014/main" id="{E7BDB1E9-A22F-4BCF-B668-A2A0F660155C}"/>
              </a:ext>
            </a:extLst>
          </p:cNvPr>
          <p:cNvSpPr>
            <a:spLocks noGrp="1"/>
          </p:cNvSpPr>
          <p:nvPr/>
        </p:nvSpPr>
        <p:spPr>
          <a:xfrm>
            <a:off x="1409700" y="4686300"/>
            <a:ext cx="9144000" cy="9525"/>
          </a:xfrm>
          <a:prstGeom prst="rect">
            <a:avLst/>
          </a:prstGeom>
          <a:solidFill>
            <a:srgbClr val="D6DED4"/>
          </a:solidFill>
          <a:ln w="0">
            <a:noFill/>
            <a:prstDash val="solid"/>
          </a:ln>
        </p:spPr>
      </p:sp>
      <p:sp>
        <p:nvSpPr>
          <p:cNvPr id="22" name="Rectangle 21">
            <a:extLst>
              <a:ext uri="{FF2B5EF4-FFF2-40B4-BE49-F238E27FC236}">
                <a16:creationId xmlns:a16="http://schemas.microsoft.com/office/drawing/2014/main" id="{3F00450E-7205-4838-BCC7-F18CE60FE375}"/>
              </a:ext>
            </a:extLst>
          </p:cNvPr>
          <p:cNvSpPr>
            <a:spLocks noGrp="1"/>
          </p:cNvSpPr>
          <p:nvPr/>
        </p:nvSpPr>
        <p:spPr>
          <a:xfrm>
            <a:off x="742950" y="5038725"/>
            <a:ext cx="476250" cy="285750"/>
          </a:xfrm>
          <a:prstGeom prst="rect">
            <a:avLst/>
          </a:prstGeom>
          <a:noFill/>
          <a:ln w="0">
            <a:noFill/>
            <a:prstDash val="solid"/>
          </a:ln>
        </p:spPr>
        <p:txBody>
          <a:bodyPr wrap="square" lIns="0" tIns="0" rIns="0" bIns="0" anchor="t">
            <a:normAutofit/>
          </a:bodyPr>
          <a:lstStyle>
            <a:defPPr algn="l">
              <a:defRPr sz="1350" b="1">
                <a:solidFill>
                  <a:srgbClr val="C2943B"/>
                </a:solidFill>
                <a:latin typeface="Aptos"/>
                <a:ea typeface="Aptos"/>
                <a:cs typeface="Aptos"/>
              </a:defRPr>
            </a:defPPr>
          </a:lstStyle>
          <a:p>
            <a:pPr algn="l">
              <a:defRPr sz="1350" b="1">
                <a:solidFill>
                  <a:srgbClr val="C2943B"/>
                </a:solidFill>
                <a:latin typeface="Aptos"/>
                <a:ea typeface="Aptos"/>
                <a:cs typeface="Aptos"/>
              </a:defRPr>
            </a:pPr>
            <a:r>
              <a:rPr sz="1350" b="1">
                <a:solidFill>
                  <a:srgbClr val="C2943B"/>
                </a:solidFill>
                <a:latin typeface="Aptos"/>
                <a:ea typeface="Aptos"/>
                <a:cs typeface="Aptos"/>
              </a:rPr>
              <a:t>05</a:t>
            </a:r>
          </a:p>
        </p:txBody>
      </p:sp>
      <p:sp>
        <p:nvSpPr>
          <p:cNvPr id="23" name="Rectangle 22">
            <a:extLst>
              <a:ext uri="{FF2B5EF4-FFF2-40B4-BE49-F238E27FC236}">
                <a16:creationId xmlns:a16="http://schemas.microsoft.com/office/drawing/2014/main" id="{2F525D69-987C-4574-87FF-C4C9DC9F3F1A}"/>
              </a:ext>
            </a:extLst>
          </p:cNvPr>
          <p:cNvSpPr>
            <a:spLocks noGrp="1"/>
          </p:cNvSpPr>
          <p:nvPr/>
        </p:nvSpPr>
        <p:spPr>
          <a:xfrm>
            <a:off x="1409700" y="5038725"/>
            <a:ext cx="2381250" cy="333375"/>
          </a:xfrm>
          <a:prstGeom prst="rect">
            <a:avLst/>
          </a:prstGeom>
          <a:noFill/>
          <a:ln w="0">
            <a:noFill/>
            <a:prstDash val="solid"/>
          </a:ln>
        </p:spPr>
        <p:txBody>
          <a:bodyPr wrap="square" lIns="0" tIns="0" rIns="0" bIns="0" anchor="t">
            <a:normAutofit/>
          </a:bodyPr>
          <a:lstStyle>
            <a:defPPr algn="l">
              <a:defRPr sz="1650" b="1">
                <a:solidFill>
                  <a:srgbClr val="214C3B"/>
                </a:solidFill>
                <a:latin typeface="Aptos"/>
                <a:ea typeface="Aptos"/>
                <a:cs typeface="Aptos"/>
              </a:defRPr>
            </a:defPPr>
          </a:lstStyle>
          <a:p>
            <a:pPr algn="l">
              <a:defRPr sz="1650" b="1">
                <a:solidFill>
                  <a:srgbClr val="214C3B"/>
                </a:solidFill>
                <a:latin typeface="Aptos"/>
                <a:ea typeface="Aptos"/>
                <a:cs typeface="Aptos"/>
              </a:defRPr>
            </a:pPr>
            <a:r>
              <a:rPr sz="1650" b="1">
                <a:solidFill>
                  <a:srgbClr val="214C3B"/>
                </a:solidFill>
                <a:latin typeface="Aptos"/>
                <a:ea typeface="Aptos"/>
                <a:cs typeface="Aptos"/>
              </a:rPr>
              <a:t>Normalize</a:t>
            </a:r>
          </a:p>
        </p:txBody>
      </p:sp>
      <p:sp>
        <p:nvSpPr>
          <p:cNvPr id="24" name="Rectangle 23">
            <a:extLst>
              <a:ext uri="{FF2B5EF4-FFF2-40B4-BE49-F238E27FC236}">
                <a16:creationId xmlns:a16="http://schemas.microsoft.com/office/drawing/2014/main" id="{AD257CA4-FB88-484D-ABB1-DDD2E8983009}"/>
              </a:ext>
            </a:extLst>
          </p:cNvPr>
          <p:cNvSpPr>
            <a:spLocks noGrp="1"/>
          </p:cNvSpPr>
          <p:nvPr/>
        </p:nvSpPr>
        <p:spPr>
          <a:xfrm>
            <a:off x="4095750" y="5038725"/>
            <a:ext cx="6524625" cy="428625"/>
          </a:xfrm>
          <a:prstGeom prst="rect">
            <a:avLst/>
          </a:prstGeom>
          <a:noFill/>
          <a:ln w="0">
            <a:noFill/>
            <a:prstDash val="solid"/>
          </a:ln>
        </p:spPr>
        <p:txBody>
          <a:bodyPr wrap="square" lIns="0" tIns="0" rIns="0" bIns="0" anchor="t">
            <a:normAutofit/>
          </a:bodyPr>
          <a:lstStyle>
            <a:defPPr algn="l">
              <a:defRPr sz="1500" b="0">
                <a:solidFill>
                  <a:srgbClr val="26322D"/>
                </a:solidFill>
                <a:latin typeface="Aptos"/>
                <a:ea typeface="Aptos"/>
                <a:cs typeface="Aptos"/>
              </a:defRPr>
            </a:defPPr>
          </a:lstStyle>
          <a:p>
            <a:pPr algn="l">
              <a:defRPr sz="1500" b="0">
                <a:solidFill>
                  <a:srgbClr val="26322D"/>
                </a:solidFill>
                <a:latin typeface="Aptos"/>
                <a:ea typeface="Aptos"/>
                <a:cs typeface="Aptos"/>
              </a:defRPr>
            </a:pPr>
            <a:r>
              <a:rPr sz="1500" b="0">
                <a:solidFill>
                  <a:srgbClr val="26322D"/>
                </a:solidFill>
                <a:latin typeface="Aptos"/>
                <a:ea typeface="Aptos"/>
                <a:cs typeface="Aptos"/>
              </a:rPr>
              <a:t>Fit on training data only</a:t>
            </a:r>
          </a:p>
        </p:txBody>
      </p:sp>
      <p:sp>
        <p:nvSpPr>
          <p:cNvPr id="25" name="Rectangle 24">
            <a:extLst>
              <a:ext uri="{FF2B5EF4-FFF2-40B4-BE49-F238E27FC236}">
                <a16:creationId xmlns:a16="http://schemas.microsoft.com/office/drawing/2014/main" id="{D6847ECB-8A26-42D5-92FF-CA961254B025}"/>
              </a:ext>
            </a:extLst>
          </p:cNvPr>
          <p:cNvSpPr>
            <a:spLocks noGrp="1"/>
          </p:cNvSpPr>
          <p:nvPr/>
        </p:nvSpPr>
        <p:spPr>
          <a:xfrm>
            <a:off x="742950" y="5953125"/>
            <a:ext cx="10458450" cy="361950"/>
          </a:xfrm>
          <a:prstGeom prst="rect">
            <a:avLst/>
          </a:prstGeom>
          <a:solidFill>
            <a:srgbClr val="E8EEE5"/>
          </a:solidFill>
          <a:ln w="0">
            <a:noFill/>
            <a:prstDash val="solid"/>
          </a:ln>
        </p:spPr>
      </p:sp>
      <p:sp>
        <p:nvSpPr>
          <p:cNvPr id="26" name="Rectangle 25">
            <a:extLst>
              <a:ext uri="{FF2B5EF4-FFF2-40B4-BE49-F238E27FC236}">
                <a16:creationId xmlns:a16="http://schemas.microsoft.com/office/drawing/2014/main" id="{A720365D-11CB-4184-A071-9FF1D11A894C}"/>
              </a:ext>
            </a:extLst>
          </p:cNvPr>
          <p:cNvSpPr>
            <a:spLocks noGrp="1"/>
          </p:cNvSpPr>
          <p:nvPr/>
        </p:nvSpPr>
        <p:spPr>
          <a:xfrm>
            <a:off x="895350" y="6029325"/>
            <a:ext cx="10001250" cy="238125"/>
          </a:xfrm>
          <a:prstGeom prst="rect">
            <a:avLst/>
          </a:prstGeom>
          <a:noFill/>
          <a:ln w="0">
            <a:noFill/>
            <a:prstDash val="solid"/>
          </a:ln>
        </p:spPr>
        <p:txBody>
          <a:bodyPr wrap="square" lIns="0" tIns="0" rIns="0" bIns="0" anchor="t">
            <a:normAutofit/>
          </a:bodyPr>
          <a:lstStyle>
            <a:defPPr algn="l">
              <a:defRPr sz="1275" b="1">
                <a:solidFill>
                  <a:srgbClr val="214C3B"/>
                </a:solidFill>
                <a:latin typeface="Aptos"/>
                <a:ea typeface="Aptos"/>
                <a:cs typeface="Aptos"/>
              </a:defRPr>
            </a:defPPr>
          </a:lstStyle>
          <a:p>
            <a:pPr algn="l">
              <a:defRPr sz="1275" b="1">
                <a:solidFill>
                  <a:srgbClr val="214C3B"/>
                </a:solidFill>
                <a:latin typeface="Aptos"/>
                <a:ea typeface="Aptos"/>
                <a:cs typeface="Aptos"/>
              </a:defRPr>
            </a:pPr>
            <a:r>
              <a:rPr sz="1275" b="1">
                <a:solidFill>
                  <a:srgbClr val="214C3B"/>
                </a:solidFill>
                <a:latin typeface="Aptos"/>
                <a:ea typeface="Aptos"/>
                <a:cs typeface="Aptos"/>
              </a:rPr>
              <a:t>The 100 Hz IMU grid sets the window clock; incomplete tails are discarded.</a:t>
            </a:r>
          </a:p>
        </p:txBody>
      </p:sp>
    </p:spTree>
    <p:extLst>
      <p:ext uri="{BB962C8B-B14F-4D97-AF65-F5344CB8AC3E}">
        <p14:creationId xmlns:p14="http://schemas.microsoft.com/office/powerpoint/2010/main" val="1503367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8CC2155-595E-4A06-943B-AAECF5C43999}"/>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EVALUATION DESIGN</a:t>
            </a:r>
          </a:p>
        </p:txBody>
      </p:sp>
      <p:sp>
        <p:nvSpPr>
          <p:cNvPr id="2" name="Rectangle 1">
            <a:extLst>
              <a:ext uri="{FF2B5EF4-FFF2-40B4-BE49-F238E27FC236}">
                <a16:creationId xmlns:a16="http://schemas.microsoft.com/office/drawing/2014/main" id="{631249AC-5CA6-4458-862B-C3C3575261C8}"/>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The split is assigned before windowing</a:t>
            </a:r>
          </a:p>
        </p:txBody>
      </p:sp>
      <p:sp>
        <p:nvSpPr>
          <p:cNvPr id="3" name="Rectangle 2">
            <a:extLst>
              <a:ext uri="{FF2B5EF4-FFF2-40B4-BE49-F238E27FC236}">
                <a16:creationId xmlns:a16="http://schemas.microsoft.com/office/drawing/2014/main" id="{DCF97868-1224-457F-B055-26DD9259F0CF}"/>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06952A81-92CB-4327-9F7C-B024127425E5}"/>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FC452BE3-7BF8-448B-8252-4B5C3182A8B6}"/>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07 / 20</a:t>
            </a:r>
          </a:p>
        </p:txBody>
      </p:sp>
      <p:sp>
        <p:nvSpPr>
          <p:cNvPr id="6" name="Rectangle 5">
            <a:extLst>
              <a:ext uri="{FF2B5EF4-FFF2-40B4-BE49-F238E27FC236}">
                <a16:creationId xmlns:a16="http://schemas.microsoft.com/office/drawing/2014/main" id="{D08CBFD5-B86C-45CC-B4DE-88B607FB6D2D}"/>
              </a:ext>
            </a:extLst>
          </p:cNvPr>
          <p:cNvSpPr>
            <a:spLocks noGrp="1"/>
          </p:cNvSpPr>
          <p:nvPr/>
        </p:nvSpPr>
        <p:spPr>
          <a:xfrm>
            <a:off x="723900" y="1495425"/>
            <a:ext cx="10382250" cy="457200"/>
          </a:xfrm>
          <a:prstGeom prst="rect">
            <a:avLst/>
          </a:prstGeom>
          <a:noFill/>
          <a:ln w="0">
            <a:noFill/>
            <a:prstDash val="solid"/>
          </a:ln>
        </p:spPr>
        <p:txBody>
          <a:bodyPr wrap="square" lIns="0" tIns="0" rIns="0" bIns="0" anchor="t">
            <a:normAutofit/>
          </a:bodyPr>
          <a:lstStyle>
            <a:defPPr algn="l">
              <a:defRPr sz="2025" b="1">
                <a:solidFill>
                  <a:srgbClr val="214C3B"/>
                </a:solidFill>
                <a:latin typeface="Aptos"/>
                <a:ea typeface="Aptos"/>
                <a:cs typeface="Aptos"/>
              </a:defRPr>
            </a:defPPr>
          </a:lstStyle>
          <a:p>
            <a:pPr algn="l">
              <a:defRPr sz="2025" b="1">
                <a:solidFill>
                  <a:srgbClr val="214C3B"/>
                </a:solidFill>
                <a:latin typeface="Aptos"/>
                <a:ea typeface="Aptos"/>
                <a:cs typeface="Aptos"/>
              </a:defRPr>
            </a:pPr>
            <a:r>
              <a:rPr sz="2025" b="1">
                <a:solidFill>
                  <a:srgbClr val="214C3B"/>
                </a:solidFill>
                <a:latin typeface="Aptos"/>
                <a:ea typeface="Aptos"/>
                <a:cs typeface="Aptos"/>
              </a:rPr>
              <a:t>Recording IDs, not neighboring windows, define the partition.</a:t>
            </a:r>
          </a:p>
        </p:txBody>
      </p:sp>
      <p:sp>
        <p:nvSpPr>
          <p:cNvPr id="7" name="Rectangle 6">
            <a:extLst>
              <a:ext uri="{FF2B5EF4-FFF2-40B4-BE49-F238E27FC236}">
                <a16:creationId xmlns:a16="http://schemas.microsoft.com/office/drawing/2014/main" id="{0B5D75F6-F8DE-4454-8556-FC95D5183046}"/>
              </a:ext>
            </a:extLst>
          </p:cNvPr>
          <p:cNvSpPr>
            <a:spLocks noGrp="1"/>
          </p:cNvSpPr>
          <p:nvPr/>
        </p:nvSpPr>
        <p:spPr>
          <a:xfrm>
            <a:off x="742950" y="2428875"/>
            <a:ext cx="1047750" cy="647700"/>
          </a:xfrm>
          <a:prstGeom prst="rect">
            <a:avLst/>
          </a:prstGeom>
          <a:noFill/>
          <a:ln w="0">
            <a:noFill/>
            <a:prstDash val="solid"/>
          </a:ln>
        </p:spPr>
        <p:txBody>
          <a:bodyPr wrap="square" lIns="0" tIns="0" rIns="0" bIns="0" anchor="t">
            <a:normAutofit/>
          </a:bodyPr>
          <a:lstStyle>
            <a:defPPr algn="l">
              <a:defRPr sz="3900" b="1">
                <a:solidFill>
                  <a:srgbClr val="214C3B"/>
                </a:solidFill>
                <a:latin typeface="Aptos"/>
                <a:ea typeface="Aptos"/>
                <a:cs typeface="Aptos"/>
              </a:defRPr>
            </a:defPPr>
          </a:lstStyle>
          <a:p>
            <a:pPr algn="l">
              <a:defRPr sz="3900" b="1">
                <a:solidFill>
                  <a:srgbClr val="214C3B"/>
                </a:solidFill>
                <a:latin typeface="Aptos"/>
                <a:ea typeface="Aptos"/>
                <a:cs typeface="Aptos"/>
              </a:defRPr>
            </a:pPr>
            <a:r>
              <a:rPr sz="3900" b="1">
                <a:solidFill>
                  <a:srgbClr val="214C3B"/>
                </a:solidFill>
                <a:latin typeface="Aptos"/>
                <a:ea typeface="Aptos"/>
                <a:cs typeface="Aptos"/>
              </a:rPr>
              <a:t>43</a:t>
            </a:r>
          </a:p>
        </p:txBody>
      </p:sp>
      <p:sp>
        <p:nvSpPr>
          <p:cNvPr id="8" name="Rectangle 7">
            <a:extLst>
              <a:ext uri="{FF2B5EF4-FFF2-40B4-BE49-F238E27FC236}">
                <a16:creationId xmlns:a16="http://schemas.microsoft.com/office/drawing/2014/main" id="{7A173105-E9D6-4FF4-ABBF-DB72FEA7CA76}"/>
              </a:ext>
            </a:extLst>
          </p:cNvPr>
          <p:cNvSpPr>
            <a:spLocks noGrp="1"/>
          </p:cNvSpPr>
          <p:nvPr/>
        </p:nvSpPr>
        <p:spPr>
          <a:xfrm>
            <a:off x="742950" y="3124200"/>
            <a:ext cx="2952750" cy="304800"/>
          </a:xfrm>
          <a:prstGeom prst="rect">
            <a:avLst/>
          </a:prstGeom>
          <a:noFill/>
          <a:ln w="0">
            <a:noFill/>
            <a:prstDash val="solid"/>
          </a:ln>
        </p:spPr>
        <p:txBody>
          <a:bodyPr wrap="square" lIns="0" tIns="0" rIns="0" bIns="0" anchor="t">
            <a:normAutofit/>
          </a:bodyPr>
          <a:lstStyle>
            <a:defPPr algn="l">
              <a:defRPr sz="1575" b="1">
                <a:solidFill>
                  <a:srgbClr val="26322D"/>
                </a:solidFill>
                <a:latin typeface="Aptos"/>
                <a:ea typeface="Aptos"/>
                <a:cs typeface="Aptos"/>
              </a:defRPr>
            </a:defPPr>
          </a:lstStyle>
          <a:p>
            <a:pPr algn="l">
              <a:defRPr sz="1575" b="1">
                <a:solidFill>
                  <a:srgbClr val="26322D"/>
                </a:solidFill>
                <a:latin typeface="Aptos"/>
                <a:ea typeface="Aptos"/>
                <a:cs typeface="Aptos"/>
              </a:defRPr>
            </a:pPr>
            <a:r>
              <a:rPr sz="1575" b="1">
                <a:solidFill>
                  <a:srgbClr val="26322D"/>
                </a:solidFill>
                <a:latin typeface="Aptos"/>
                <a:ea typeface="Aptos"/>
                <a:cs typeface="Aptos"/>
              </a:rPr>
              <a:t>train recordings</a:t>
            </a:r>
          </a:p>
        </p:txBody>
      </p:sp>
      <p:sp>
        <p:nvSpPr>
          <p:cNvPr id="9" name="Rectangle 8">
            <a:extLst>
              <a:ext uri="{FF2B5EF4-FFF2-40B4-BE49-F238E27FC236}">
                <a16:creationId xmlns:a16="http://schemas.microsoft.com/office/drawing/2014/main" id="{163CEF20-3CBE-4373-BCC8-D79D7A23FE38}"/>
              </a:ext>
            </a:extLst>
          </p:cNvPr>
          <p:cNvSpPr>
            <a:spLocks noGrp="1"/>
          </p:cNvSpPr>
          <p:nvPr/>
        </p:nvSpPr>
        <p:spPr>
          <a:xfrm>
            <a:off x="742950" y="3524250"/>
            <a:ext cx="2952750" cy="419100"/>
          </a:xfrm>
          <a:prstGeom prst="rect">
            <a:avLst/>
          </a:prstGeom>
          <a:noFill/>
          <a:ln w="0">
            <a:noFill/>
            <a:prstDash val="solid"/>
          </a:ln>
        </p:spPr>
        <p:txBody>
          <a:bodyPr wrap="square" lIns="0" tIns="0" rIns="0" bIns="0" anchor="t">
            <a:normAutofit/>
          </a:bodyPr>
          <a:lstStyle>
            <a:defPPr algn="l">
              <a:defRPr sz="1350" b="0">
                <a:solidFill>
                  <a:srgbClr val="65746B"/>
                </a:solidFill>
                <a:latin typeface="Aptos"/>
                <a:ea typeface="Aptos"/>
                <a:cs typeface="Aptos"/>
              </a:defRPr>
            </a:defPPr>
          </a:lstStyle>
          <a:p>
            <a:pPr algn="l">
              <a:defRPr sz="1350" b="0">
                <a:solidFill>
                  <a:srgbClr val="65746B"/>
                </a:solidFill>
                <a:latin typeface="Aptos"/>
                <a:ea typeface="Aptos"/>
                <a:cs typeface="Aptos"/>
              </a:defRPr>
            </a:pPr>
            <a:r>
              <a:rPr sz="1350" b="0">
                <a:solidFill>
                  <a:srgbClr val="65746B"/>
                </a:solidFill>
                <a:latin typeface="Aptos"/>
                <a:ea typeface="Aptos"/>
                <a:cs typeface="Aptos"/>
              </a:rPr>
              <a:t>Model fitting</a:t>
            </a:r>
          </a:p>
        </p:txBody>
      </p:sp>
      <p:sp>
        <p:nvSpPr>
          <p:cNvPr id="10" name="Rectangle 9">
            <a:extLst>
              <a:ext uri="{FF2B5EF4-FFF2-40B4-BE49-F238E27FC236}">
                <a16:creationId xmlns:a16="http://schemas.microsoft.com/office/drawing/2014/main" id="{20E4ED56-4793-4F9A-A785-440A1CD69046}"/>
              </a:ext>
            </a:extLst>
          </p:cNvPr>
          <p:cNvSpPr>
            <a:spLocks noGrp="1"/>
          </p:cNvSpPr>
          <p:nvPr/>
        </p:nvSpPr>
        <p:spPr>
          <a:xfrm>
            <a:off x="3409950" y="2495550"/>
            <a:ext cx="457200" cy="19050"/>
          </a:xfrm>
          <a:prstGeom prst="rect">
            <a:avLst/>
          </a:prstGeom>
          <a:solidFill>
            <a:srgbClr val="D6DED4"/>
          </a:solidFill>
          <a:ln w="0">
            <a:noFill/>
            <a:prstDash val="solid"/>
          </a:ln>
        </p:spPr>
      </p:sp>
      <p:sp>
        <p:nvSpPr>
          <p:cNvPr id="11" name="Rectangle 10">
            <a:extLst>
              <a:ext uri="{FF2B5EF4-FFF2-40B4-BE49-F238E27FC236}">
                <a16:creationId xmlns:a16="http://schemas.microsoft.com/office/drawing/2014/main" id="{35194A45-EBB4-4681-80AF-DBF343F0EBC2}"/>
              </a:ext>
            </a:extLst>
          </p:cNvPr>
          <p:cNvSpPr>
            <a:spLocks noGrp="1"/>
          </p:cNvSpPr>
          <p:nvPr/>
        </p:nvSpPr>
        <p:spPr>
          <a:xfrm>
            <a:off x="4362450" y="2428875"/>
            <a:ext cx="1047750" cy="647700"/>
          </a:xfrm>
          <a:prstGeom prst="rect">
            <a:avLst/>
          </a:prstGeom>
          <a:noFill/>
          <a:ln w="0">
            <a:noFill/>
            <a:prstDash val="solid"/>
          </a:ln>
        </p:spPr>
        <p:txBody>
          <a:bodyPr wrap="square" lIns="0" tIns="0" rIns="0" bIns="0" anchor="t">
            <a:normAutofit/>
          </a:bodyPr>
          <a:lstStyle>
            <a:defPPr algn="l">
              <a:defRPr sz="3900" b="1">
                <a:solidFill>
                  <a:srgbClr val="214C3B"/>
                </a:solidFill>
                <a:latin typeface="Aptos"/>
                <a:ea typeface="Aptos"/>
                <a:cs typeface="Aptos"/>
              </a:defRPr>
            </a:defPPr>
          </a:lstStyle>
          <a:p>
            <a:pPr algn="l">
              <a:defRPr sz="3900" b="1">
                <a:solidFill>
                  <a:srgbClr val="214C3B"/>
                </a:solidFill>
                <a:latin typeface="Aptos"/>
                <a:ea typeface="Aptos"/>
                <a:cs typeface="Aptos"/>
              </a:defRPr>
            </a:pPr>
            <a:r>
              <a:rPr sz="3900" b="1">
                <a:solidFill>
                  <a:srgbClr val="214C3B"/>
                </a:solidFill>
                <a:latin typeface="Aptos"/>
                <a:ea typeface="Aptos"/>
                <a:cs typeface="Aptos"/>
              </a:rPr>
              <a:t>14</a:t>
            </a:r>
          </a:p>
        </p:txBody>
      </p:sp>
      <p:sp>
        <p:nvSpPr>
          <p:cNvPr id="12" name="Rectangle 11">
            <a:extLst>
              <a:ext uri="{FF2B5EF4-FFF2-40B4-BE49-F238E27FC236}">
                <a16:creationId xmlns:a16="http://schemas.microsoft.com/office/drawing/2014/main" id="{8C11B5C3-7284-4E54-B005-CCC37EFE6FBA}"/>
              </a:ext>
            </a:extLst>
          </p:cNvPr>
          <p:cNvSpPr>
            <a:spLocks noGrp="1"/>
          </p:cNvSpPr>
          <p:nvPr/>
        </p:nvSpPr>
        <p:spPr>
          <a:xfrm>
            <a:off x="4362450" y="3124200"/>
            <a:ext cx="2952750" cy="304800"/>
          </a:xfrm>
          <a:prstGeom prst="rect">
            <a:avLst/>
          </a:prstGeom>
          <a:noFill/>
          <a:ln w="0">
            <a:noFill/>
            <a:prstDash val="solid"/>
          </a:ln>
        </p:spPr>
        <p:txBody>
          <a:bodyPr wrap="square" lIns="0" tIns="0" rIns="0" bIns="0" anchor="t">
            <a:normAutofit/>
          </a:bodyPr>
          <a:lstStyle>
            <a:defPPr algn="l">
              <a:defRPr sz="1575" b="1">
                <a:solidFill>
                  <a:srgbClr val="26322D"/>
                </a:solidFill>
                <a:latin typeface="Aptos"/>
                <a:ea typeface="Aptos"/>
                <a:cs typeface="Aptos"/>
              </a:defRPr>
            </a:defPPr>
          </a:lstStyle>
          <a:p>
            <a:pPr algn="l">
              <a:defRPr sz="1575" b="1">
                <a:solidFill>
                  <a:srgbClr val="26322D"/>
                </a:solidFill>
                <a:latin typeface="Aptos"/>
                <a:ea typeface="Aptos"/>
                <a:cs typeface="Aptos"/>
              </a:defRPr>
            </a:pPr>
            <a:r>
              <a:rPr sz="1575" b="1">
                <a:solidFill>
                  <a:srgbClr val="26322D"/>
                </a:solidFill>
                <a:latin typeface="Aptos"/>
                <a:ea typeface="Aptos"/>
                <a:cs typeface="Aptos"/>
              </a:rPr>
              <a:t>validation recordings</a:t>
            </a:r>
          </a:p>
        </p:txBody>
      </p:sp>
      <p:sp>
        <p:nvSpPr>
          <p:cNvPr id="13" name="Rectangle 12">
            <a:extLst>
              <a:ext uri="{FF2B5EF4-FFF2-40B4-BE49-F238E27FC236}">
                <a16:creationId xmlns:a16="http://schemas.microsoft.com/office/drawing/2014/main" id="{EF53A1A8-9388-4AA9-B789-C5FC9F53622B}"/>
              </a:ext>
            </a:extLst>
          </p:cNvPr>
          <p:cNvSpPr>
            <a:spLocks noGrp="1"/>
          </p:cNvSpPr>
          <p:nvPr/>
        </p:nvSpPr>
        <p:spPr>
          <a:xfrm>
            <a:off x="4362450" y="3524250"/>
            <a:ext cx="2952750" cy="419100"/>
          </a:xfrm>
          <a:prstGeom prst="rect">
            <a:avLst/>
          </a:prstGeom>
          <a:noFill/>
          <a:ln w="0">
            <a:noFill/>
            <a:prstDash val="solid"/>
          </a:ln>
        </p:spPr>
        <p:txBody>
          <a:bodyPr wrap="square" lIns="0" tIns="0" rIns="0" bIns="0" anchor="t">
            <a:normAutofit/>
          </a:bodyPr>
          <a:lstStyle>
            <a:defPPr algn="l">
              <a:defRPr sz="1350" b="0">
                <a:solidFill>
                  <a:srgbClr val="65746B"/>
                </a:solidFill>
                <a:latin typeface="Aptos"/>
                <a:ea typeface="Aptos"/>
                <a:cs typeface="Aptos"/>
              </a:defRPr>
            </a:defPPr>
          </a:lstStyle>
          <a:p>
            <a:pPr algn="l">
              <a:defRPr sz="1350" b="0">
                <a:solidFill>
                  <a:srgbClr val="65746B"/>
                </a:solidFill>
                <a:latin typeface="Aptos"/>
                <a:ea typeface="Aptos"/>
                <a:cs typeface="Aptos"/>
              </a:defRPr>
            </a:pPr>
            <a:r>
              <a:rPr sz="1350" b="0">
                <a:solidFill>
                  <a:srgbClr val="65746B"/>
                </a:solidFill>
                <a:latin typeface="Aptos"/>
                <a:ea typeface="Aptos"/>
                <a:cs typeface="Aptos"/>
              </a:rPr>
              <a:t>Model and checkpoint selection</a:t>
            </a:r>
          </a:p>
        </p:txBody>
      </p:sp>
      <p:sp>
        <p:nvSpPr>
          <p:cNvPr id="14" name="Rectangle 13">
            <a:extLst>
              <a:ext uri="{FF2B5EF4-FFF2-40B4-BE49-F238E27FC236}">
                <a16:creationId xmlns:a16="http://schemas.microsoft.com/office/drawing/2014/main" id="{08B73149-1F48-4742-A199-39A3EA8304A3}"/>
              </a:ext>
            </a:extLst>
          </p:cNvPr>
          <p:cNvSpPr>
            <a:spLocks noGrp="1"/>
          </p:cNvSpPr>
          <p:nvPr/>
        </p:nvSpPr>
        <p:spPr>
          <a:xfrm>
            <a:off x="7029450" y="2495550"/>
            <a:ext cx="457200" cy="19050"/>
          </a:xfrm>
          <a:prstGeom prst="rect">
            <a:avLst/>
          </a:prstGeom>
          <a:solidFill>
            <a:srgbClr val="D6DED4"/>
          </a:solidFill>
          <a:ln w="0">
            <a:noFill/>
            <a:prstDash val="solid"/>
          </a:ln>
        </p:spPr>
      </p:sp>
      <p:sp>
        <p:nvSpPr>
          <p:cNvPr id="15" name="Rectangle 14">
            <a:extLst>
              <a:ext uri="{FF2B5EF4-FFF2-40B4-BE49-F238E27FC236}">
                <a16:creationId xmlns:a16="http://schemas.microsoft.com/office/drawing/2014/main" id="{09B0F258-AF04-49E4-BB07-005F90030DE8}"/>
              </a:ext>
            </a:extLst>
          </p:cNvPr>
          <p:cNvSpPr>
            <a:spLocks noGrp="1"/>
          </p:cNvSpPr>
          <p:nvPr/>
        </p:nvSpPr>
        <p:spPr>
          <a:xfrm>
            <a:off x="7981950" y="2428875"/>
            <a:ext cx="1047750" cy="647700"/>
          </a:xfrm>
          <a:prstGeom prst="rect">
            <a:avLst/>
          </a:prstGeom>
          <a:noFill/>
          <a:ln w="0">
            <a:noFill/>
            <a:prstDash val="solid"/>
          </a:ln>
        </p:spPr>
        <p:txBody>
          <a:bodyPr wrap="square" lIns="0" tIns="0" rIns="0" bIns="0" anchor="t">
            <a:normAutofit/>
          </a:bodyPr>
          <a:lstStyle>
            <a:defPPr algn="l">
              <a:defRPr sz="3900" b="1">
                <a:solidFill>
                  <a:srgbClr val="C2943B"/>
                </a:solidFill>
                <a:latin typeface="Aptos"/>
                <a:ea typeface="Aptos"/>
                <a:cs typeface="Aptos"/>
              </a:defRPr>
            </a:defPPr>
          </a:lstStyle>
          <a:p>
            <a:pPr algn="l">
              <a:defRPr sz="3900" b="1">
                <a:solidFill>
                  <a:srgbClr val="C2943B"/>
                </a:solidFill>
                <a:latin typeface="Aptos"/>
                <a:ea typeface="Aptos"/>
                <a:cs typeface="Aptos"/>
              </a:defRPr>
            </a:pPr>
            <a:r>
              <a:rPr sz="3900" b="1">
                <a:solidFill>
                  <a:srgbClr val="C2943B"/>
                </a:solidFill>
                <a:latin typeface="Aptos"/>
                <a:ea typeface="Aptos"/>
                <a:cs typeface="Aptos"/>
              </a:rPr>
              <a:t>14</a:t>
            </a:r>
          </a:p>
        </p:txBody>
      </p:sp>
      <p:sp>
        <p:nvSpPr>
          <p:cNvPr id="16" name="Rectangle 15">
            <a:extLst>
              <a:ext uri="{FF2B5EF4-FFF2-40B4-BE49-F238E27FC236}">
                <a16:creationId xmlns:a16="http://schemas.microsoft.com/office/drawing/2014/main" id="{74DBDFC9-E103-44C8-84AA-0700E4FE2196}"/>
              </a:ext>
            </a:extLst>
          </p:cNvPr>
          <p:cNvSpPr>
            <a:spLocks noGrp="1"/>
          </p:cNvSpPr>
          <p:nvPr/>
        </p:nvSpPr>
        <p:spPr>
          <a:xfrm>
            <a:off x="7981950" y="3124200"/>
            <a:ext cx="2952750" cy="304800"/>
          </a:xfrm>
          <a:prstGeom prst="rect">
            <a:avLst/>
          </a:prstGeom>
          <a:noFill/>
          <a:ln w="0">
            <a:noFill/>
            <a:prstDash val="solid"/>
          </a:ln>
        </p:spPr>
        <p:txBody>
          <a:bodyPr wrap="square" lIns="0" tIns="0" rIns="0" bIns="0" anchor="t">
            <a:normAutofit/>
          </a:bodyPr>
          <a:lstStyle>
            <a:defPPr algn="l">
              <a:defRPr sz="1575" b="1">
                <a:solidFill>
                  <a:srgbClr val="26322D"/>
                </a:solidFill>
                <a:latin typeface="Aptos"/>
                <a:ea typeface="Aptos"/>
                <a:cs typeface="Aptos"/>
              </a:defRPr>
            </a:defPPr>
          </a:lstStyle>
          <a:p>
            <a:pPr algn="l">
              <a:defRPr sz="1575" b="1">
                <a:solidFill>
                  <a:srgbClr val="26322D"/>
                </a:solidFill>
                <a:latin typeface="Aptos"/>
                <a:ea typeface="Aptos"/>
                <a:cs typeface="Aptos"/>
              </a:defRPr>
            </a:pPr>
            <a:r>
              <a:rPr sz="1575" b="1">
                <a:solidFill>
                  <a:srgbClr val="26322D"/>
                </a:solidFill>
                <a:latin typeface="Aptos"/>
                <a:ea typeface="Aptos"/>
                <a:cs typeface="Aptos"/>
              </a:rPr>
              <a:t>test recordings</a:t>
            </a:r>
          </a:p>
        </p:txBody>
      </p:sp>
      <p:sp>
        <p:nvSpPr>
          <p:cNvPr id="17" name="Rectangle 16">
            <a:extLst>
              <a:ext uri="{FF2B5EF4-FFF2-40B4-BE49-F238E27FC236}">
                <a16:creationId xmlns:a16="http://schemas.microsoft.com/office/drawing/2014/main" id="{5AEA5E88-869A-44CB-BC08-F9165D93741B}"/>
              </a:ext>
            </a:extLst>
          </p:cNvPr>
          <p:cNvSpPr>
            <a:spLocks noGrp="1"/>
          </p:cNvSpPr>
          <p:nvPr/>
        </p:nvSpPr>
        <p:spPr>
          <a:xfrm>
            <a:off x="7981950" y="3524250"/>
            <a:ext cx="2952750" cy="419100"/>
          </a:xfrm>
          <a:prstGeom prst="rect">
            <a:avLst/>
          </a:prstGeom>
          <a:noFill/>
          <a:ln w="0">
            <a:noFill/>
            <a:prstDash val="solid"/>
          </a:ln>
        </p:spPr>
        <p:txBody>
          <a:bodyPr wrap="square" lIns="0" tIns="0" rIns="0" bIns="0" anchor="t">
            <a:normAutofit/>
          </a:bodyPr>
          <a:lstStyle>
            <a:defPPr algn="l">
              <a:defRPr sz="1350" b="0">
                <a:solidFill>
                  <a:srgbClr val="65746B"/>
                </a:solidFill>
                <a:latin typeface="Aptos"/>
                <a:ea typeface="Aptos"/>
                <a:cs typeface="Aptos"/>
              </a:defRPr>
            </a:defPPr>
          </a:lstStyle>
          <a:p>
            <a:pPr algn="l">
              <a:defRPr sz="1350" b="0">
                <a:solidFill>
                  <a:srgbClr val="65746B"/>
                </a:solidFill>
                <a:latin typeface="Aptos"/>
                <a:ea typeface="Aptos"/>
                <a:cs typeface="Aptos"/>
              </a:defRPr>
            </a:pPr>
            <a:r>
              <a:rPr sz="1350" b="0">
                <a:solidFill>
                  <a:srgbClr val="65746B"/>
                </a:solidFill>
                <a:latin typeface="Aptos"/>
                <a:ea typeface="Aptos"/>
                <a:cs typeface="Aptos"/>
              </a:rPr>
              <a:t>Final score only</a:t>
            </a:r>
          </a:p>
        </p:txBody>
      </p:sp>
      <p:sp>
        <p:nvSpPr>
          <p:cNvPr id="18" name="Rectangle 17">
            <a:extLst>
              <a:ext uri="{FF2B5EF4-FFF2-40B4-BE49-F238E27FC236}">
                <a16:creationId xmlns:a16="http://schemas.microsoft.com/office/drawing/2014/main" id="{2E76D90B-35FF-45F8-A2DF-110EDEC783E4}"/>
              </a:ext>
            </a:extLst>
          </p:cNvPr>
          <p:cNvSpPr>
            <a:spLocks noGrp="1"/>
          </p:cNvSpPr>
          <p:nvPr/>
        </p:nvSpPr>
        <p:spPr>
          <a:xfrm>
            <a:off x="742950" y="4267200"/>
            <a:ext cx="10429875" cy="9525"/>
          </a:xfrm>
          <a:prstGeom prst="rect">
            <a:avLst/>
          </a:prstGeom>
          <a:solidFill>
            <a:srgbClr val="D6DED4"/>
          </a:solidFill>
          <a:ln w="0">
            <a:noFill/>
            <a:prstDash val="solid"/>
          </a:ln>
        </p:spPr>
      </p:sp>
      <p:sp>
        <p:nvSpPr>
          <p:cNvPr id="19" name="Rectangle 18">
            <a:extLst>
              <a:ext uri="{FF2B5EF4-FFF2-40B4-BE49-F238E27FC236}">
                <a16:creationId xmlns:a16="http://schemas.microsoft.com/office/drawing/2014/main" id="{71782239-7960-4C31-92D8-C22952FB92D8}"/>
              </a:ext>
            </a:extLst>
          </p:cNvPr>
          <p:cNvSpPr>
            <a:spLocks noGrp="1"/>
          </p:cNvSpPr>
          <p:nvPr/>
        </p:nvSpPr>
        <p:spPr>
          <a:xfrm>
            <a:off x="742950" y="4619625"/>
            <a:ext cx="3048000" cy="266700"/>
          </a:xfrm>
          <a:prstGeom prst="rect">
            <a:avLst/>
          </a:prstGeom>
          <a:noFill/>
          <a:ln w="0">
            <a:noFill/>
            <a:prstDash val="solid"/>
          </a:ln>
        </p:spPr>
        <p:txBody>
          <a:bodyPr wrap="square" lIns="0" tIns="0" rIns="0" bIns="0" anchor="t">
            <a:normAutofit/>
          </a:bodyPr>
          <a:lstStyle>
            <a:defPPr algn="l">
              <a:defRPr sz="1425" b="1">
                <a:solidFill>
                  <a:srgbClr val="C2943B"/>
                </a:solidFill>
                <a:latin typeface="Aptos"/>
                <a:ea typeface="Aptos"/>
                <a:cs typeface="Aptos"/>
              </a:defRPr>
            </a:defPPr>
          </a:lstStyle>
          <a:p>
            <a:pPr algn="l">
              <a:defRPr sz="1425" b="1">
                <a:solidFill>
                  <a:srgbClr val="C2943B"/>
                </a:solidFill>
                <a:latin typeface="Aptos"/>
                <a:ea typeface="Aptos"/>
                <a:cs typeface="Aptos"/>
              </a:defRPr>
            </a:pPr>
            <a:r>
              <a:rPr sz="1425" b="1">
                <a:solidFill>
                  <a:srgbClr val="C2943B"/>
                </a:solidFill>
                <a:latin typeface="Aptos"/>
                <a:ea typeface="Aptos"/>
                <a:cs typeface="Aptos"/>
              </a:rPr>
              <a:t>Seed 42</a:t>
            </a:r>
          </a:p>
        </p:txBody>
      </p:sp>
      <p:sp>
        <p:nvSpPr>
          <p:cNvPr id="20" name="Rectangle 19">
            <a:extLst>
              <a:ext uri="{FF2B5EF4-FFF2-40B4-BE49-F238E27FC236}">
                <a16:creationId xmlns:a16="http://schemas.microsoft.com/office/drawing/2014/main" id="{2A8D4726-CF3D-47F4-877F-7CCAE52639FF}"/>
              </a:ext>
            </a:extLst>
          </p:cNvPr>
          <p:cNvSpPr>
            <a:spLocks noGrp="1"/>
          </p:cNvSpPr>
          <p:nvPr/>
        </p:nvSpPr>
        <p:spPr>
          <a:xfrm>
            <a:off x="742950" y="4972050"/>
            <a:ext cx="3048000" cy="790575"/>
          </a:xfrm>
          <a:prstGeom prst="rect">
            <a:avLst/>
          </a:prstGeom>
          <a:noFill/>
          <a:ln w="0">
            <a:noFill/>
            <a:prstDash val="solid"/>
          </a:ln>
        </p:spPr>
        <p:txBody>
          <a:bodyPr wrap="square" lIns="0" tIns="0" rIns="0" bIns="0" anchor="t">
            <a:normAutofit/>
          </a:bodyPr>
          <a:lstStyle>
            <a:defPPr algn="l">
              <a:defRPr sz="1350" b="0">
                <a:solidFill>
                  <a:srgbClr val="26322D"/>
                </a:solidFill>
                <a:latin typeface="Aptos"/>
                <a:ea typeface="Aptos"/>
                <a:cs typeface="Aptos"/>
              </a:defRPr>
            </a:defPPr>
          </a:lstStyle>
          <a:p>
            <a:pPr algn="l">
              <a:defRPr sz="1350" b="0">
                <a:solidFill>
                  <a:srgbClr val="26322D"/>
                </a:solidFill>
                <a:latin typeface="Aptos"/>
                <a:ea typeface="Aptos"/>
                <a:cs typeface="Aptos"/>
              </a:defRPr>
            </a:pPr>
            <a:r>
              <a:rPr sz="1350" b="0">
                <a:solidFill>
                  <a:srgbClr val="26322D"/>
                </a:solidFill>
                <a:latin typeface="Aptos"/>
                <a:ea typeface="Aptos"/>
                <a:cs typeface="Aptos"/>
              </a:rPr>
              <a:t>Recordings are assigned within each terrain.</a:t>
            </a:r>
          </a:p>
        </p:txBody>
      </p:sp>
      <p:sp>
        <p:nvSpPr>
          <p:cNvPr id="21" name="Rectangle 20">
            <a:extLst>
              <a:ext uri="{FF2B5EF4-FFF2-40B4-BE49-F238E27FC236}">
                <a16:creationId xmlns:a16="http://schemas.microsoft.com/office/drawing/2014/main" id="{17D74FF5-4A74-4727-AD85-8CD4E020E0D3}"/>
              </a:ext>
            </a:extLst>
          </p:cNvPr>
          <p:cNvSpPr>
            <a:spLocks noGrp="1"/>
          </p:cNvSpPr>
          <p:nvPr/>
        </p:nvSpPr>
        <p:spPr>
          <a:xfrm>
            <a:off x="4362450" y="4619625"/>
            <a:ext cx="3048000" cy="266700"/>
          </a:xfrm>
          <a:prstGeom prst="rect">
            <a:avLst/>
          </a:prstGeom>
          <a:noFill/>
          <a:ln w="0">
            <a:noFill/>
            <a:prstDash val="solid"/>
          </a:ln>
        </p:spPr>
        <p:txBody>
          <a:bodyPr wrap="square" lIns="0" tIns="0" rIns="0" bIns="0" anchor="t">
            <a:normAutofit/>
          </a:bodyPr>
          <a:lstStyle>
            <a:defPPr algn="l">
              <a:defRPr sz="1425" b="1">
                <a:solidFill>
                  <a:srgbClr val="C2943B"/>
                </a:solidFill>
                <a:latin typeface="Aptos"/>
                <a:ea typeface="Aptos"/>
                <a:cs typeface="Aptos"/>
              </a:defRPr>
            </a:defPPr>
          </a:lstStyle>
          <a:p>
            <a:pPr algn="l">
              <a:defRPr sz="1425" b="1">
                <a:solidFill>
                  <a:srgbClr val="C2943B"/>
                </a:solidFill>
                <a:latin typeface="Aptos"/>
                <a:ea typeface="Aptos"/>
                <a:cs typeface="Aptos"/>
              </a:defRPr>
            </a:pPr>
            <a:r>
              <a:rPr sz="1425" b="1">
                <a:solidFill>
                  <a:srgbClr val="C2943B"/>
                </a:solidFill>
                <a:latin typeface="Aptos"/>
                <a:ea typeface="Aptos"/>
                <a:cs typeface="Aptos"/>
              </a:rPr>
              <a:t>Train-only scaling</a:t>
            </a:r>
          </a:p>
        </p:txBody>
      </p:sp>
      <p:sp>
        <p:nvSpPr>
          <p:cNvPr id="22" name="Rectangle 21">
            <a:extLst>
              <a:ext uri="{FF2B5EF4-FFF2-40B4-BE49-F238E27FC236}">
                <a16:creationId xmlns:a16="http://schemas.microsoft.com/office/drawing/2014/main" id="{010EFFA5-A11C-437F-8CFE-7BB281689D1B}"/>
              </a:ext>
            </a:extLst>
          </p:cNvPr>
          <p:cNvSpPr>
            <a:spLocks noGrp="1"/>
          </p:cNvSpPr>
          <p:nvPr/>
        </p:nvSpPr>
        <p:spPr>
          <a:xfrm>
            <a:off x="4362450" y="4972050"/>
            <a:ext cx="3048000" cy="790575"/>
          </a:xfrm>
          <a:prstGeom prst="rect">
            <a:avLst/>
          </a:prstGeom>
          <a:noFill/>
          <a:ln w="0">
            <a:noFill/>
            <a:prstDash val="solid"/>
          </a:ln>
        </p:spPr>
        <p:txBody>
          <a:bodyPr wrap="square" lIns="0" tIns="0" rIns="0" bIns="0" anchor="t">
            <a:normAutofit/>
          </a:bodyPr>
          <a:lstStyle>
            <a:defPPr algn="l">
              <a:defRPr sz="1350" b="0">
                <a:solidFill>
                  <a:srgbClr val="26322D"/>
                </a:solidFill>
                <a:latin typeface="Aptos"/>
                <a:ea typeface="Aptos"/>
                <a:cs typeface="Aptos"/>
              </a:defRPr>
            </a:defPPr>
          </a:lstStyle>
          <a:p>
            <a:pPr algn="l">
              <a:defRPr sz="1350" b="0">
                <a:solidFill>
                  <a:srgbClr val="26322D"/>
                </a:solidFill>
                <a:latin typeface="Aptos"/>
                <a:ea typeface="Aptos"/>
                <a:cs typeface="Aptos"/>
              </a:defRPr>
            </a:pPr>
            <a:r>
              <a:rPr sz="1350" b="0">
                <a:solidFill>
                  <a:srgbClr val="26322D"/>
                </a:solidFill>
                <a:latin typeface="Aptos"/>
                <a:ea typeface="Aptos"/>
                <a:cs typeface="Aptos"/>
              </a:rPr>
              <a:t>Channel and feature statistics are fitted on training windows.</a:t>
            </a:r>
          </a:p>
        </p:txBody>
      </p:sp>
      <p:sp>
        <p:nvSpPr>
          <p:cNvPr id="23" name="Rectangle 22">
            <a:extLst>
              <a:ext uri="{FF2B5EF4-FFF2-40B4-BE49-F238E27FC236}">
                <a16:creationId xmlns:a16="http://schemas.microsoft.com/office/drawing/2014/main" id="{A0767D79-BFB5-47EE-AA57-66D3A5E0CE9D}"/>
              </a:ext>
            </a:extLst>
          </p:cNvPr>
          <p:cNvSpPr>
            <a:spLocks noGrp="1"/>
          </p:cNvSpPr>
          <p:nvPr/>
        </p:nvSpPr>
        <p:spPr>
          <a:xfrm>
            <a:off x="7981950" y="4619625"/>
            <a:ext cx="3048000" cy="266700"/>
          </a:xfrm>
          <a:prstGeom prst="rect">
            <a:avLst/>
          </a:prstGeom>
          <a:noFill/>
          <a:ln w="0">
            <a:noFill/>
            <a:prstDash val="solid"/>
          </a:ln>
        </p:spPr>
        <p:txBody>
          <a:bodyPr wrap="square" lIns="0" tIns="0" rIns="0" bIns="0" anchor="t">
            <a:normAutofit/>
          </a:bodyPr>
          <a:lstStyle>
            <a:defPPr algn="l">
              <a:defRPr sz="1425" b="1">
                <a:solidFill>
                  <a:srgbClr val="C2943B"/>
                </a:solidFill>
                <a:latin typeface="Aptos"/>
                <a:ea typeface="Aptos"/>
                <a:cs typeface="Aptos"/>
              </a:defRPr>
            </a:defPPr>
          </a:lstStyle>
          <a:p>
            <a:pPr algn="l">
              <a:defRPr sz="1425" b="1">
                <a:solidFill>
                  <a:srgbClr val="C2943B"/>
                </a:solidFill>
                <a:latin typeface="Aptos"/>
                <a:ea typeface="Aptos"/>
                <a:cs typeface="Aptos"/>
              </a:defRPr>
            </a:pPr>
            <a:r>
              <a:rPr sz="1425" b="1">
                <a:solidFill>
                  <a:srgbClr val="C2943B"/>
                </a:solidFill>
                <a:latin typeface="Aptos"/>
                <a:ea typeface="Aptos"/>
                <a:cs typeface="Aptos"/>
              </a:rPr>
              <a:t>Frozen test</a:t>
            </a:r>
          </a:p>
        </p:txBody>
      </p:sp>
      <p:sp>
        <p:nvSpPr>
          <p:cNvPr id="24" name="Rectangle 23">
            <a:extLst>
              <a:ext uri="{FF2B5EF4-FFF2-40B4-BE49-F238E27FC236}">
                <a16:creationId xmlns:a16="http://schemas.microsoft.com/office/drawing/2014/main" id="{3201A515-6731-4F68-B189-6B8E587F8947}"/>
              </a:ext>
            </a:extLst>
          </p:cNvPr>
          <p:cNvSpPr>
            <a:spLocks noGrp="1"/>
          </p:cNvSpPr>
          <p:nvPr/>
        </p:nvSpPr>
        <p:spPr>
          <a:xfrm>
            <a:off x="7981950" y="4972050"/>
            <a:ext cx="3048000" cy="790575"/>
          </a:xfrm>
          <a:prstGeom prst="rect">
            <a:avLst/>
          </a:prstGeom>
          <a:noFill/>
          <a:ln w="0">
            <a:noFill/>
            <a:prstDash val="solid"/>
          </a:ln>
        </p:spPr>
        <p:txBody>
          <a:bodyPr wrap="square" lIns="0" tIns="0" rIns="0" bIns="0" anchor="t">
            <a:normAutofit/>
          </a:bodyPr>
          <a:lstStyle>
            <a:defPPr algn="l">
              <a:defRPr sz="1350" b="0">
                <a:solidFill>
                  <a:srgbClr val="26322D"/>
                </a:solidFill>
                <a:latin typeface="Aptos"/>
                <a:ea typeface="Aptos"/>
                <a:cs typeface="Aptos"/>
              </a:defRPr>
            </a:defPPr>
          </a:lstStyle>
          <a:p>
            <a:pPr algn="l">
              <a:defRPr sz="1350" b="0">
                <a:solidFill>
                  <a:srgbClr val="26322D"/>
                </a:solidFill>
                <a:latin typeface="Aptos"/>
                <a:ea typeface="Aptos"/>
                <a:cs typeface="Aptos"/>
              </a:defRPr>
            </a:pPr>
            <a:r>
              <a:rPr sz="1350" b="0">
                <a:solidFill>
                  <a:srgbClr val="26322D"/>
                </a:solidFill>
                <a:latin typeface="Aptos"/>
                <a:ea typeface="Aptos"/>
                <a:cs typeface="Aptos"/>
              </a:rPr>
              <a:t>Validation chooses settings; test labels do not select the model.</a:t>
            </a:r>
          </a:p>
        </p:txBody>
      </p:sp>
    </p:spTree>
    <p:extLst>
      <p:ext uri="{BB962C8B-B14F-4D97-AF65-F5344CB8AC3E}">
        <p14:creationId xmlns:p14="http://schemas.microsoft.com/office/powerpoint/2010/main" val="176592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B346D04F-FEA3-4E6C-AC0C-81D9B5913382}"/>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FEATURE ENGINEERING</a:t>
            </a:r>
          </a:p>
        </p:txBody>
      </p:sp>
      <p:sp>
        <p:nvSpPr>
          <p:cNvPr id="2" name="Rectangle 1">
            <a:extLst>
              <a:ext uri="{FF2B5EF4-FFF2-40B4-BE49-F238E27FC236}">
                <a16:creationId xmlns:a16="http://schemas.microsoft.com/office/drawing/2014/main" id="{971639BB-78F5-491B-A802-B584656F3066}"/>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Six statistics summarize each of ten channels</a:t>
            </a:r>
          </a:p>
        </p:txBody>
      </p:sp>
      <p:sp>
        <p:nvSpPr>
          <p:cNvPr id="3" name="Rectangle 2">
            <a:extLst>
              <a:ext uri="{FF2B5EF4-FFF2-40B4-BE49-F238E27FC236}">
                <a16:creationId xmlns:a16="http://schemas.microsoft.com/office/drawing/2014/main" id="{A513DD45-CE3D-4AE6-B9E8-99CF24E1DEC2}"/>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4D407924-C065-43C8-AE03-80C9A9460A3D}"/>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E647DAFA-88EC-453F-A04A-7011E8B6068E}"/>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08 / 20</a:t>
            </a:r>
          </a:p>
        </p:txBody>
      </p:sp>
      <p:sp>
        <p:nvSpPr>
          <p:cNvPr id="6" name="Rectangle 5">
            <a:extLst>
              <a:ext uri="{FF2B5EF4-FFF2-40B4-BE49-F238E27FC236}">
                <a16:creationId xmlns:a16="http://schemas.microsoft.com/office/drawing/2014/main" id="{2568937C-96E5-4C42-958A-1950E820E7DC}"/>
              </a:ext>
            </a:extLst>
          </p:cNvPr>
          <p:cNvSpPr>
            <a:spLocks noGrp="1"/>
          </p:cNvSpPr>
          <p:nvPr/>
        </p:nvSpPr>
        <p:spPr>
          <a:xfrm>
            <a:off x="723900" y="1514475"/>
            <a:ext cx="5810250" cy="476250"/>
          </a:xfrm>
          <a:prstGeom prst="rect">
            <a:avLst/>
          </a:prstGeom>
          <a:noFill/>
          <a:ln w="0">
            <a:noFill/>
            <a:prstDash val="solid"/>
          </a:ln>
        </p:spPr>
        <p:txBody>
          <a:bodyPr wrap="square" lIns="0" tIns="0" rIns="0" bIns="0" anchor="t">
            <a:normAutofit/>
          </a:bodyPr>
          <a:lstStyle>
            <a:defPPr algn="l">
              <a:defRPr sz="2175" b="1">
                <a:solidFill>
                  <a:srgbClr val="214C3B"/>
                </a:solidFill>
                <a:latin typeface="Aptos"/>
                <a:ea typeface="Aptos"/>
                <a:cs typeface="Aptos"/>
              </a:defRPr>
            </a:defPPr>
          </a:lstStyle>
          <a:p>
            <a:pPr algn="l">
              <a:defRPr sz="2175" b="1">
                <a:solidFill>
                  <a:srgbClr val="214C3B"/>
                </a:solidFill>
                <a:latin typeface="Aptos"/>
                <a:ea typeface="Aptos"/>
                <a:cs typeface="Aptos"/>
              </a:defRPr>
            </a:pPr>
            <a:r>
              <a:rPr sz="2175" b="1">
                <a:solidFill>
                  <a:srgbClr val="214C3B"/>
                </a:solidFill>
                <a:latin typeface="Aptos"/>
                <a:ea typeface="Aptos"/>
                <a:cs typeface="Aptos"/>
              </a:rPr>
              <a:t>10 channels  ×  6 statistics  =  60 features</a:t>
            </a:r>
          </a:p>
        </p:txBody>
      </p:sp>
      <p:sp>
        <p:nvSpPr>
          <p:cNvPr id="7" name="Rectangle 6">
            <a:extLst>
              <a:ext uri="{FF2B5EF4-FFF2-40B4-BE49-F238E27FC236}">
                <a16:creationId xmlns:a16="http://schemas.microsoft.com/office/drawing/2014/main" id="{2B84D084-5810-4E02-A642-A18D24516987}"/>
              </a:ext>
            </a:extLst>
          </p:cNvPr>
          <p:cNvSpPr>
            <a:spLocks noGrp="1"/>
          </p:cNvSpPr>
          <p:nvPr/>
        </p:nvSpPr>
        <p:spPr>
          <a:xfrm>
            <a:off x="762000" y="2381250"/>
            <a:ext cx="2857500" cy="323850"/>
          </a:xfrm>
          <a:prstGeom prst="rect">
            <a:avLst/>
          </a:prstGeom>
          <a:noFill/>
          <a:ln w="0">
            <a:noFill/>
            <a:prstDash val="solid"/>
          </a:ln>
        </p:spPr>
        <p:txBody>
          <a:bodyPr wrap="square" lIns="0" tIns="0" rIns="0" bIns="0" anchor="t">
            <a:normAutofit/>
          </a:bodyPr>
          <a:lstStyle>
            <a:defPPr algn="l">
              <a:defRPr sz="1650" b="0">
                <a:solidFill>
                  <a:srgbClr val="26322D"/>
                </a:solidFill>
                <a:latin typeface="Aptos"/>
                <a:ea typeface="Aptos"/>
                <a:cs typeface="Aptos"/>
              </a:defRPr>
            </a:defPPr>
          </a:lstStyle>
          <a:p>
            <a:pPr algn="l">
              <a:defRPr sz="1650" b="0">
                <a:solidFill>
                  <a:srgbClr val="26322D"/>
                </a:solidFill>
                <a:latin typeface="Aptos"/>
                <a:ea typeface="Aptos"/>
                <a:cs typeface="Aptos"/>
              </a:defRPr>
            </a:pPr>
            <a:r>
              <a:rPr sz="1650" b="0">
                <a:solidFill>
                  <a:srgbClr val="26322D"/>
                </a:solidFill>
                <a:latin typeface="Aptos"/>
                <a:ea typeface="Aptos"/>
                <a:cs typeface="Aptos"/>
              </a:rPr>
              <a:t>01   Mean</a:t>
            </a:r>
          </a:p>
        </p:txBody>
      </p:sp>
      <p:sp>
        <p:nvSpPr>
          <p:cNvPr id="8" name="Rectangle 7">
            <a:extLst>
              <a:ext uri="{FF2B5EF4-FFF2-40B4-BE49-F238E27FC236}">
                <a16:creationId xmlns:a16="http://schemas.microsoft.com/office/drawing/2014/main" id="{406D7421-EDDB-41D0-B908-E62C1AD7E3F5}"/>
              </a:ext>
            </a:extLst>
          </p:cNvPr>
          <p:cNvSpPr>
            <a:spLocks noGrp="1"/>
          </p:cNvSpPr>
          <p:nvPr/>
        </p:nvSpPr>
        <p:spPr>
          <a:xfrm>
            <a:off x="762000" y="2857500"/>
            <a:ext cx="2857500" cy="9525"/>
          </a:xfrm>
          <a:prstGeom prst="rect">
            <a:avLst/>
          </a:prstGeom>
          <a:solidFill>
            <a:srgbClr val="D6DED4"/>
          </a:solidFill>
          <a:ln w="0">
            <a:noFill/>
            <a:prstDash val="solid"/>
          </a:ln>
        </p:spPr>
      </p:sp>
      <p:sp>
        <p:nvSpPr>
          <p:cNvPr id="9" name="Rectangle 8">
            <a:extLst>
              <a:ext uri="{FF2B5EF4-FFF2-40B4-BE49-F238E27FC236}">
                <a16:creationId xmlns:a16="http://schemas.microsoft.com/office/drawing/2014/main" id="{5A8F446D-C14F-433C-84ED-779DCB9E8CFE}"/>
              </a:ext>
            </a:extLst>
          </p:cNvPr>
          <p:cNvSpPr>
            <a:spLocks noGrp="1"/>
          </p:cNvSpPr>
          <p:nvPr/>
        </p:nvSpPr>
        <p:spPr>
          <a:xfrm>
            <a:off x="762000" y="3124200"/>
            <a:ext cx="2857500" cy="323850"/>
          </a:xfrm>
          <a:prstGeom prst="rect">
            <a:avLst/>
          </a:prstGeom>
          <a:noFill/>
          <a:ln w="0">
            <a:noFill/>
            <a:prstDash val="solid"/>
          </a:ln>
        </p:spPr>
        <p:txBody>
          <a:bodyPr wrap="square" lIns="0" tIns="0" rIns="0" bIns="0" anchor="t">
            <a:normAutofit/>
          </a:bodyPr>
          <a:lstStyle>
            <a:defPPr algn="l">
              <a:defRPr sz="1650" b="0">
                <a:solidFill>
                  <a:srgbClr val="26322D"/>
                </a:solidFill>
                <a:latin typeface="Aptos"/>
                <a:ea typeface="Aptos"/>
                <a:cs typeface="Aptos"/>
              </a:defRPr>
            </a:defPPr>
          </a:lstStyle>
          <a:p>
            <a:pPr algn="l">
              <a:defRPr sz="1650" b="0">
                <a:solidFill>
                  <a:srgbClr val="26322D"/>
                </a:solidFill>
                <a:latin typeface="Aptos"/>
                <a:ea typeface="Aptos"/>
                <a:cs typeface="Aptos"/>
              </a:defRPr>
            </a:pPr>
            <a:r>
              <a:rPr sz="1650" b="0">
                <a:solidFill>
                  <a:srgbClr val="26322D"/>
                </a:solidFill>
                <a:latin typeface="Aptos"/>
                <a:ea typeface="Aptos"/>
                <a:cs typeface="Aptos"/>
              </a:rPr>
              <a:t>02   Standard deviation</a:t>
            </a:r>
          </a:p>
        </p:txBody>
      </p:sp>
      <p:sp>
        <p:nvSpPr>
          <p:cNvPr id="10" name="Rectangle 9">
            <a:extLst>
              <a:ext uri="{FF2B5EF4-FFF2-40B4-BE49-F238E27FC236}">
                <a16:creationId xmlns:a16="http://schemas.microsoft.com/office/drawing/2014/main" id="{257C5405-5DD0-4AC5-8B43-0C5B0850B9F2}"/>
              </a:ext>
            </a:extLst>
          </p:cNvPr>
          <p:cNvSpPr>
            <a:spLocks noGrp="1"/>
          </p:cNvSpPr>
          <p:nvPr/>
        </p:nvSpPr>
        <p:spPr>
          <a:xfrm>
            <a:off x="762000" y="3600450"/>
            <a:ext cx="2857500" cy="9525"/>
          </a:xfrm>
          <a:prstGeom prst="rect">
            <a:avLst/>
          </a:prstGeom>
          <a:solidFill>
            <a:srgbClr val="D6DED4"/>
          </a:solidFill>
          <a:ln w="0">
            <a:noFill/>
            <a:prstDash val="solid"/>
          </a:ln>
        </p:spPr>
      </p:sp>
      <p:sp>
        <p:nvSpPr>
          <p:cNvPr id="11" name="Rectangle 10">
            <a:extLst>
              <a:ext uri="{FF2B5EF4-FFF2-40B4-BE49-F238E27FC236}">
                <a16:creationId xmlns:a16="http://schemas.microsoft.com/office/drawing/2014/main" id="{AECA4CA2-C086-4DE2-A318-E1048897B934}"/>
              </a:ext>
            </a:extLst>
          </p:cNvPr>
          <p:cNvSpPr>
            <a:spLocks noGrp="1"/>
          </p:cNvSpPr>
          <p:nvPr/>
        </p:nvSpPr>
        <p:spPr>
          <a:xfrm>
            <a:off x="762000" y="3867150"/>
            <a:ext cx="2857500" cy="323850"/>
          </a:xfrm>
          <a:prstGeom prst="rect">
            <a:avLst/>
          </a:prstGeom>
          <a:noFill/>
          <a:ln w="0">
            <a:noFill/>
            <a:prstDash val="solid"/>
          </a:ln>
        </p:spPr>
        <p:txBody>
          <a:bodyPr wrap="square" lIns="0" tIns="0" rIns="0" bIns="0" anchor="t">
            <a:normAutofit/>
          </a:bodyPr>
          <a:lstStyle>
            <a:defPPr algn="l">
              <a:defRPr sz="1650" b="0">
                <a:solidFill>
                  <a:srgbClr val="26322D"/>
                </a:solidFill>
                <a:latin typeface="Aptos"/>
                <a:ea typeface="Aptos"/>
                <a:cs typeface="Aptos"/>
              </a:defRPr>
            </a:defPPr>
          </a:lstStyle>
          <a:p>
            <a:pPr algn="l">
              <a:defRPr sz="1650" b="0">
                <a:solidFill>
                  <a:srgbClr val="26322D"/>
                </a:solidFill>
                <a:latin typeface="Aptos"/>
                <a:ea typeface="Aptos"/>
                <a:cs typeface="Aptos"/>
              </a:defRPr>
            </a:pPr>
            <a:r>
              <a:rPr sz="1650" b="0">
                <a:solidFill>
                  <a:srgbClr val="26322D"/>
                </a:solidFill>
                <a:latin typeface="Aptos"/>
                <a:ea typeface="Aptos"/>
                <a:cs typeface="Aptos"/>
              </a:rPr>
              <a:t>03   Minimum</a:t>
            </a:r>
          </a:p>
        </p:txBody>
      </p:sp>
      <p:sp>
        <p:nvSpPr>
          <p:cNvPr id="12" name="Rectangle 11">
            <a:extLst>
              <a:ext uri="{FF2B5EF4-FFF2-40B4-BE49-F238E27FC236}">
                <a16:creationId xmlns:a16="http://schemas.microsoft.com/office/drawing/2014/main" id="{9C6A5ADB-0D65-4103-90CB-95C4E44E2DF2}"/>
              </a:ext>
            </a:extLst>
          </p:cNvPr>
          <p:cNvSpPr>
            <a:spLocks noGrp="1"/>
          </p:cNvSpPr>
          <p:nvPr/>
        </p:nvSpPr>
        <p:spPr>
          <a:xfrm>
            <a:off x="4191000" y="2381250"/>
            <a:ext cx="2857500" cy="323850"/>
          </a:xfrm>
          <a:prstGeom prst="rect">
            <a:avLst/>
          </a:prstGeom>
          <a:noFill/>
          <a:ln w="0">
            <a:noFill/>
            <a:prstDash val="solid"/>
          </a:ln>
        </p:spPr>
        <p:txBody>
          <a:bodyPr wrap="square" lIns="0" tIns="0" rIns="0" bIns="0" anchor="t">
            <a:normAutofit/>
          </a:bodyPr>
          <a:lstStyle>
            <a:defPPr algn="l">
              <a:defRPr sz="1650" b="0">
                <a:solidFill>
                  <a:srgbClr val="26322D"/>
                </a:solidFill>
                <a:latin typeface="Aptos"/>
                <a:ea typeface="Aptos"/>
                <a:cs typeface="Aptos"/>
              </a:defRPr>
            </a:defPPr>
          </a:lstStyle>
          <a:p>
            <a:pPr algn="l">
              <a:defRPr sz="1650" b="0">
                <a:solidFill>
                  <a:srgbClr val="26322D"/>
                </a:solidFill>
                <a:latin typeface="Aptos"/>
                <a:ea typeface="Aptos"/>
                <a:cs typeface="Aptos"/>
              </a:defRPr>
            </a:pPr>
            <a:r>
              <a:rPr sz="1650" b="0">
                <a:solidFill>
                  <a:srgbClr val="26322D"/>
                </a:solidFill>
                <a:latin typeface="Aptos"/>
                <a:ea typeface="Aptos"/>
                <a:cs typeface="Aptos"/>
              </a:rPr>
              <a:t>04   Maximum</a:t>
            </a:r>
          </a:p>
        </p:txBody>
      </p:sp>
      <p:sp>
        <p:nvSpPr>
          <p:cNvPr id="13" name="Rectangle 12">
            <a:extLst>
              <a:ext uri="{FF2B5EF4-FFF2-40B4-BE49-F238E27FC236}">
                <a16:creationId xmlns:a16="http://schemas.microsoft.com/office/drawing/2014/main" id="{90494C40-8195-4B3E-B71D-1E6DD23EDB5A}"/>
              </a:ext>
            </a:extLst>
          </p:cNvPr>
          <p:cNvSpPr>
            <a:spLocks noGrp="1"/>
          </p:cNvSpPr>
          <p:nvPr/>
        </p:nvSpPr>
        <p:spPr>
          <a:xfrm>
            <a:off x="4191000" y="2857500"/>
            <a:ext cx="2857500" cy="9525"/>
          </a:xfrm>
          <a:prstGeom prst="rect">
            <a:avLst/>
          </a:prstGeom>
          <a:solidFill>
            <a:srgbClr val="D6DED4"/>
          </a:solidFill>
          <a:ln w="0">
            <a:noFill/>
            <a:prstDash val="solid"/>
          </a:ln>
        </p:spPr>
      </p:sp>
      <p:sp>
        <p:nvSpPr>
          <p:cNvPr id="14" name="Rectangle 13">
            <a:extLst>
              <a:ext uri="{FF2B5EF4-FFF2-40B4-BE49-F238E27FC236}">
                <a16:creationId xmlns:a16="http://schemas.microsoft.com/office/drawing/2014/main" id="{E2DC42C0-30AB-440F-A5F5-CFB48A02417B}"/>
              </a:ext>
            </a:extLst>
          </p:cNvPr>
          <p:cNvSpPr>
            <a:spLocks noGrp="1"/>
          </p:cNvSpPr>
          <p:nvPr/>
        </p:nvSpPr>
        <p:spPr>
          <a:xfrm>
            <a:off x="4191000" y="3124200"/>
            <a:ext cx="2857500" cy="323850"/>
          </a:xfrm>
          <a:prstGeom prst="rect">
            <a:avLst/>
          </a:prstGeom>
          <a:noFill/>
          <a:ln w="0">
            <a:noFill/>
            <a:prstDash val="solid"/>
          </a:ln>
        </p:spPr>
        <p:txBody>
          <a:bodyPr wrap="square" lIns="0" tIns="0" rIns="0" bIns="0" anchor="t">
            <a:normAutofit/>
          </a:bodyPr>
          <a:lstStyle>
            <a:defPPr algn="l">
              <a:defRPr sz="1650" b="0">
                <a:solidFill>
                  <a:srgbClr val="26322D"/>
                </a:solidFill>
                <a:latin typeface="Aptos"/>
                <a:ea typeface="Aptos"/>
                <a:cs typeface="Aptos"/>
              </a:defRPr>
            </a:defPPr>
          </a:lstStyle>
          <a:p>
            <a:pPr algn="l">
              <a:defRPr sz="1650" b="0">
                <a:solidFill>
                  <a:srgbClr val="26322D"/>
                </a:solidFill>
                <a:latin typeface="Aptos"/>
                <a:ea typeface="Aptos"/>
                <a:cs typeface="Aptos"/>
              </a:defRPr>
            </a:pPr>
            <a:r>
              <a:rPr sz="1650" b="0">
                <a:solidFill>
                  <a:srgbClr val="26322D"/>
                </a:solidFill>
                <a:latin typeface="Aptos"/>
                <a:ea typeface="Aptos"/>
                <a:cs typeface="Aptos"/>
              </a:rPr>
              <a:t>05   Root mean square</a:t>
            </a:r>
          </a:p>
        </p:txBody>
      </p:sp>
      <p:sp>
        <p:nvSpPr>
          <p:cNvPr id="15" name="Rectangle 14">
            <a:extLst>
              <a:ext uri="{FF2B5EF4-FFF2-40B4-BE49-F238E27FC236}">
                <a16:creationId xmlns:a16="http://schemas.microsoft.com/office/drawing/2014/main" id="{56DB76D4-FD71-4DBD-AD7C-3A0B0841D258}"/>
              </a:ext>
            </a:extLst>
          </p:cNvPr>
          <p:cNvSpPr>
            <a:spLocks noGrp="1"/>
          </p:cNvSpPr>
          <p:nvPr/>
        </p:nvSpPr>
        <p:spPr>
          <a:xfrm>
            <a:off x="4191000" y="3600450"/>
            <a:ext cx="2857500" cy="9525"/>
          </a:xfrm>
          <a:prstGeom prst="rect">
            <a:avLst/>
          </a:prstGeom>
          <a:solidFill>
            <a:srgbClr val="D6DED4"/>
          </a:solidFill>
          <a:ln w="0">
            <a:noFill/>
            <a:prstDash val="solid"/>
          </a:ln>
        </p:spPr>
      </p:sp>
      <p:sp>
        <p:nvSpPr>
          <p:cNvPr id="16" name="Rectangle 15">
            <a:extLst>
              <a:ext uri="{FF2B5EF4-FFF2-40B4-BE49-F238E27FC236}">
                <a16:creationId xmlns:a16="http://schemas.microsoft.com/office/drawing/2014/main" id="{B9945084-E8C9-4331-93D2-F54C39B7C753}"/>
              </a:ext>
            </a:extLst>
          </p:cNvPr>
          <p:cNvSpPr>
            <a:spLocks noGrp="1"/>
          </p:cNvSpPr>
          <p:nvPr/>
        </p:nvSpPr>
        <p:spPr>
          <a:xfrm>
            <a:off x="4191000" y="3867150"/>
            <a:ext cx="2857500" cy="323850"/>
          </a:xfrm>
          <a:prstGeom prst="rect">
            <a:avLst/>
          </a:prstGeom>
          <a:noFill/>
          <a:ln w="0">
            <a:noFill/>
            <a:prstDash val="solid"/>
          </a:ln>
        </p:spPr>
        <p:txBody>
          <a:bodyPr wrap="square" lIns="0" tIns="0" rIns="0" bIns="0" anchor="t">
            <a:normAutofit/>
          </a:bodyPr>
          <a:lstStyle>
            <a:defPPr algn="l">
              <a:defRPr sz="1650" b="1">
                <a:solidFill>
                  <a:srgbClr val="BB6D48"/>
                </a:solidFill>
                <a:latin typeface="Aptos"/>
                <a:ea typeface="Aptos"/>
                <a:cs typeface="Aptos"/>
              </a:defRPr>
            </a:defPPr>
          </a:lstStyle>
          <a:p>
            <a:pPr algn="l">
              <a:defRPr sz="1650" b="1">
                <a:solidFill>
                  <a:srgbClr val="BB6D48"/>
                </a:solidFill>
                <a:latin typeface="Aptos"/>
                <a:ea typeface="Aptos"/>
                <a:cs typeface="Aptos"/>
              </a:defRPr>
            </a:pPr>
            <a:r>
              <a:rPr sz="1650" b="1">
                <a:solidFill>
                  <a:srgbClr val="BB6D48"/>
                </a:solidFill>
                <a:latin typeface="Aptos"/>
                <a:ea typeface="Aptos"/>
                <a:cs typeface="Aptos"/>
              </a:rPr>
              <a:t>06   First-difference RMS</a:t>
            </a:r>
          </a:p>
        </p:txBody>
      </p:sp>
      <p:sp>
        <p:nvSpPr>
          <p:cNvPr id="17" name="Rectangle 16">
            <a:extLst>
              <a:ext uri="{FF2B5EF4-FFF2-40B4-BE49-F238E27FC236}">
                <a16:creationId xmlns:a16="http://schemas.microsoft.com/office/drawing/2014/main" id="{E53F72B4-8EBD-409B-A7D4-7A799CCBBCA7}"/>
              </a:ext>
            </a:extLst>
          </p:cNvPr>
          <p:cNvSpPr>
            <a:spLocks noGrp="1"/>
          </p:cNvSpPr>
          <p:nvPr/>
        </p:nvSpPr>
        <p:spPr>
          <a:xfrm>
            <a:off x="7829550" y="2066925"/>
            <a:ext cx="3143250" cy="323850"/>
          </a:xfrm>
          <a:prstGeom prst="rect">
            <a:avLst/>
          </a:prstGeom>
          <a:noFill/>
          <a:ln w="0">
            <a:noFill/>
            <a:prstDash val="solid"/>
          </a:ln>
        </p:spPr>
        <p:txBody>
          <a:bodyPr wrap="square" lIns="0" tIns="0" rIns="0" bIns="0" anchor="t">
            <a:normAutofit/>
          </a:bodyPr>
          <a:lstStyle>
            <a:defPPr algn="l">
              <a:defRPr sz="1275" b="1">
                <a:solidFill>
                  <a:srgbClr val="C2943B"/>
                </a:solidFill>
                <a:latin typeface="Aptos"/>
                <a:ea typeface="Aptos"/>
                <a:cs typeface="Aptos"/>
              </a:defRPr>
            </a:defPPr>
          </a:lstStyle>
          <a:p>
            <a:pPr algn="l">
              <a:defRPr sz="1275" b="1">
                <a:solidFill>
                  <a:srgbClr val="C2943B"/>
                </a:solidFill>
                <a:latin typeface="Aptos"/>
                <a:ea typeface="Aptos"/>
                <a:cs typeface="Aptos"/>
              </a:defRPr>
            </a:pPr>
            <a:r>
              <a:rPr sz="1275" b="1">
                <a:solidFill>
                  <a:srgbClr val="C2943B"/>
                </a:solidFill>
                <a:latin typeface="Aptos"/>
                <a:ea typeface="Aptos"/>
                <a:cs typeface="Aptos"/>
              </a:rPr>
              <a:t>CHANNEL FAMILIES</a:t>
            </a:r>
          </a:p>
        </p:txBody>
      </p:sp>
      <p:sp>
        <p:nvSpPr>
          <p:cNvPr id="18" name="Rectangle 17">
            <a:extLst>
              <a:ext uri="{FF2B5EF4-FFF2-40B4-BE49-F238E27FC236}">
                <a16:creationId xmlns:a16="http://schemas.microsoft.com/office/drawing/2014/main" id="{03856A52-F12E-4D8A-85E2-EAF4775248E3}"/>
              </a:ext>
            </a:extLst>
          </p:cNvPr>
          <p:cNvSpPr>
            <a:spLocks noGrp="1"/>
          </p:cNvSpPr>
          <p:nvPr/>
        </p:nvSpPr>
        <p:spPr>
          <a:xfrm>
            <a:off x="7829550" y="2524125"/>
            <a:ext cx="3333750" cy="457200"/>
          </a:xfrm>
          <a:prstGeom prst="rect">
            <a:avLst/>
          </a:prstGeom>
          <a:noFill/>
          <a:ln w="0">
            <a:noFill/>
            <a:prstDash val="solid"/>
          </a:ln>
        </p:spPr>
        <p:txBody>
          <a:bodyPr wrap="square" lIns="0" tIns="0" rIns="0" bIns="0" anchor="t">
            <a:normAutofit/>
          </a:bodyPr>
          <a:lstStyle>
            <a:defPPr algn="l">
              <a:defRPr sz="1650" b="1">
                <a:solidFill>
                  <a:srgbClr val="214C3B"/>
                </a:solidFill>
                <a:latin typeface="Aptos"/>
                <a:ea typeface="Aptos"/>
                <a:cs typeface="Aptos"/>
              </a:defRPr>
            </a:defPPr>
          </a:lstStyle>
          <a:p>
            <a:pPr algn="l">
              <a:defRPr sz="1650" b="1">
                <a:solidFill>
                  <a:srgbClr val="214C3B"/>
                </a:solidFill>
                <a:latin typeface="Aptos"/>
                <a:ea typeface="Aptos"/>
                <a:cs typeface="Aptos"/>
              </a:defRPr>
            </a:pPr>
            <a:r>
              <a:rPr sz="1650" b="1">
                <a:solidFill>
                  <a:srgbClr val="214C3B"/>
                </a:solidFill>
                <a:latin typeface="Aptos"/>
                <a:ea typeface="Aptos"/>
                <a:cs typeface="Aptos"/>
              </a:rPr>
              <a:t>Angular velocity  ·  3</a:t>
            </a:r>
          </a:p>
        </p:txBody>
      </p:sp>
      <p:sp>
        <p:nvSpPr>
          <p:cNvPr id="19" name="Rectangle 18">
            <a:extLst>
              <a:ext uri="{FF2B5EF4-FFF2-40B4-BE49-F238E27FC236}">
                <a16:creationId xmlns:a16="http://schemas.microsoft.com/office/drawing/2014/main" id="{9F342898-6533-4F7A-83C9-245ECF44FCCA}"/>
              </a:ext>
            </a:extLst>
          </p:cNvPr>
          <p:cNvSpPr>
            <a:spLocks noGrp="1"/>
          </p:cNvSpPr>
          <p:nvPr/>
        </p:nvSpPr>
        <p:spPr>
          <a:xfrm>
            <a:off x="7829550" y="3028950"/>
            <a:ext cx="3333750" cy="457200"/>
          </a:xfrm>
          <a:prstGeom prst="rect">
            <a:avLst/>
          </a:prstGeom>
          <a:noFill/>
          <a:ln w="0">
            <a:noFill/>
            <a:prstDash val="solid"/>
          </a:ln>
        </p:spPr>
        <p:txBody>
          <a:bodyPr wrap="square" lIns="0" tIns="0" rIns="0" bIns="0" anchor="t">
            <a:normAutofit/>
          </a:bodyPr>
          <a:lstStyle>
            <a:defPPr algn="l">
              <a:defRPr sz="1650" b="1">
                <a:solidFill>
                  <a:srgbClr val="214C3B"/>
                </a:solidFill>
                <a:latin typeface="Aptos"/>
                <a:ea typeface="Aptos"/>
                <a:cs typeface="Aptos"/>
              </a:defRPr>
            </a:defPPr>
          </a:lstStyle>
          <a:p>
            <a:pPr algn="l">
              <a:defRPr sz="1650" b="1">
                <a:solidFill>
                  <a:srgbClr val="214C3B"/>
                </a:solidFill>
                <a:latin typeface="Aptos"/>
                <a:ea typeface="Aptos"/>
                <a:cs typeface="Aptos"/>
              </a:defRPr>
            </a:pPr>
            <a:r>
              <a:rPr sz="1650" b="1">
                <a:solidFill>
                  <a:srgbClr val="214C3B"/>
                </a:solidFill>
                <a:latin typeface="Aptos"/>
                <a:ea typeface="Aptos"/>
                <a:cs typeface="Aptos"/>
              </a:rPr>
              <a:t>Acceleration  ·  3</a:t>
            </a:r>
          </a:p>
        </p:txBody>
      </p:sp>
      <p:sp>
        <p:nvSpPr>
          <p:cNvPr id="20" name="Rectangle 19">
            <a:extLst>
              <a:ext uri="{FF2B5EF4-FFF2-40B4-BE49-F238E27FC236}">
                <a16:creationId xmlns:a16="http://schemas.microsoft.com/office/drawing/2014/main" id="{25901FAA-DBB5-4D30-A1F3-98636CFD8A09}"/>
              </a:ext>
            </a:extLst>
          </p:cNvPr>
          <p:cNvSpPr>
            <a:spLocks noGrp="1"/>
          </p:cNvSpPr>
          <p:nvPr/>
        </p:nvSpPr>
        <p:spPr>
          <a:xfrm>
            <a:off x="7829550" y="3533775"/>
            <a:ext cx="3333750" cy="457200"/>
          </a:xfrm>
          <a:prstGeom prst="rect">
            <a:avLst/>
          </a:prstGeom>
          <a:noFill/>
          <a:ln w="0">
            <a:noFill/>
            <a:prstDash val="solid"/>
          </a:ln>
        </p:spPr>
        <p:txBody>
          <a:bodyPr wrap="square" lIns="0" tIns="0" rIns="0" bIns="0" anchor="t">
            <a:normAutofit/>
          </a:bodyPr>
          <a:lstStyle>
            <a:defPPr algn="l">
              <a:defRPr sz="1650" b="1">
                <a:solidFill>
                  <a:srgbClr val="214C3B"/>
                </a:solidFill>
                <a:latin typeface="Aptos"/>
                <a:ea typeface="Aptos"/>
                <a:cs typeface="Aptos"/>
              </a:defRPr>
            </a:defPPr>
          </a:lstStyle>
          <a:p>
            <a:pPr algn="l">
              <a:defRPr sz="1650" b="1">
                <a:solidFill>
                  <a:srgbClr val="214C3B"/>
                </a:solidFill>
                <a:latin typeface="Aptos"/>
                <a:ea typeface="Aptos"/>
                <a:cs typeface="Aptos"/>
              </a:defRPr>
            </a:pPr>
            <a:r>
              <a:rPr sz="1650" b="1">
                <a:solidFill>
                  <a:srgbClr val="214C3B"/>
                </a:solidFill>
                <a:latin typeface="Aptos"/>
                <a:ea typeface="Aptos"/>
                <a:cs typeface="Aptos"/>
              </a:rPr>
              <a:t>Motor current  ·  2</a:t>
            </a:r>
          </a:p>
        </p:txBody>
      </p:sp>
      <p:sp>
        <p:nvSpPr>
          <p:cNvPr id="21" name="Rectangle 20">
            <a:extLst>
              <a:ext uri="{FF2B5EF4-FFF2-40B4-BE49-F238E27FC236}">
                <a16:creationId xmlns:a16="http://schemas.microsoft.com/office/drawing/2014/main" id="{FEC9B216-54C5-4920-9F23-4CCEA663877F}"/>
              </a:ext>
            </a:extLst>
          </p:cNvPr>
          <p:cNvSpPr>
            <a:spLocks noGrp="1"/>
          </p:cNvSpPr>
          <p:nvPr/>
        </p:nvSpPr>
        <p:spPr>
          <a:xfrm>
            <a:off x="7829550" y="4038600"/>
            <a:ext cx="3333750" cy="457200"/>
          </a:xfrm>
          <a:prstGeom prst="rect">
            <a:avLst/>
          </a:prstGeom>
          <a:noFill/>
          <a:ln w="0">
            <a:noFill/>
            <a:prstDash val="solid"/>
          </a:ln>
        </p:spPr>
        <p:txBody>
          <a:bodyPr wrap="square" lIns="0" tIns="0" rIns="0" bIns="0" anchor="t">
            <a:normAutofit/>
          </a:bodyPr>
          <a:lstStyle>
            <a:defPPr algn="l">
              <a:defRPr sz="1650" b="1">
                <a:solidFill>
                  <a:srgbClr val="214C3B"/>
                </a:solidFill>
                <a:latin typeface="Aptos"/>
                <a:ea typeface="Aptos"/>
                <a:cs typeface="Aptos"/>
              </a:defRPr>
            </a:defPPr>
          </a:lstStyle>
          <a:p>
            <a:pPr algn="l">
              <a:defRPr sz="1650" b="1">
                <a:solidFill>
                  <a:srgbClr val="214C3B"/>
                </a:solidFill>
                <a:latin typeface="Aptos"/>
                <a:ea typeface="Aptos"/>
                <a:cs typeface="Aptos"/>
              </a:defRPr>
            </a:pPr>
            <a:r>
              <a:rPr sz="1650" b="1">
                <a:solidFill>
                  <a:srgbClr val="214C3B"/>
                </a:solidFill>
                <a:latin typeface="Aptos"/>
                <a:ea typeface="Aptos"/>
                <a:cs typeface="Aptos"/>
              </a:rPr>
              <a:t>Wheel speed  ·  2</a:t>
            </a:r>
          </a:p>
        </p:txBody>
      </p:sp>
      <p:sp>
        <p:nvSpPr>
          <p:cNvPr id="22" name="Rectangle 21">
            <a:extLst>
              <a:ext uri="{FF2B5EF4-FFF2-40B4-BE49-F238E27FC236}">
                <a16:creationId xmlns:a16="http://schemas.microsoft.com/office/drawing/2014/main" id="{D4963AC1-4CEF-4CC1-A7B2-BF80DF98158A}"/>
              </a:ext>
            </a:extLst>
          </p:cNvPr>
          <p:cNvSpPr>
            <a:spLocks noGrp="1"/>
          </p:cNvSpPr>
          <p:nvPr/>
        </p:nvSpPr>
        <p:spPr>
          <a:xfrm>
            <a:off x="7829550" y="4905375"/>
            <a:ext cx="3352800" cy="838200"/>
          </a:xfrm>
          <a:prstGeom prst="rect">
            <a:avLst/>
          </a:prstGeom>
          <a:solidFill>
            <a:srgbClr val="E8EEE5"/>
          </a:solidFill>
          <a:ln w="0">
            <a:noFill/>
            <a:prstDash val="solid"/>
          </a:ln>
        </p:spPr>
      </p:sp>
      <p:sp>
        <p:nvSpPr>
          <p:cNvPr id="23" name="Rectangle 22">
            <a:extLst>
              <a:ext uri="{FF2B5EF4-FFF2-40B4-BE49-F238E27FC236}">
                <a16:creationId xmlns:a16="http://schemas.microsoft.com/office/drawing/2014/main" id="{37DA5B45-0C00-4F48-977F-36754855DBB7}"/>
              </a:ext>
            </a:extLst>
          </p:cNvPr>
          <p:cNvSpPr>
            <a:spLocks noGrp="1"/>
          </p:cNvSpPr>
          <p:nvPr/>
        </p:nvSpPr>
        <p:spPr>
          <a:xfrm>
            <a:off x="8020050" y="5067300"/>
            <a:ext cx="3000375" cy="552450"/>
          </a:xfrm>
          <a:prstGeom prst="rect">
            <a:avLst/>
          </a:prstGeom>
          <a:noFill/>
          <a:ln w="0">
            <a:noFill/>
            <a:prstDash val="solid"/>
          </a:ln>
        </p:spPr>
        <p:txBody>
          <a:bodyPr wrap="square" lIns="0" tIns="0" rIns="0" bIns="0" anchor="t">
            <a:normAutofit/>
          </a:bodyPr>
          <a:lstStyle>
            <a:defPPr algn="l">
              <a:defRPr sz="1425" b="1">
                <a:solidFill>
                  <a:srgbClr val="214C3B"/>
                </a:solidFill>
                <a:latin typeface="Aptos"/>
                <a:ea typeface="Aptos"/>
                <a:cs typeface="Aptos"/>
              </a:defRPr>
            </a:defPPr>
          </a:lstStyle>
          <a:p>
            <a:pPr algn="l">
              <a:defRPr sz="1425" b="1">
                <a:solidFill>
                  <a:srgbClr val="214C3B"/>
                </a:solidFill>
                <a:latin typeface="Aptos"/>
                <a:ea typeface="Aptos"/>
                <a:cs typeface="Aptos"/>
              </a:defRPr>
            </a:pPr>
            <a:r>
              <a:rPr sz="1425" b="1">
                <a:solidFill>
                  <a:srgbClr val="214C3B"/>
                </a:solidFill>
                <a:latin typeface="Aptos"/>
                <a:ea typeface="Aptos"/>
                <a:cs typeface="Aptos"/>
              </a:rPr>
              <a:t>The terrain label is never a model input.</a:t>
            </a:r>
          </a:p>
        </p:txBody>
      </p:sp>
    </p:spTree>
    <p:extLst>
      <p:ext uri="{BB962C8B-B14F-4D97-AF65-F5344CB8AC3E}">
        <p14:creationId xmlns:p14="http://schemas.microsoft.com/office/powerpoint/2010/main" val="135687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E21BF29-5002-4EF9-BA65-52D7A75ABC0E}"/>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CANDIDATE MODELS</a:t>
            </a:r>
          </a:p>
        </p:txBody>
      </p:sp>
      <p:sp>
        <p:nvSpPr>
          <p:cNvPr id="2" name="Rectangle 1">
            <a:extLst>
              <a:ext uri="{FF2B5EF4-FFF2-40B4-BE49-F238E27FC236}">
                <a16:creationId xmlns:a16="http://schemas.microsoft.com/office/drawing/2014/main" id="{C6015AFE-FE46-4A0C-BB23-E048A4AB0174}"/>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Three model families test feature fusion</a:t>
            </a:r>
          </a:p>
        </p:txBody>
      </p:sp>
      <p:sp>
        <p:nvSpPr>
          <p:cNvPr id="3" name="Rectangle 2">
            <a:extLst>
              <a:ext uri="{FF2B5EF4-FFF2-40B4-BE49-F238E27FC236}">
                <a16:creationId xmlns:a16="http://schemas.microsoft.com/office/drawing/2014/main" id="{CED39E76-E21E-4415-9CB8-11DEC7E87EF1}"/>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52FEA3EE-52D0-4B6D-9EA1-DFE8E7417F93}"/>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223FDF30-2A30-457A-8CB0-5025DE5684B4}"/>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09 / 20</a:t>
            </a:r>
          </a:p>
        </p:txBody>
      </p:sp>
      <p:graphicFrame>
        <p:nvGraphicFramePr>
          <p:cNvPr id="6" name="Table 5">
            <a:extLst>
              <a:ext uri="{FF2B5EF4-FFF2-40B4-BE49-F238E27FC236}">
                <a16:creationId xmlns:a16="http://schemas.microsoft.com/office/drawing/2014/main" id="{423BC23E-7863-4775-B3DB-C80115708B99}"/>
              </a:ext>
            </a:extLst>
          </p:cNvPr>
          <p:cNvGraphicFramePr/>
          <p:nvPr/>
        </p:nvGraphicFramePr>
        <p:xfrm>
          <a:off x="723900" y="1581150"/>
          <a:ext cx="10744200" cy="1531620"/>
        </p:xfrm>
        <a:graphic>
          <a:graphicData uri="http://schemas.openxmlformats.org/drawingml/2006/table">
            <a:tbl>
              <a:tblPr/>
              <a:tblGrid>
                <a:gridCol w="2286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4648200">
                  <a:extLst>
                    <a:ext uri="{9D8B030D-6E8A-4147-A177-3AD203B41FA5}">
                      <a16:colId xmlns:a16="http://schemas.microsoft.com/office/drawing/2014/main" val="20002"/>
                    </a:ext>
                  </a:extLst>
                </a:gridCol>
              </a:tblGrid>
              <a:tr h="342900">
                <a:tc>
                  <a:txBody>
                    <a:bodyPr/>
                    <a:lstStyle/>
                    <a:p>
                      <a:r>
                        <a:rPr sz="1350" b="1">
                          <a:solidFill>
                            <a:srgbClr val="FFFEFA"/>
                          </a:solidFill>
                          <a:latin typeface="Aptos"/>
                          <a:ea typeface="Aptos"/>
                          <a:cs typeface="Aptos"/>
                        </a:rPr>
                        <a:t>Candidate</a:t>
                      </a:r>
                    </a:p>
                  </a:txBody>
                  <a:tcPr>
                    <a:lnL w="9525">
                      <a:solidFill>
                        <a:srgbClr val="D6DED4"/>
                      </a:solidFill>
                      <a:prstDash val="soli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Model input</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Comparison question</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extLst>
                  <a:ext uri="{0D108BD9-81ED-4DB2-BD59-A6C34878D82A}">
                    <a16:rowId xmlns:a16="http://schemas.microsoft.com/office/drawing/2014/main" val="10000"/>
                  </a:ext>
                </a:extLst>
              </a:tr>
              <a:tr h="0">
                <a:tc>
                  <a:txBody>
                    <a:bodyPr/>
                    <a:lstStyle/>
                    <a:p>
                      <a:r>
                        <a:rPr sz="1350" b="1">
                          <a:solidFill>
                            <a:srgbClr val="26322D"/>
                          </a:solidFill>
                          <a:latin typeface="Aptos"/>
                          <a:ea typeface="Aptos"/>
                          <a:cs typeface="Aptos"/>
                        </a:rPr>
                        <a:t>RBF SVM</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60 standardized statistics</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Strong nonlinear baseline for small data</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1"/>
                  </a:ext>
                </a:extLst>
              </a:tr>
              <a:tr h="0">
                <a:tc>
                  <a:txBody>
                    <a:bodyPr/>
                    <a:lstStyle/>
                    <a:p>
                      <a:r>
                        <a:rPr sz="1350" b="1">
                          <a:solidFill>
                            <a:srgbClr val="26322D"/>
                          </a:solidFill>
                          <a:latin typeface="Aptos"/>
                          <a:ea typeface="Aptos"/>
                          <a:cs typeface="Aptos"/>
                        </a:rPr>
                        <a:t>1D CNN</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10 × 170 normalized sensor window</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Can learned temporal patterns compete?</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extLst>
                  <a:ext uri="{0D108BD9-81ED-4DB2-BD59-A6C34878D82A}">
                    <a16:rowId xmlns:a16="http://schemas.microsoft.com/office/drawing/2014/main" val="10002"/>
                  </a:ext>
                </a:extLst>
              </a:tr>
              <a:tr h="0">
                <a:tc>
                  <a:txBody>
                    <a:bodyPr/>
                    <a:lstStyle/>
                    <a:p>
                      <a:r>
                        <a:rPr sz="1350" b="1">
                          <a:solidFill>
                            <a:srgbClr val="26322D"/>
                          </a:solidFill>
                          <a:latin typeface="Aptos"/>
                          <a:ea typeface="Aptos"/>
                          <a:cs typeface="Aptos"/>
                        </a:rPr>
                        <a:t>CNN + statistics</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CNN representation + 60 statistics</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Do hand-crafted summaries add signal?</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3"/>
                  </a:ext>
                </a:extLst>
              </a:tr>
              <a:tr h="0">
                <a:tc>
                  <a:txBody>
                    <a:bodyPr/>
                    <a:lstStyle/>
                    <a:p>
                      <a:r>
                        <a:rPr sz="1350" b="1">
                          <a:solidFill>
                            <a:srgbClr val="26322D"/>
                          </a:solidFill>
                          <a:latin typeface="Aptos"/>
                          <a:ea typeface="Aptos"/>
                          <a:cs typeface="Aptos"/>
                        </a:rPr>
                        <a:t>Majority baseline</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Always predicts the most common train class</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Reference floor for the test results</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544892FF-4F6C-4CFC-8732-E1D670E53BE7}"/>
              </a:ext>
            </a:extLst>
          </p:cNvPr>
          <p:cNvSpPr>
            <a:spLocks noGrp="1"/>
          </p:cNvSpPr>
          <p:nvPr/>
        </p:nvSpPr>
        <p:spPr>
          <a:xfrm>
            <a:off x="723900" y="5638800"/>
            <a:ext cx="10382250" cy="323850"/>
          </a:xfrm>
          <a:prstGeom prst="rect">
            <a:avLst/>
          </a:prstGeom>
          <a:noFill/>
          <a:ln w="0">
            <a:noFill/>
            <a:prstDash val="solid"/>
          </a:ln>
        </p:spPr>
        <p:txBody>
          <a:bodyPr wrap="square" lIns="0" tIns="0" rIns="0" bIns="0" anchor="t">
            <a:normAutofit/>
          </a:bodyPr>
          <a:lstStyle>
            <a:defPPr algn="l">
              <a:defRPr sz="1500" b="1">
                <a:solidFill>
                  <a:srgbClr val="214C3B"/>
                </a:solidFill>
                <a:latin typeface="Aptos"/>
                <a:ea typeface="Aptos"/>
                <a:cs typeface="Aptos"/>
              </a:defRPr>
            </a:defPPr>
          </a:lstStyle>
          <a:p>
            <a:pPr algn="l">
              <a:defRPr sz="1500" b="1">
                <a:solidFill>
                  <a:srgbClr val="214C3B"/>
                </a:solidFill>
                <a:latin typeface="Aptos"/>
                <a:ea typeface="Aptos"/>
                <a:cs typeface="Aptos"/>
              </a:defRPr>
            </a:pPr>
            <a:r>
              <a:rPr sz="1500" b="1">
                <a:solidFill>
                  <a:srgbClr val="214C3B"/>
                </a:solidFill>
                <a:latin typeface="Aptos"/>
                <a:ea typeface="Aptos"/>
                <a:cs typeface="Aptos"/>
              </a:rPr>
              <a:t>The majority model predicts ICE, the most common training class.</a:t>
            </a:r>
          </a:p>
        </p:txBody>
      </p:sp>
      <p:sp>
        <p:nvSpPr>
          <p:cNvPr id="8" name="Rectangle 7">
            <a:extLst>
              <a:ext uri="{FF2B5EF4-FFF2-40B4-BE49-F238E27FC236}">
                <a16:creationId xmlns:a16="http://schemas.microsoft.com/office/drawing/2014/main" id="{80046FAF-2326-44C5-9042-29D9F831CDB0}"/>
              </a:ext>
            </a:extLst>
          </p:cNvPr>
          <p:cNvSpPr>
            <a:spLocks noGrp="1"/>
          </p:cNvSpPr>
          <p:nvPr/>
        </p:nvSpPr>
        <p:spPr>
          <a:xfrm>
            <a:off x="723900" y="6000750"/>
            <a:ext cx="10382250" cy="266700"/>
          </a:xfrm>
          <a:prstGeom prst="rect">
            <a:avLst/>
          </a:prstGeom>
          <a:noFill/>
          <a:ln w="0">
            <a:noFill/>
            <a:prstDash val="solid"/>
          </a:ln>
        </p:spPr>
        <p:txBody>
          <a:bodyPr wrap="square" lIns="0" tIns="0" rIns="0" bIns="0" anchor="t">
            <a:normAutofit/>
          </a:bodyPr>
          <a:lstStyle>
            <a:defPPr algn="l">
              <a:defRPr sz="1275" b="0">
                <a:solidFill>
                  <a:srgbClr val="65746B"/>
                </a:solidFill>
                <a:latin typeface="Aptos"/>
                <a:ea typeface="Aptos"/>
                <a:cs typeface="Aptos"/>
              </a:defRPr>
            </a:defPPr>
          </a:lstStyle>
          <a:p>
            <a:pPr algn="l">
              <a:defRPr sz="1275" b="0">
                <a:solidFill>
                  <a:srgbClr val="65746B"/>
                </a:solidFill>
                <a:latin typeface="Aptos"/>
                <a:ea typeface="Aptos"/>
                <a:cs typeface="Aptos"/>
              </a:defRPr>
            </a:pPr>
            <a:r>
              <a:rPr sz="1275" b="0">
                <a:solidFill>
                  <a:srgbClr val="65746B"/>
                </a:solidFill>
                <a:latin typeface="Aptos"/>
                <a:ea typeface="Aptos"/>
                <a:cs typeface="Aptos"/>
              </a:rPr>
              <a:t>All five classes appear in every partition.</a:t>
            </a:r>
          </a:p>
        </p:txBody>
      </p:sp>
    </p:spTree>
    <p:extLst>
      <p:ext uri="{BB962C8B-B14F-4D97-AF65-F5344CB8AC3E}">
        <p14:creationId xmlns:p14="http://schemas.microsoft.com/office/powerpoint/2010/main" val="694393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A85F8918-87EB-481D-BBA3-C30B48865EBB}"/>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CNN ARCHITECTURE</a:t>
            </a:r>
          </a:p>
        </p:txBody>
      </p:sp>
      <p:sp>
        <p:nvSpPr>
          <p:cNvPr id="2" name="Rectangle 1">
            <a:extLst>
              <a:ext uri="{FF2B5EF4-FFF2-40B4-BE49-F238E27FC236}">
                <a16:creationId xmlns:a16="http://schemas.microsoft.com/office/drawing/2014/main" id="{A5E1B4A1-3933-4A33-93E9-AF546AD84E83}"/>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The hybrid joins temporal and statistical features</a:t>
            </a:r>
          </a:p>
        </p:txBody>
      </p:sp>
      <p:sp>
        <p:nvSpPr>
          <p:cNvPr id="3" name="Rectangle 2">
            <a:extLst>
              <a:ext uri="{FF2B5EF4-FFF2-40B4-BE49-F238E27FC236}">
                <a16:creationId xmlns:a16="http://schemas.microsoft.com/office/drawing/2014/main" id="{DC78E657-EB78-4F6F-A450-88D66CE9E6C9}"/>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C1F00A9F-C6FF-4E6A-88A1-7A669EFDE500}"/>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EFC9CB68-A7FA-4756-952F-1F817D43AB4D}"/>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10 / 20</a:t>
            </a:r>
          </a:p>
        </p:txBody>
      </p:sp>
      <p:sp>
        <p:nvSpPr>
          <p:cNvPr id="6" name="Rectangle 5">
            <a:extLst>
              <a:ext uri="{FF2B5EF4-FFF2-40B4-BE49-F238E27FC236}">
                <a16:creationId xmlns:a16="http://schemas.microsoft.com/office/drawing/2014/main" id="{9B91344A-C52E-46B6-BD68-3A88237583E4}"/>
              </a:ext>
            </a:extLst>
          </p:cNvPr>
          <p:cNvSpPr>
            <a:spLocks noGrp="1"/>
          </p:cNvSpPr>
          <p:nvPr/>
        </p:nvSpPr>
        <p:spPr>
          <a:xfrm>
            <a:off x="723900" y="1476375"/>
            <a:ext cx="10382250" cy="342900"/>
          </a:xfrm>
          <a:prstGeom prst="rect">
            <a:avLst/>
          </a:prstGeom>
          <a:noFill/>
          <a:ln w="0">
            <a:noFill/>
            <a:prstDash val="solid"/>
          </a:ln>
        </p:spPr>
        <p:txBody>
          <a:bodyPr wrap="square" lIns="0" tIns="0" rIns="0" bIns="0" anchor="t">
            <a:normAutofit/>
          </a:bodyPr>
          <a:lstStyle>
            <a:defPPr algn="l">
              <a:defRPr sz="1350" b="1">
                <a:solidFill>
                  <a:srgbClr val="789578"/>
                </a:solidFill>
                <a:latin typeface="Aptos"/>
                <a:ea typeface="Aptos"/>
                <a:cs typeface="Aptos"/>
              </a:defRPr>
            </a:defPPr>
          </a:lstStyle>
          <a:p>
            <a:pPr algn="l">
              <a:defRPr sz="1350" b="1">
                <a:solidFill>
                  <a:srgbClr val="789578"/>
                </a:solidFill>
                <a:latin typeface="Aptos"/>
                <a:ea typeface="Aptos"/>
                <a:cs typeface="Aptos"/>
              </a:defRPr>
            </a:pPr>
            <a:r>
              <a:rPr sz="1350" b="1">
                <a:solidFill>
                  <a:srgbClr val="789578"/>
                </a:solidFill>
                <a:latin typeface="Aptos"/>
                <a:ea typeface="Aptos"/>
                <a:cs typeface="Aptos"/>
              </a:rPr>
              <a:t>Raw 1D CNN path</a:t>
            </a:r>
          </a:p>
        </p:txBody>
      </p:sp>
      <p:sp>
        <p:nvSpPr>
          <p:cNvPr id="7" name="Rectangle 6">
            <a:extLst>
              <a:ext uri="{FF2B5EF4-FFF2-40B4-BE49-F238E27FC236}">
                <a16:creationId xmlns:a16="http://schemas.microsoft.com/office/drawing/2014/main" id="{3284F204-1CE8-4937-9E3D-7FDE5B1ADC1E}"/>
              </a:ext>
            </a:extLst>
          </p:cNvPr>
          <p:cNvSpPr>
            <a:spLocks noGrp="1"/>
          </p:cNvSpPr>
          <p:nvPr/>
        </p:nvSpPr>
        <p:spPr>
          <a:xfrm>
            <a:off x="666750" y="2009775"/>
            <a:ext cx="1524000" cy="1000125"/>
          </a:xfrm>
          <a:prstGeom prst="rect">
            <a:avLst/>
          </a:prstGeom>
          <a:solidFill>
            <a:srgbClr val="FFFEFA"/>
          </a:solidFill>
          <a:ln w="9525">
            <a:solidFill>
              <a:srgbClr val="D6DED4"/>
            </a:solidFill>
            <a:prstDash val="solid"/>
          </a:ln>
        </p:spPr>
      </p:sp>
      <p:sp>
        <p:nvSpPr>
          <p:cNvPr id="8" name="Rectangle 7">
            <a:extLst>
              <a:ext uri="{FF2B5EF4-FFF2-40B4-BE49-F238E27FC236}">
                <a16:creationId xmlns:a16="http://schemas.microsoft.com/office/drawing/2014/main" id="{F2AD671D-1ABD-4094-BB9E-8E8ED2CE690D}"/>
              </a:ext>
            </a:extLst>
          </p:cNvPr>
          <p:cNvSpPr>
            <a:spLocks noGrp="1"/>
          </p:cNvSpPr>
          <p:nvPr/>
        </p:nvSpPr>
        <p:spPr>
          <a:xfrm>
            <a:off x="800100" y="2171700"/>
            <a:ext cx="1276350" cy="304800"/>
          </a:xfrm>
          <a:prstGeom prst="rect">
            <a:avLst/>
          </a:prstGeom>
          <a:noFill/>
          <a:ln w="0">
            <a:noFill/>
            <a:prstDash val="solid"/>
          </a:ln>
        </p:spPr>
        <p:txBody>
          <a:bodyPr wrap="square" lIns="0" tIns="0" rIns="0" bIns="0" anchor="t">
            <a:normAutofit/>
          </a:bodyPr>
          <a:lstStyle>
            <a:defPPr algn="l">
              <a:defRPr sz="1575" b="1">
                <a:solidFill>
                  <a:srgbClr val="214C3B"/>
                </a:solidFill>
                <a:latin typeface="Aptos"/>
                <a:ea typeface="Aptos"/>
                <a:cs typeface="Aptos"/>
              </a:defRPr>
            </a:defPPr>
          </a:lstStyle>
          <a:p>
            <a:pPr algn="l">
              <a:defRPr sz="1575" b="1">
                <a:solidFill>
                  <a:srgbClr val="214C3B"/>
                </a:solidFill>
                <a:latin typeface="Aptos"/>
                <a:ea typeface="Aptos"/>
                <a:cs typeface="Aptos"/>
              </a:defRPr>
            </a:pPr>
            <a:r>
              <a:rPr sz="1575" b="1">
                <a:solidFill>
                  <a:srgbClr val="214C3B"/>
                </a:solidFill>
                <a:latin typeface="Aptos"/>
                <a:ea typeface="Aptos"/>
                <a:cs typeface="Aptos"/>
              </a:rPr>
              <a:t>10 × 170</a:t>
            </a:r>
          </a:p>
        </p:txBody>
      </p:sp>
      <p:sp>
        <p:nvSpPr>
          <p:cNvPr id="9" name="Rectangle 8">
            <a:extLst>
              <a:ext uri="{FF2B5EF4-FFF2-40B4-BE49-F238E27FC236}">
                <a16:creationId xmlns:a16="http://schemas.microsoft.com/office/drawing/2014/main" id="{DD197C82-676B-48EF-96C3-E49283F6233D}"/>
              </a:ext>
            </a:extLst>
          </p:cNvPr>
          <p:cNvSpPr>
            <a:spLocks noGrp="1"/>
          </p:cNvSpPr>
          <p:nvPr/>
        </p:nvSpPr>
        <p:spPr>
          <a:xfrm>
            <a:off x="800100" y="2543175"/>
            <a:ext cx="1276350" cy="323850"/>
          </a:xfrm>
          <a:prstGeom prst="rect">
            <a:avLst/>
          </a:prstGeom>
          <a:noFill/>
          <a:ln w="0">
            <a:noFill/>
            <a:prstDash val="solid"/>
          </a:ln>
        </p:spPr>
        <p:txBody>
          <a:bodyPr wrap="square" lIns="0" tIns="0" rIns="0" bIns="0" anchor="t">
            <a:normAutofit/>
          </a:bodyPr>
          <a:lstStyle>
            <a:defPPr algn="l">
              <a:defRPr sz="1275" b="0">
                <a:solidFill>
                  <a:srgbClr val="65746B"/>
                </a:solidFill>
                <a:latin typeface="Aptos"/>
                <a:ea typeface="Aptos"/>
                <a:cs typeface="Aptos"/>
              </a:defRPr>
            </a:defPPr>
          </a:lstStyle>
          <a:p>
            <a:pPr algn="l">
              <a:defRPr sz="1275" b="0">
                <a:solidFill>
                  <a:srgbClr val="65746B"/>
                </a:solidFill>
                <a:latin typeface="Aptos"/>
                <a:ea typeface="Aptos"/>
                <a:cs typeface="Aptos"/>
              </a:defRPr>
            </a:pPr>
            <a:r>
              <a:rPr sz="1275" b="0">
                <a:solidFill>
                  <a:srgbClr val="65746B"/>
                </a:solidFill>
                <a:latin typeface="Aptos"/>
                <a:ea typeface="Aptos"/>
                <a:cs typeface="Aptos"/>
              </a:rPr>
              <a:t>sensor input</a:t>
            </a:r>
          </a:p>
        </p:txBody>
      </p:sp>
      <p:sp>
        <p:nvSpPr>
          <p:cNvPr id="10" name="Rectangle 9">
            <a:extLst>
              <a:ext uri="{FF2B5EF4-FFF2-40B4-BE49-F238E27FC236}">
                <a16:creationId xmlns:a16="http://schemas.microsoft.com/office/drawing/2014/main" id="{90BFD295-099F-4C4C-A469-C72E9F234738}"/>
              </a:ext>
            </a:extLst>
          </p:cNvPr>
          <p:cNvSpPr>
            <a:spLocks noGrp="1"/>
          </p:cNvSpPr>
          <p:nvPr/>
        </p:nvSpPr>
        <p:spPr>
          <a:xfrm>
            <a:off x="2219325" y="2324100"/>
            <a:ext cx="285750" cy="266700"/>
          </a:xfrm>
          <a:prstGeom prst="rect">
            <a:avLst/>
          </a:prstGeom>
          <a:noFill/>
          <a:ln w="0">
            <a:noFill/>
            <a:prstDash val="solid"/>
          </a:ln>
        </p:spPr>
        <p:txBody>
          <a:bodyPr wrap="square" lIns="0" tIns="0" rIns="0" bIns="0" anchor="t">
            <a:normAutofit fontScale="93333"/>
          </a:bodyPr>
          <a:lstStyle>
            <a:defPPr algn="ctr">
              <a:defRPr sz="1875" b="1">
                <a:solidFill>
                  <a:srgbClr val="C2943B"/>
                </a:solidFill>
                <a:latin typeface="Aptos"/>
                <a:ea typeface="Aptos"/>
                <a:cs typeface="Aptos"/>
              </a:defRPr>
            </a:defPPr>
          </a:lstStyle>
          <a:p>
            <a:pPr algn="ctr">
              <a:defRPr sz="1875" b="1">
                <a:solidFill>
                  <a:srgbClr val="C2943B"/>
                </a:solidFill>
                <a:latin typeface="Aptos"/>
                <a:ea typeface="Aptos"/>
                <a:cs typeface="Aptos"/>
              </a:defRPr>
            </a:pPr>
            <a:r>
              <a:rPr sz="1875" b="1">
                <a:solidFill>
                  <a:srgbClr val="C2943B"/>
                </a:solidFill>
                <a:latin typeface="Aptos"/>
                <a:ea typeface="Aptos"/>
                <a:cs typeface="Aptos"/>
              </a:rPr>
              <a:t>›</a:t>
            </a:r>
          </a:p>
        </p:txBody>
      </p:sp>
      <p:sp>
        <p:nvSpPr>
          <p:cNvPr id="11" name="Rectangle 10">
            <a:extLst>
              <a:ext uri="{FF2B5EF4-FFF2-40B4-BE49-F238E27FC236}">
                <a16:creationId xmlns:a16="http://schemas.microsoft.com/office/drawing/2014/main" id="{70192E4E-9AF0-41F5-A54B-4E6FD9C28175}"/>
              </a:ext>
            </a:extLst>
          </p:cNvPr>
          <p:cNvSpPr>
            <a:spLocks noGrp="1"/>
          </p:cNvSpPr>
          <p:nvPr/>
        </p:nvSpPr>
        <p:spPr>
          <a:xfrm>
            <a:off x="2524125" y="2009775"/>
            <a:ext cx="1524000" cy="1000125"/>
          </a:xfrm>
          <a:prstGeom prst="rect">
            <a:avLst/>
          </a:prstGeom>
          <a:solidFill>
            <a:srgbClr val="FFFEFA"/>
          </a:solidFill>
          <a:ln w="9525">
            <a:solidFill>
              <a:srgbClr val="D6DED4"/>
            </a:solidFill>
            <a:prstDash val="solid"/>
          </a:ln>
        </p:spPr>
      </p:sp>
      <p:sp>
        <p:nvSpPr>
          <p:cNvPr id="12" name="Rectangle 11">
            <a:extLst>
              <a:ext uri="{FF2B5EF4-FFF2-40B4-BE49-F238E27FC236}">
                <a16:creationId xmlns:a16="http://schemas.microsoft.com/office/drawing/2014/main" id="{2B2CE638-8E24-4A6F-A066-FD8EDA4C804E}"/>
              </a:ext>
            </a:extLst>
          </p:cNvPr>
          <p:cNvSpPr>
            <a:spLocks noGrp="1"/>
          </p:cNvSpPr>
          <p:nvPr/>
        </p:nvSpPr>
        <p:spPr>
          <a:xfrm>
            <a:off x="2657475" y="2171700"/>
            <a:ext cx="1276350" cy="304800"/>
          </a:xfrm>
          <a:prstGeom prst="rect">
            <a:avLst/>
          </a:prstGeom>
          <a:noFill/>
          <a:ln w="0">
            <a:noFill/>
            <a:prstDash val="solid"/>
          </a:ln>
        </p:spPr>
        <p:txBody>
          <a:bodyPr wrap="square" lIns="0" tIns="0" rIns="0" bIns="0" anchor="t">
            <a:normAutofit/>
          </a:bodyPr>
          <a:lstStyle>
            <a:defPPr algn="l">
              <a:defRPr sz="1575" b="1">
                <a:solidFill>
                  <a:srgbClr val="214C3B"/>
                </a:solidFill>
                <a:latin typeface="Aptos"/>
                <a:ea typeface="Aptos"/>
                <a:cs typeface="Aptos"/>
              </a:defRPr>
            </a:defPPr>
          </a:lstStyle>
          <a:p>
            <a:pPr algn="l">
              <a:defRPr sz="1575" b="1">
                <a:solidFill>
                  <a:srgbClr val="214C3B"/>
                </a:solidFill>
                <a:latin typeface="Aptos"/>
                <a:ea typeface="Aptos"/>
                <a:cs typeface="Aptos"/>
              </a:defRPr>
            </a:pPr>
            <a:r>
              <a:rPr sz="1575" b="1">
                <a:solidFill>
                  <a:srgbClr val="214C3B"/>
                </a:solidFill>
                <a:latin typeface="Aptos"/>
                <a:ea typeface="Aptos"/>
                <a:cs typeface="Aptos"/>
              </a:rPr>
              <a:t>Conv 24</a:t>
            </a:r>
          </a:p>
        </p:txBody>
      </p:sp>
      <p:sp>
        <p:nvSpPr>
          <p:cNvPr id="13" name="Rectangle 12">
            <a:extLst>
              <a:ext uri="{FF2B5EF4-FFF2-40B4-BE49-F238E27FC236}">
                <a16:creationId xmlns:a16="http://schemas.microsoft.com/office/drawing/2014/main" id="{7E9CB19E-7B99-4779-A47A-43528B6CC3F6}"/>
              </a:ext>
            </a:extLst>
          </p:cNvPr>
          <p:cNvSpPr>
            <a:spLocks noGrp="1"/>
          </p:cNvSpPr>
          <p:nvPr/>
        </p:nvSpPr>
        <p:spPr>
          <a:xfrm>
            <a:off x="2657475" y="2543175"/>
            <a:ext cx="1276350" cy="323850"/>
          </a:xfrm>
          <a:prstGeom prst="rect">
            <a:avLst/>
          </a:prstGeom>
          <a:noFill/>
          <a:ln w="0">
            <a:noFill/>
            <a:prstDash val="solid"/>
          </a:ln>
        </p:spPr>
        <p:txBody>
          <a:bodyPr wrap="square" lIns="0" tIns="0" rIns="0" bIns="0" anchor="t">
            <a:normAutofit/>
          </a:bodyPr>
          <a:lstStyle>
            <a:defPPr algn="l">
              <a:defRPr sz="1275" b="0">
                <a:solidFill>
                  <a:srgbClr val="65746B"/>
                </a:solidFill>
                <a:latin typeface="Aptos"/>
                <a:ea typeface="Aptos"/>
                <a:cs typeface="Aptos"/>
              </a:defRPr>
            </a:defPPr>
          </a:lstStyle>
          <a:p>
            <a:pPr algn="l">
              <a:defRPr sz="1275" b="0">
                <a:solidFill>
                  <a:srgbClr val="65746B"/>
                </a:solidFill>
                <a:latin typeface="Aptos"/>
                <a:ea typeface="Aptos"/>
                <a:cs typeface="Aptos"/>
              </a:defRPr>
            </a:pPr>
            <a:r>
              <a:rPr sz="1275" b="0">
                <a:solidFill>
                  <a:srgbClr val="65746B"/>
                </a:solidFill>
                <a:latin typeface="Aptos"/>
                <a:ea typeface="Aptos"/>
                <a:cs typeface="Aptos"/>
              </a:rPr>
              <a:t>kernel 5</a:t>
            </a:r>
          </a:p>
        </p:txBody>
      </p:sp>
      <p:sp>
        <p:nvSpPr>
          <p:cNvPr id="14" name="Rectangle 13">
            <a:extLst>
              <a:ext uri="{FF2B5EF4-FFF2-40B4-BE49-F238E27FC236}">
                <a16:creationId xmlns:a16="http://schemas.microsoft.com/office/drawing/2014/main" id="{CD72B78F-32D9-4546-A1A1-4DD68501A270}"/>
              </a:ext>
            </a:extLst>
          </p:cNvPr>
          <p:cNvSpPr>
            <a:spLocks noGrp="1"/>
          </p:cNvSpPr>
          <p:nvPr/>
        </p:nvSpPr>
        <p:spPr>
          <a:xfrm>
            <a:off x="4076700" y="2324100"/>
            <a:ext cx="285750" cy="266700"/>
          </a:xfrm>
          <a:prstGeom prst="rect">
            <a:avLst/>
          </a:prstGeom>
          <a:noFill/>
          <a:ln w="0">
            <a:noFill/>
            <a:prstDash val="solid"/>
          </a:ln>
        </p:spPr>
        <p:txBody>
          <a:bodyPr wrap="square" lIns="0" tIns="0" rIns="0" bIns="0" anchor="t">
            <a:normAutofit fontScale="93333"/>
          </a:bodyPr>
          <a:lstStyle>
            <a:defPPr algn="ctr">
              <a:defRPr sz="1875" b="1">
                <a:solidFill>
                  <a:srgbClr val="C2943B"/>
                </a:solidFill>
                <a:latin typeface="Aptos"/>
                <a:ea typeface="Aptos"/>
                <a:cs typeface="Aptos"/>
              </a:defRPr>
            </a:defPPr>
          </a:lstStyle>
          <a:p>
            <a:pPr algn="ctr">
              <a:defRPr sz="1875" b="1">
                <a:solidFill>
                  <a:srgbClr val="C2943B"/>
                </a:solidFill>
                <a:latin typeface="Aptos"/>
                <a:ea typeface="Aptos"/>
                <a:cs typeface="Aptos"/>
              </a:defRPr>
            </a:pPr>
            <a:r>
              <a:rPr sz="1875" b="1">
                <a:solidFill>
                  <a:srgbClr val="C2943B"/>
                </a:solidFill>
                <a:latin typeface="Aptos"/>
                <a:ea typeface="Aptos"/>
                <a:cs typeface="Aptos"/>
              </a:rPr>
              <a:t>›</a:t>
            </a:r>
          </a:p>
        </p:txBody>
      </p:sp>
      <p:sp>
        <p:nvSpPr>
          <p:cNvPr id="15" name="Rectangle 14">
            <a:extLst>
              <a:ext uri="{FF2B5EF4-FFF2-40B4-BE49-F238E27FC236}">
                <a16:creationId xmlns:a16="http://schemas.microsoft.com/office/drawing/2014/main" id="{51D877E6-D3AC-4D1D-B626-3262B8BD6696}"/>
              </a:ext>
            </a:extLst>
          </p:cNvPr>
          <p:cNvSpPr>
            <a:spLocks noGrp="1"/>
          </p:cNvSpPr>
          <p:nvPr/>
        </p:nvSpPr>
        <p:spPr>
          <a:xfrm>
            <a:off x="4381500" y="2009775"/>
            <a:ext cx="1524000" cy="1000125"/>
          </a:xfrm>
          <a:prstGeom prst="rect">
            <a:avLst/>
          </a:prstGeom>
          <a:solidFill>
            <a:srgbClr val="FFFEFA"/>
          </a:solidFill>
          <a:ln w="9525">
            <a:solidFill>
              <a:srgbClr val="D6DED4"/>
            </a:solidFill>
            <a:prstDash val="solid"/>
          </a:ln>
        </p:spPr>
      </p:sp>
      <p:sp>
        <p:nvSpPr>
          <p:cNvPr id="16" name="Rectangle 15">
            <a:extLst>
              <a:ext uri="{FF2B5EF4-FFF2-40B4-BE49-F238E27FC236}">
                <a16:creationId xmlns:a16="http://schemas.microsoft.com/office/drawing/2014/main" id="{5BC264FA-D16A-4385-AC0D-F7F5936BC4E0}"/>
              </a:ext>
            </a:extLst>
          </p:cNvPr>
          <p:cNvSpPr>
            <a:spLocks noGrp="1"/>
          </p:cNvSpPr>
          <p:nvPr/>
        </p:nvSpPr>
        <p:spPr>
          <a:xfrm>
            <a:off x="4514850" y="2171700"/>
            <a:ext cx="1276350" cy="304800"/>
          </a:xfrm>
          <a:prstGeom prst="rect">
            <a:avLst/>
          </a:prstGeom>
          <a:noFill/>
          <a:ln w="0">
            <a:noFill/>
            <a:prstDash val="solid"/>
          </a:ln>
        </p:spPr>
        <p:txBody>
          <a:bodyPr wrap="square" lIns="0" tIns="0" rIns="0" bIns="0" anchor="t">
            <a:normAutofit/>
          </a:bodyPr>
          <a:lstStyle>
            <a:defPPr algn="l">
              <a:defRPr sz="1575" b="1">
                <a:solidFill>
                  <a:srgbClr val="214C3B"/>
                </a:solidFill>
                <a:latin typeface="Aptos"/>
                <a:ea typeface="Aptos"/>
                <a:cs typeface="Aptos"/>
              </a:defRPr>
            </a:defPPr>
          </a:lstStyle>
          <a:p>
            <a:pPr algn="l">
              <a:defRPr sz="1575" b="1">
                <a:solidFill>
                  <a:srgbClr val="214C3B"/>
                </a:solidFill>
                <a:latin typeface="Aptos"/>
                <a:ea typeface="Aptos"/>
                <a:cs typeface="Aptos"/>
              </a:defRPr>
            </a:pPr>
            <a:r>
              <a:rPr sz="1575" b="1">
                <a:solidFill>
                  <a:srgbClr val="214C3B"/>
                </a:solidFill>
                <a:latin typeface="Aptos"/>
                <a:ea typeface="Aptos"/>
                <a:cs typeface="Aptos"/>
              </a:rPr>
              <a:t>Conv 24</a:t>
            </a:r>
          </a:p>
        </p:txBody>
      </p:sp>
      <p:sp>
        <p:nvSpPr>
          <p:cNvPr id="17" name="Rectangle 16">
            <a:extLst>
              <a:ext uri="{FF2B5EF4-FFF2-40B4-BE49-F238E27FC236}">
                <a16:creationId xmlns:a16="http://schemas.microsoft.com/office/drawing/2014/main" id="{00F22B91-78E8-45E7-AD26-2F838AD63EB4}"/>
              </a:ext>
            </a:extLst>
          </p:cNvPr>
          <p:cNvSpPr>
            <a:spLocks noGrp="1"/>
          </p:cNvSpPr>
          <p:nvPr/>
        </p:nvSpPr>
        <p:spPr>
          <a:xfrm>
            <a:off x="4514850" y="2543175"/>
            <a:ext cx="1276350" cy="323850"/>
          </a:xfrm>
          <a:prstGeom prst="rect">
            <a:avLst/>
          </a:prstGeom>
          <a:noFill/>
          <a:ln w="0">
            <a:noFill/>
            <a:prstDash val="solid"/>
          </a:ln>
        </p:spPr>
        <p:txBody>
          <a:bodyPr wrap="square" lIns="0" tIns="0" rIns="0" bIns="0" anchor="t">
            <a:normAutofit/>
          </a:bodyPr>
          <a:lstStyle>
            <a:defPPr algn="l">
              <a:defRPr sz="1275" b="0">
                <a:solidFill>
                  <a:srgbClr val="65746B"/>
                </a:solidFill>
                <a:latin typeface="Aptos"/>
                <a:ea typeface="Aptos"/>
                <a:cs typeface="Aptos"/>
              </a:defRPr>
            </a:defPPr>
          </a:lstStyle>
          <a:p>
            <a:pPr algn="l">
              <a:defRPr sz="1275" b="0">
                <a:solidFill>
                  <a:srgbClr val="65746B"/>
                </a:solidFill>
                <a:latin typeface="Aptos"/>
                <a:ea typeface="Aptos"/>
                <a:cs typeface="Aptos"/>
              </a:defRPr>
            </a:pPr>
            <a:r>
              <a:rPr sz="1275" b="0">
                <a:solidFill>
                  <a:srgbClr val="65746B"/>
                </a:solidFill>
                <a:latin typeface="Aptos"/>
                <a:ea typeface="Aptos"/>
                <a:cs typeface="Aptos"/>
              </a:rPr>
              <a:t>pool / dropout</a:t>
            </a:r>
          </a:p>
        </p:txBody>
      </p:sp>
      <p:sp>
        <p:nvSpPr>
          <p:cNvPr id="18" name="Rectangle 17">
            <a:extLst>
              <a:ext uri="{FF2B5EF4-FFF2-40B4-BE49-F238E27FC236}">
                <a16:creationId xmlns:a16="http://schemas.microsoft.com/office/drawing/2014/main" id="{047813FB-E3F8-4449-A8C8-8601F3AB7A9D}"/>
              </a:ext>
            </a:extLst>
          </p:cNvPr>
          <p:cNvSpPr>
            <a:spLocks noGrp="1"/>
          </p:cNvSpPr>
          <p:nvPr/>
        </p:nvSpPr>
        <p:spPr>
          <a:xfrm>
            <a:off x="5934075" y="2324100"/>
            <a:ext cx="285750" cy="266700"/>
          </a:xfrm>
          <a:prstGeom prst="rect">
            <a:avLst/>
          </a:prstGeom>
          <a:noFill/>
          <a:ln w="0">
            <a:noFill/>
            <a:prstDash val="solid"/>
          </a:ln>
        </p:spPr>
        <p:txBody>
          <a:bodyPr wrap="square" lIns="0" tIns="0" rIns="0" bIns="0" anchor="t">
            <a:normAutofit fontScale="93333"/>
          </a:bodyPr>
          <a:lstStyle>
            <a:defPPr algn="ctr">
              <a:defRPr sz="1875" b="1">
                <a:solidFill>
                  <a:srgbClr val="C2943B"/>
                </a:solidFill>
                <a:latin typeface="Aptos"/>
                <a:ea typeface="Aptos"/>
                <a:cs typeface="Aptos"/>
              </a:defRPr>
            </a:defPPr>
          </a:lstStyle>
          <a:p>
            <a:pPr algn="ctr">
              <a:defRPr sz="1875" b="1">
                <a:solidFill>
                  <a:srgbClr val="C2943B"/>
                </a:solidFill>
                <a:latin typeface="Aptos"/>
                <a:ea typeface="Aptos"/>
                <a:cs typeface="Aptos"/>
              </a:defRPr>
            </a:pPr>
            <a:r>
              <a:rPr sz="1875" b="1">
                <a:solidFill>
                  <a:srgbClr val="C2943B"/>
                </a:solidFill>
                <a:latin typeface="Aptos"/>
                <a:ea typeface="Aptos"/>
                <a:cs typeface="Aptos"/>
              </a:rPr>
              <a:t>›</a:t>
            </a:r>
          </a:p>
        </p:txBody>
      </p:sp>
      <p:sp>
        <p:nvSpPr>
          <p:cNvPr id="19" name="Rectangle 18">
            <a:extLst>
              <a:ext uri="{FF2B5EF4-FFF2-40B4-BE49-F238E27FC236}">
                <a16:creationId xmlns:a16="http://schemas.microsoft.com/office/drawing/2014/main" id="{C02C7EED-D6CD-4C0E-9281-F363BECC8AFB}"/>
              </a:ext>
            </a:extLst>
          </p:cNvPr>
          <p:cNvSpPr>
            <a:spLocks noGrp="1"/>
          </p:cNvSpPr>
          <p:nvPr/>
        </p:nvSpPr>
        <p:spPr>
          <a:xfrm>
            <a:off x="6238875" y="2009775"/>
            <a:ext cx="1524000" cy="1000125"/>
          </a:xfrm>
          <a:prstGeom prst="rect">
            <a:avLst/>
          </a:prstGeom>
          <a:solidFill>
            <a:srgbClr val="FFFEFA"/>
          </a:solidFill>
          <a:ln w="9525">
            <a:solidFill>
              <a:srgbClr val="D6DED4"/>
            </a:solidFill>
            <a:prstDash val="solid"/>
          </a:ln>
        </p:spPr>
      </p:sp>
      <p:sp>
        <p:nvSpPr>
          <p:cNvPr id="20" name="Rectangle 19">
            <a:extLst>
              <a:ext uri="{FF2B5EF4-FFF2-40B4-BE49-F238E27FC236}">
                <a16:creationId xmlns:a16="http://schemas.microsoft.com/office/drawing/2014/main" id="{42B204F7-29FC-4273-8813-E4CDB02E138D}"/>
              </a:ext>
            </a:extLst>
          </p:cNvPr>
          <p:cNvSpPr>
            <a:spLocks noGrp="1"/>
          </p:cNvSpPr>
          <p:nvPr/>
        </p:nvSpPr>
        <p:spPr>
          <a:xfrm>
            <a:off x="6372225" y="2171700"/>
            <a:ext cx="1276350" cy="304800"/>
          </a:xfrm>
          <a:prstGeom prst="rect">
            <a:avLst/>
          </a:prstGeom>
          <a:noFill/>
          <a:ln w="0">
            <a:noFill/>
            <a:prstDash val="solid"/>
          </a:ln>
        </p:spPr>
        <p:txBody>
          <a:bodyPr wrap="square" lIns="0" tIns="0" rIns="0" bIns="0" anchor="t">
            <a:normAutofit/>
          </a:bodyPr>
          <a:lstStyle>
            <a:defPPr algn="l">
              <a:defRPr sz="1575" b="1">
                <a:solidFill>
                  <a:srgbClr val="214C3B"/>
                </a:solidFill>
                <a:latin typeface="Aptos"/>
                <a:ea typeface="Aptos"/>
                <a:cs typeface="Aptos"/>
              </a:defRPr>
            </a:defPPr>
          </a:lstStyle>
          <a:p>
            <a:pPr algn="l">
              <a:defRPr sz="1575" b="1">
                <a:solidFill>
                  <a:srgbClr val="214C3B"/>
                </a:solidFill>
                <a:latin typeface="Aptos"/>
                <a:ea typeface="Aptos"/>
                <a:cs typeface="Aptos"/>
              </a:defRPr>
            </a:pPr>
            <a:r>
              <a:rPr sz="1575" b="1">
                <a:solidFill>
                  <a:srgbClr val="214C3B"/>
                </a:solidFill>
                <a:latin typeface="Aptos"/>
                <a:ea typeface="Aptos"/>
                <a:cs typeface="Aptos"/>
              </a:rPr>
              <a:t>Conv 24</a:t>
            </a:r>
          </a:p>
        </p:txBody>
      </p:sp>
      <p:sp>
        <p:nvSpPr>
          <p:cNvPr id="21" name="Rectangle 20">
            <a:extLst>
              <a:ext uri="{FF2B5EF4-FFF2-40B4-BE49-F238E27FC236}">
                <a16:creationId xmlns:a16="http://schemas.microsoft.com/office/drawing/2014/main" id="{9A97EB4B-B0A3-4F9B-9987-903E87D41AA2}"/>
              </a:ext>
            </a:extLst>
          </p:cNvPr>
          <p:cNvSpPr>
            <a:spLocks noGrp="1"/>
          </p:cNvSpPr>
          <p:nvPr/>
        </p:nvSpPr>
        <p:spPr>
          <a:xfrm>
            <a:off x="6372225" y="2543175"/>
            <a:ext cx="1276350" cy="323850"/>
          </a:xfrm>
          <a:prstGeom prst="rect">
            <a:avLst/>
          </a:prstGeom>
          <a:noFill/>
          <a:ln w="0">
            <a:noFill/>
            <a:prstDash val="solid"/>
          </a:ln>
        </p:spPr>
        <p:txBody>
          <a:bodyPr wrap="square" lIns="0" tIns="0" rIns="0" bIns="0" anchor="t">
            <a:normAutofit/>
          </a:bodyPr>
          <a:lstStyle>
            <a:defPPr algn="l">
              <a:defRPr sz="1275" b="0">
                <a:solidFill>
                  <a:srgbClr val="65746B"/>
                </a:solidFill>
                <a:latin typeface="Aptos"/>
                <a:ea typeface="Aptos"/>
                <a:cs typeface="Aptos"/>
              </a:defRPr>
            </a:defPPr>
          </a:lstStyle>
          <a:p>
            <a:pPr algn="l">
              <a:defRPr sz="1275" b="0">
                <a:solidFill>
                  <a:srgbClr val="65746B"/>
                </a:solidFill>
                <a:latin typeface="Aptos"/>
                <a:ea typeface="Aptos"/>
                <a:cs typeface="Aptos"/>
              </a:defRPr>
            </a:pPr>
            <a:r>
              <a:rPr sz="1275" b="0">
                <a:solidFill>
                  <a:srgbClr val="65746B"/>
                </a:solidFill>
                <a:latin typeface="Aptos"/>
                <a:ea typeface="Aptos"/>
                <a:cs typeface="Aptos"/>
              </a:rPr>
              <a:t>pool / dropout</a:t>
            </a:r>
          </a:p>
        </p:txBody>
      </p:sp>
      <p:sp>
        <p:nvSpPr>
          <p:cNvPr id="22" name="Rectangle 21">
            <a:extLst>
              <a:ext uri="{FF2B5EF4-FFF2-40B4-BE49-F238E27FC236}">
                <a16:creationId xmlns:a16="http://schemas.microsoft.com/office/drawing/2014/main" id="{5815545C-4420-415C-88E6-1D91AABDD2B0}"/>
              </a:ext>
            </a:extLst>
          </p:cNvPr>
          <p:cNvSpPr>
            <a:spLocks noGrp="1"/>
          </p:cNvSpPr>
          <p:nvPr/>
        </p:nvSpPr>
        <p:spPr>
          <a:xfrm>
            <a:off x="7791450" y="2324100"/>
            <a:ext cx="285750" cy="266700"/>
          </a:xfrm>
          <a:prstGeom prst="rect">
            <a:avLst/>
          </a:prstGeom>
          <a:noFill/>
          <a:ln w="0">
            <a:noFill/>
            <a:prstDash val="solid"/>
          </a:ln>
        </p:spPr>
        <p:txBody>
          <a:bodyPr wrap="square" lIns="0" tIns="0" rIns="0" bIns="0" anchor="t">
            <a:normAutofit fontScale="93333"/>
          </a:bodyPr>
          <a:lstStyle>
            <a:defPPr algn="ctr">
              <a:defRPr sz="1875" b="1">
                <a:solidFill>
                  <a:srgbClr val="C2943B"/>
                </a:solidFill>
                <a:latin typeface="Aptos"/>
                <a:ea typeface="Aptos"/>
                <a:cs typeface="Aptos"/>
              </a:defRPr>
            </a:defPPr>
          </a:lstStyle>
          <a:p>
            <a:pPr algn="ctr">
              <a:defRPr sz="1875" b="1">
                <a:solidFill>
                  <a:srgbClr val="C2943B"/>
                </a:solidFill>
                <a:latin typeface="Aptos"/>
                <a:ea typeface="Aptos"/>
                <a:cs typeface="Aptos"/>
              </a:defRPr>
            </a:pPr>
            <a:r>
              <a:rPr sz="1875" b="1">
                <a:solidFill>
                  <a:srgbClr val="C2943B"/>
                </a:solidFill>
                <a:latin typeface="Aptos"/>
                <a:ea typeface="Aptos"/>
                <a:cs typeface="Aptos"/>
              </a:rPr>
              <a:t>›</a:t>
            </a:r>
          </a:p>
        </p:txBody>
      </p:sp>
      <p:sp>
        <p:nvSpPr>
          <p:cNvPr id="23" name="Rectangle 22">
            <a:extLst>
              <a:ext uri="{FF2B5EF4-FFF2-40B4-BE49-F238E27FC236}">
                <a16:creationId xmlns:a16="http://schemas.microsoft.com/office/drawing/2014/main" id="{738A19C9-047E-4398-9447-EEF58C716E66}"/>
              </a:ext>
            </a:extLst>
          </p:cNvPr>
          <p:cNvSpPr>
            <a:spLocks noGrp="1"/>
          </p:cNvSpPr>
          <p:nvPr/>
        </p:nvSpPr>
        <p:spPr>
          <a:xfrm>
            <a:off x="8096250" y="2009775"/>
            <a:ext cx="1524000" cy="1000125"/>
          </a:xfrm>
          <a:prstGeom prst="rect">
            <a:avLst/>
          </a:prstGeom>
          <a:solidFill>
            <a:srgbClr val="FFFEFA"/>
          </a:solidFill>
          <a:ln w="9525">
            <a:solidFill>
              <a:srgbClr val="D6DED4"/>
            </a:solidFill>
            <a:prstDash val="solid"/>
          </a:ln>
        </p:spPr>
      </p:sp>
      <p:sp>
        <p:nvSpPr>
          <p:cNvPr id="24" name="Rectangle 23">
            <a:extLst>
              <a:ext uri="{FF2B5EF4-FFF2-40B4-BE49-F238E27FC236}">
                <a16:creationId xmlns:a16="http://schemas.microsoft.com/office/drawing/2014/main" id="{9A89D142-0C6B-4736-B058-0186FAB9F05D}"/>
              </a:ext>
            </a:extLst>
          </p:cNvPr>
          <p:cNvSpPr>
            <a:spLocks noGrp="1"/>
          </p:cNvSpPr>
          <p:nvPr/>
        </p:nvSpPr>
        <p:spPr>
          <a:xfrm>
            <a:off x="8229600" y="2171700"/>
            <a:ext cx="1276350" cy="304800"/>
          </a:xfrm>
          <a:prstGeom prst="rect">
            <a:avLst/>
          </a:prstGeom>
          <a:noFill/>
          <a:ln w="0">
            <a:noFill/>
            <a:prstDash val="solid"/>
          </a:ln>
        </p:spPr>
        <p:txBody>
          <a:bodyPr wrap="square" lIns="0" tIns="0" rIns="0" bIns="0" anchor="t">
            <a:normAutofit/>
          </a:bodyPr>
          <a:lstStyle>
            <a:defPPr algn="l">
              <a:defRPr sz="1575" b="1">
                <a:solidFill>
                  <a:srgbClr val="214C3B"/>
                </a:solidFill>
                <a:latin typeface="Aptos"/>
                <a:ea typeface="Aptos"/>
                <a:cs typeface="Aptos"/>
              </a:defRPr>
            </a:defPPr>
          </a:lstStyle>
          <a:p>
            <a:pPr algn="l">
              <a:defRPr sz="1575" b="1">
                <a:solidFill>
                  <a:srgbClr val="214C3B"/>
                </a:solidFill>
                <a:latin typeface="Aptos"/>
                <a:ea typeface="Aptos"/>
                <a:cs typeface="Aptos"/>
              </a:defRPr>
            </a:pPr>
            <a:r>
              <a:rPr sz="1575" b="1">
                <a:solidFill>
                  <a:srgbClr val="214C3B"/>
                </a:solidFill>
                <a:latin typeface="Aptos"/>
                <a:ea typeface="Aptos"/>
                <a:cs typeface="Aptos"/>
              </a:rPr>
              <a:t>Conv 24</a:t>
            </a:r>
          </a:p>
        </p:txBody>
      </p:sp>
      <p:sp>
        <p:nvSpPr>
          <p:cNvPr id="25" name="Rectangle 24">
            <a:extLst>
              <a:ext uri="{FF2B5EF4-FFF2-40B4-BE49-F238E27FC236}">
                <a16:creationId xmlns:a16="http://schemas.microsoft.com/office/drawing/2014/main" id="{82D1EF31-81DC-420D-BD4E-74C688553C81}"/>
              </a:ext>
            </a:extLst>
          </p:cNvPr>
          <p:cNvSpPr>
            <a:spLocks noGrp="1"/>
          </p:cNvSpPr>
          <p:nvPr/>
        </p:nvSpPr>
        <p:spPr>
          <a:xfrm>
            <a:off x="8229600" y="2543175"/>
            <a:ext cx="1276350" cy="323850"/>
          </a:xfrm>
          <a:prstGeom prst="rect">
            <a:avLst/>
          </a:prstGeom>
          <a:noFill/>
          <a:ln w="0">
            <a:noFill/>
            <a:prstDash val="solid"/>
          </a:ln>
        </p:spPr>
        <p:txBody>
          <a:bodyPr wrap="square" lIns="0" tIns="0" rIns="0" bIns="0" anchor="t">
            <a:normAutofit/>
          </a:bodyPr>
          <a:lstStyle>
            <a:defPPr algn="l">
              <a:defRPr sz="1275" b="0">
                <a:solidFill>
                  <a:srgbClr val="65746B"/>
                </a:solidFill>
                <a:latin typeface="Aptos"/>
                <a:ea typeface="Aptos"/>
                <a:cs typeface="Aptos"/>
              </a:defRPr>
            </a:defPPr>
          </a:lstStyle>
          <a:p>
            <a:pPr algn="l">
              <a:defRPr sz="1275" b="0">
                <a:solidFill>
                  <a:srgbClr val="65746B"/>
                </a:solidFill>
                <a:latin typeface="Aptos"/>
                <a:ea typeface="Aptos"/>
                <a:cs typeface="Aptos"/>
              </a:defRPr>
            </a:pPr>
            <a:r>
              <a:rPr sz="1275" b="0">
                <a:solidFill>
                  <a:srgbClr val="65746B"/>
                </a:solidFill>
                <a:latin typeface="Aptos"/>
                <a:ea typeface="Aptos"/>
                <a:cs typeface="Aptos"/>
              </a:rPr>
              <a:t>pool / dropout</a:t>
            </a:r>
          </a:p>
        </p:txBody>
      </p:sp>
      <p:sp>
        <p:nvSpPr>
          <p:cNvPr id="26" name="Rectangle 25">
            <a:extLst>
              <a:ext uri="{FF2B5EF4-FFF2-40B4-BE49-F238E27FC236}">
                <a16:creationId xmlns:a16="http://schemas.microsoft.com/office/drawing/2014/main" id="{36112894-2910-4D09-A4F3-37B69BC4F707}"/>
              </a:ext>
            </a:extLst>
          </p:cNvPr>
          <p:cNvSpPr>
            <a:spLocks noGrp="1"/>
          </p:cNvSpPr>
          <p:nvPr/>
        </p:nvSpPr>
        <p:spPr>
          <a:xfrm>
            <a:off x="9648825" y="2324100"/>
            <a:ext cx="285750" cy="266700"/>
          </a:xfrm>
          <a:prstGeom prst="rect">
            <a:avLst/>
          </a:prstGeom>
          <a:noFill/>
          <a:ln w="0">
            <a:noFill/>
            <a:prstDash val="solid"/>
          </a:ln>
        </p:spPr>
        <p:txBody>
          <a:bodyPr wrap="square" lIns="0" tIns="0" rIns="0" bIns="0" anchor="t">
            <a:normAutofit fontScale="93333"/>
          </a:bodyPr>
          <a:lstStyle>
            <a:defPPr algn="ctr">
              <a:defRPr sz="1875" b="1">
                <a:solidFill>
                  <a:srgbClr val="C2943B"/>
                </a:solidFill>
                <a:latin typeface="Aptos"/>
                <a:ea typeface="Aptos"/>
                <a:cs typeface="Aptos"/>
              </a:defRPr>
            </a:defPPr>
          </a:lstStyle>
          <a:p>
            <a:pPr algn="ctr">
              <a:defRPr sz="1875" b="1">
                <a:solidFill>
                  <a:srgbClr val="C2943B"/>
                </a:solidFill>
                <a:latin typeface="Aptos"/>
                <a:ea typeface="Aptos"/>
                <a:cs typeface="Aptos"/>
              </a:defRPr>
            </a:pPr>
            <a:r>
              <a:rPr sz="1875" b="1">
                <a:solidFill>
                  <a:srgbClr val="C2943B"/>
                </a:solidFill>
                <a:latin typeface="Aptos"/>
                <a:ea typeface="Aptos"/>
                <a:cs typeface="Aptos"/>
              </a:rPr>
              <a:t>›</a:t>
            </a:r>
          </a:p>
        </p:txBody>
      </p:sp>
      <p:sp>
        <p:nvSpPr>
          <p:cNvPr id="27" name="Rectangle 26">
            <a:extLst>
              <a:ext uri="{FF2B5EF4-FFF2-40B4-BE49-F238E27FC236}">
                <a16:creationId xmlns:a16="http://schemas.microsoft.com/office/drawing/2014/main" id="{58FDE771-A362-448E-8BD9-CF8D54EC4025}"/>
              </a:ext>
            </a:extLst>
          </p:cNvPr>
          <p:cNvSpPr>
            <a:spLocks noGrp="1"/>
          </p:cNvSpPr>
          <p:nvPr/>
        </p:nvSpPr>
        <p:spPr>
          <a:xfrm>
            <a:off x="9953625" y="2009775"/>
            <a:ext cx="1524000" cy="1000125"/>
          </a:xfrm>
          <a:prstGeom prst="rect">
            <a:avLst/>
          </a:prstGeom>
          <a:solidFill>
            <a:srgbClr val="E8EEE5"/>
          </a:solidFill>
          <a:ln w="9525">
            <a:solidFill>
              <a:srgbClr val="D6DED4"/>
            </a:solidFill>
            <a:prstDash val="solid"/>
          </a:ln>
        </p:spPr>
      </p:sp>
      <p:sp>
        <p:nvSpPr>
          <p:cNvPr id="28" name="Rectangle 27">
            <a:extLst>
              <a:ext uri="{FF2B5EF4-FFF2-40B4-BE49-F238E27FC236}">
                <a16:creationId xmlns:a16="http://schemas.microsoft.com/office/drawing/2014/main" id="{E15C2508-AAC6-4E7C-A09C-D046B51DC648}"/>
              </a:ext>
            </a:extLst>
          </p:cNvPr>
          <p:cNvSpPr>
            <a:spLocks noGrp="1"/>
          </p:cNvSpPr>
          <p:nvPr/>
        </p:nvSpPr>
        <p:spPr>
          <a:xfrm>
            <a:off x="10086975" y="2171700"/>
            <a:ext cx="1276350" cy="304800"/>
          </a:xfrm>
          <a:prstGeom prst="rect">
            <a:avLst/>
          </a:prstGeom>
          <a:noFill/>
          <a:ln w="0">
            <a:noFill/>
            <a:prstDash val="solid"/>
          </a:ln>
        </p:spPr>
        <p:txBody>
          <a:bodyPr wrap="square" lIns="0" tIns="0" rIns="0" bIns="0" anchor="t">
            <a:normAutofit/>
          </a:bodyPr>
          <a:lstStyle>
            <a:defPPr algn="l">
              <a:defRPr sz="1575" b="1">
                <a:solidFill>
                  <a:srgbClr val="214C3B"/>
                </a:solidFill>
                <a:latin typeface="Aptos"/>
                <a:ea typeface="Aptos"/>
                <a:cs typeface="Aptos"/>
              </a:defRPr>
            </a:defPPr>
          </a:lstStyle>
          <a:p>
            <a:pPr algn="l">
              <a:defRPr sz="1575" b="1">
                <a:solidFill>
                  <a:srgbClr val="214C3B"/>
                </a:solidFill>
                <a:latin typeface="Aptos"/>
                <a:ea typeface="Aptos"/>
                <a:cs typeface="Aptos"/>
              </a:defRPr>
            </a:pPr>
            <a:r>
              <a:rPr sz="1575" b="1">
                <a:solidFill>
                  <a:srgbClr val="214C3B"/>
                </a:solidFill>
                <a:latin typeface="Aptos"/>
                <a:ea typeface="Aptos"/>
                <a:cs typeface="Aptos"/>
              </a:rPr>
              <a:t>240</a:t>
            </a:r>
          </a:p>
        </p:txBody>
      </p:sp>
      <p:sp>
        <p:nvSpPr>
          <p:cNvPr id="29" name="Rectangle 28">
            <a:extLst>
              <a:ext uri="{FF2B5EF4-FFF2-40B4-BE49-F238E27FC236}">
                <a16:creationId xmlns:a16="http://schemas.microsoft.com/office/drawing/2014/main" id="{B9F80CE1-3929-4E8D-A5E6-67DB673C7A5B}"/>
              </a:ext>
            </a:extLst>
          </p:cNvPr>
          <p:cNvSpPr>
            <a:spLocks noGrp="1"/>
          </p:cNvSpPr>
          <p:nvPr/>
        </p:nvSpPr>
        <p:spPr>
          <a:xfrm>
            <a:off x="10086975" y="2543175"/>
            <a:ext cx="1276350" cy="323850"/>
          </a:xfrm>
          <a:prstGeom prst="rect">
            <a:avLst/>
          </a:prstGeom>
          <a:noFill/>
          <a:ln w="0">
            <a:noFill/>
            <a:prstDash val="solid"/>
          </a:ln>
        </p:spPr>
        <p:txBody>
          <a:bodyPr wrap="square" lIns="0" tIns="0" rIns="0" bIns="0" anchor="t">
            <a:normAutofit/>
          </a:bodyPr>
          <a:lstStyle>
            <a:defPPr algn="l">
              <a:defRPr sz="1275" b="0">
                <a:solidFill>
                  <a:srgbClr val="65746B"/>
                </a:solidFill>
                <a:latin typeface="Aptos"/>
                <a:ea typeface="Aptos"/>
                <a:cs typeface="Aptos"/>
              </a:defRPr>
            </a:defPPr>
          </a:lstStyle>
          <a:p>
            <a:pPr algn="l">
              <a:defRPr sz="1275" b="0">
                <a:solidFill>
                  <a:srgbClr val="65746B"/>
                </a:solidFill>
                <a:latin typeface="Aptos"/>
                <a:ea typeface="Aptos"/>
                <a:cs typeface="Aptos"/>
              </a:defRPr>
            </a:pPr>
            <a:r>
              <a:rPr sz="1275" b="0">
                <a:solidFill>
                  <a:srgbClr val="65746B"/>
                </a:solidFill>
                <a:latin typeface="Aptos"/>
                <a:ea typeface="Aptos"/>
                <a:cs typeface="Aptos"/>
              </a:rPr>
              <a:t>learned values</a:t>
            </a:r>
          </a:p>
        </p:txBody>
      </p:sp>
      <p:sp>
        <p:nvSpPr>
          <p:cNvPr id="30" name="Rectangle 29">
            <a:extLst>
              <a:ext uri="{FF2B5EF4-FFF2-40B4-BE49-F238E27FC236}">
                <a16:creationId xmlns:a16="http://schemas.microsoft.com/office/drawing/2014/main" id="{BED60A74-03FE-4FFB-9E06-F77D88487885}"/>
              </a:ext>
            </a:extLst>
          </p:cNvPr>
          <p:cNvSpPr>
            <a:spLocks noGrp="1"/>
          </p:cNvSpPr>
          <p:nvPr/>
        </p:nvSpPr>
        <p:spPr>
          <a:xfrm>
            <a:off x="723900" y="3533775"/>
            <a:ext cx="2095500" cy="285750"/>
          </a:xfrm>
          <a:prstGeom prst="rect">
            <a:avLst/>
          </a:prstGeom>
          <a:noFill/>
          <a:ln w="0">
            <a:noFill/>
            <a:prstDash val="solid"/>
          </a:ln>
        </p:spPr>
        <p:txBody>
          <a:bodyPr wrap="square" lIns="0" tIns="0" rIns="0" bIns="0" anchor="t">
            <a:normAutofit/>
          </a:bodyPr>
          <a:lstStyle>
            <a:defPPr algn="l">
              <a:defRPr sz="1350" b="1">
                <a:solidFill>
                  <a:srgbClr val="789578"/>
                </a:solidFill>
                <a:latin typeface="Aptos"/>
                <a:ea typeface="Aptos"/>
                <a:cs typeface="Aptos"/>
              </a:defRPr>
            </a:defPPr>
          </a:lstStyle>
          <a:p>
            <a:pPr algn="l">
              <a:defRPr sz="1350" b="1">
                <a:solidFill>
                  <a:srgbClr val="789578"/>
                </a:solidFill>
                <a:latin typeface="Aptos"/>
                <a:ea typeface="Aptos"/>
                <a:cs typeface="Aptos"/>
              </a:defRPr>
            </a:pPr>
            <a:r>
              <a:rPr sz="1350" b="1">
                <a:solidFill>
                  <a:srgbClr val="789578"/>
                </a:solidFill>
                <a:latin typeface="Aptos"/>
                <a:ea typeface="Aptos"/>
                <a:cs typeface="Aptos"/>
              </a:rPr>
              <a:t>Feature path</a:t>
            </a:r>
          </a:p>
        </p:txBody>
      </p:sp>
      <p:sp>
        <p:nvSpPr>
          <p:cNvPr id="31" name="Rectangle 30">
            <a:extLst>
              <a:ext uri="{FF2B5EF4-FFF2-40B4-BE49-F238E27FC236}">
                <a16:creationId xmlns:a16="http://schemas.microsoft.com/office/drawing/2014/main" id="{5C26EE10-981D-4307-A31D-F648629479F1}"/>
              </a:ext>
            </a:extLst>
          </p:cNvPr>
          <p:cNvSpPr>
            <a:spLocks noGrp="1"/>
          </p:cNvSpPr>
          <p:nvPr/>
        </p:nvSpPr>
        <p:spPr>
          <a:xfrm>
            <a:off x="3048000" y="3400425"/>
            <a:ext cx="3905250" cy="628650"/>
          </a:xfrm>
          <a:prstGeom prst="rect">
            <a:avLst/>
          </a:prstGeom>
          <a:solidFill>
            <a:srgbClr val="F0E7D1"/>
          </a:solidFill>
          <a:ln w="9525">
            <a:solidFill>
              <a:srgbClr val="D6DED4"/>
            </a:solidFill>
            <a:prstDash val="solid"/>
          </a:ln>
        </p:spPr>
      </p:sp>
      <p:sp>
        <p:nvSpPr>
          <p:cNvPr id="32" name="Rectangle 31">
            <a:extLst>
              <a:ext uri="{FF2B5EF4-FFF2-40B4-BE49-F238E27FC236}">
                <a16:creationId xmlns:a16="http://schemas.microsoft.com/office/drawing/2014/main" id="{A1F0099F-5828-4777-BAAC-0D9A2A1C3FB0}"/>
              </a:ext>
            </a:extLst>
          </p:cNvPr>
          <p:cNvSpPr>
            <a:spLocks noGrp="1"/>
          </p:cNvSpPr>
          <p:nvPr/>
        </p:nvSpPr>
        <p:spPr>
          <a:xfrm>
            <a:off x="3257550" y="3571875"/>
            <a:ext cx="3476625" cy="304800"/>
          </a:xfrm>
          <a:prstGeom prst="rect">
            <a:avLst/>
          </a:prstGeom>
          <a:noFill/>
          <a:ln w="0">
            <a:noFill/>
            <a:prstDash val="solid"/>
          </a:ln>
        </p:spPr>
        <p:txBody>
          <a:bodyPr wrap="square" lIns="0" tIns="0" rIns="0" bIns="0" anchor="t">
            <a:normAutofit/>
          </a:bodyPr>
          <a:lstStyle>
            <a:defPPr algn="l">
              <a:defRPr sz="1500" b="1">
                <a:solidFill>
                  <a:srgbClr val="26322D"/>
                </a:solidFill>
                <a:latin typeface="Aptos"/>
                <a:ea typeface="Aptos"/>
                <a:cs typeface="Aptos"/>
              </a:defRPr>
            </a:defPPr>
          </a:lstStyle>
          <a:p>
            <a:pPr algn="l">
              <a:defRPr sz="1500" b="1">
                <a:solidFill>
                  <a:srgbClr val="26322D"/>
                </a:solidFill>
                <a:latin typeface="Aptos"/>
                <a:ea typeface="Aptos"/>
                <a:cs typeface="Aptos"/>
              </a:defRPr>
            </a:pPr>
            <a:r>
              <a:rPr sz="1500" b="1">
                <a:solidFill>
                  <a:srgbClr val="26322D"/>
                </a:solidFill>
                <a:latin typeface="Aptos"/>
                <a:ea typeface="Aptos"/>
                <a:cs typeface="Aptos"/>
              </a:rPr>
              <a:t>60 normalized summary features</a:t>
            </a:r>
          </a:p>
        </p:txBody>
      </p:sp>
      <p:sp>
        <p:nvSpPr>
          <p:cNvPr id="33" name="Rectangle 32">
            <a:extLst>
              <a:ext uri="{FF2B5EF4-FFF2-40B4-BE49-F238E27FC236}">
                <a16:creationId xmlns:a16="http://schemas.microsoft.com/office/drawing/2014/main" id="{FDF9A036-05CA-4766-8631-1EFC72A6A443}"/>
              </a:ext>
            </a:extLst>
          </p:cNvPr>
          <p:cNvSpPr>
            <a:spLocks noGrp="1"/>
          </p:cNvSpPr>
          <p:nvPr/>
        </p:nvSpPr>
        <p:spPr>
          <a:xfrm>
            <a:off x="7181850" y="3590925"/>
            <a:ext cx="381000" cy="304800"/>
          </a:xfrm>
          <a:prstGeom prst="rect">
            <a:avLst/>
          </a:prstGeom>
          <a:noFill/>
          <a:ln w="0">
            <a:noFill/>
            <a:prstDash val="solid"/>
          </a:ln>
        </p:spPr>
        <p:txBody>
          <a:bodyPr wrap="square" lIns="0" tIns="0" rIns="0" bIns="0" anchor="t">
            <a:normAutofit/>
          </a:bodyPr>
          <a:lstStyle>
            <a:defPPr algn="ctr">
              <a:defRPr sz="1950" b="1">
                <a:solidFill>
                  <a:srgbClr val="C2943B"/>
                </a:solidFill>
                <a:latin typeface="Aptos"/>
                <a:ea typeface="Aptos"/>
                <a:cs typeface="Aptos"/>
              </a:defRPr>
            </a:defPPr>
          </a:lstStyle>
          <a:p>
            <a:pPr algn="ctr">
              <a:defRPr sz="1950" b="1">
                <a:solidFill>
                  <a:srgbClr val="C2943B"/>
                </a:solidFill>
                <a:latin typeface="Aptos"/>
                <a:ea typeface="Aptos"/>
                <a:cs typeface="Aptos"/>
              </a:defRPr>
            </a:pPr>
            <a:r>
              <a:rPr sz="1950" b="1">
                <a:solidFill>
                  <a:srgbClr val="C2943B"/>
                </a:solidFill>
                <a:latin typeface="Aptos"/>
                <a:ea typeface="Aptos"/>
                <a:cs typeface="Aptos"/>
              </a:rPr>
              <a:t>+</a:t>
            </a:r>
          </a:p>
        </p:txBody>
      </p:sp>
      <p:sp>
        <p:nvSpPr>
          <p:cNvPr id="34" name="Rectangle 33">
            <a:extLst>
              <a:ext uri="{FF2B5EF4-FFF2-40B4-BE49-F238E27FC236}">
                <a16:creationId xmlns:a16="http://schemas.microsoft.com/office/drawing/2014/main" id="{46C8FCBA-EDFB-4C9F-845D-2538E7367A10}"/>
              </a:ext>
            </a:extLst>
          </p:cNvPr>
          <p:cNvSpPr>
            <a:spLocks noGrp="1"/>
          </p:cNvSpPr>
          <p:nvPr/>
        </p:nvSpPr>
        <p:spPr>
          <a:xfrm>
            <a:off x="7791450" y="3400425"/>
            <a:ext cx="3162300" cy="628650"/>
          </a:xfrm>
          <a:prstGeom prst="rect">
            <a:avLst/>
          </a:prstGeom>
          <a:solidFill>
            <a:srgbClr val="214C3B"/>
          </a:solidFill>
          <a:ln w="9525">
            <a:solidFill>
              <a:srgbClr val="214C3B"/>
            </a:solidFill>
            <a:prstDash val="solid"/>
          </a:ln>
        </p:spPr>
      </p:sp>
      <p:sp>
        <p:nvSpPr>
          <p:cNvPr id="35" name="Rectangle 34">
            <a:extLst>
              <a:ext uri="{FF2B5EF4-FFF2-40B4-BE49-F238E27FC236}">
                <a16:creationId xmlns:a16="http://schemas.microsoft.com/office/drawing/2014/main" id="{577AAB73-E871-4817-B217-E9AA8A8A5B61}"/>
              </a:ext>
            </a:extLst>
          </p:cNvPr>
          <p:cNvSpPr>
            <a:spLocks noGrp="1"/>
          </p:cNvSpPr>
          <p:nvPr/>
        </p:nvSpPr>
        <p:spPr>
          <a:xfrm>
            <a:off x="8020050" y="3571875"/>
            <a:ext cx="2705100" cy="304800"/>
          </a:xfrm>
          <a:prstGeom prst="rect">
            <a:avLst/>
          </a:prstGeom>
          <a:noFill/>
          <a:ln w="0">
            <a:noFill/>
            <a:prstDash val="solid"/>
          </a:ln>
        </p:spPr>
        <p:txBody>
          <a:bodyPr wrap="square" lIns="0" tIns="0" rIns="0" bIns="0" anchor="t">
            <a:normAutofit/>
          </a:bodyPr>
          <a:lstStyle>
            <a:defPPr algn="l">
              <a:defRPr sz="1425" b="1">
                <a:solidFill>
                  <a:srgbClr val="FFFEFA"/>
                </a:solidFill>
                <a:latin typeface="Aptos"/>
                <a:ea typeface="Aptos"/>
                <a:cs typeface="Aptos"/>
              </a:defRPr>
            </a:defPPr>
          </a:lstStyle>
          <a:p>
            <a:pPr algn="l">
              <a:defRPr sz="1425" b="1">
                <a:solidFill>
                  <a:srgbClr val="FFFEFA"/>
                </a:solidFill>
                <a:latin typeface="Aptos"/>
                <a:ea typeface="Aptos"/>
                <a:cs typeface="Aptos"/>
              </a:defRPr>
            </a:pPr>
            <a:r>
              <a:rPr sz="1425" b="1">
                <a:solidFill>
                  <a:srgbClr val="FFFEFA"/>
                </a:solidFill>
                <a:latin typeface="Aptos"/>
                <a:ea typeface="Aptos"/>
                <a:cs typeface="Aptos"/>
              </a:rPr>
              <a:t>Concatenate  →  Dense 64  →  5</a:t>
            </a:r>
          </a:p>
        </p:txBody>
      </p:sp>
      <p:sp>
        <p:nvSpPr>
          <p:cNvPr id="36" name="Rectangle 35">
            <a:extLst>
              <a:ext uri="{FF2B5EF4-FFF2-40B4-BE49-F238E27FC236}">
                <a16:creationId xmlns:a16="http://schemas.microsoft.com/office/drawing/2014/main" id="{2EE41D1C-E39D-477A-A38E-B9AFABB6C330}"/>
              </a:ext>
            </a:extLst>
          </p:cNvPr>
          <p:cNvSpPr>
            <a:spLocks noGrp="1"/>
          </p:cNvSpPr>
          <p:nvPr/>
        </p:nvSpPr>
        <p:spPr>
          <a:xfrm>
            <a:off x="723900" y="4562475"/>
            <a:ext cx="10191750" cy="723900"/>
          </a:xfrm>
          <a:prstGeom prst="rect">
            <a:avLst/>
          </a:prstGeom>
          <a:noFill/>
          <a:ln w="0">
            <a:noFill/>
            <a:prstDash val="solid"/>
          </a:ln>
        </p:spPr>
        <p:txBody>
          <a:bodyPr wrap="square" lIns="0" tIns="0" rIns="0" bIns="0" anchor="t">
            <a:normAutofit/>
          </a:bodyPr>
          <a:lstStyle>
            <a:defPPr algn="l">
              <a:defRPr sz="1500" b="0">
                <a:solidFill>
                  <a:srgbClr val="26322D"/>
                </a:solidFill>
                <a:latin typeface="Aptos"/>
                <a:ea typeface="Aptos"/>
                <a:cs typeface="Aptos"/>
              </a:defRPr>
            </a:defPPr>
          </a:lstStyle>
          <a:p>
            <a:pPr algn="l">
              <a:defRPr sz="1500" b="0">
                <a:solidFill>
                  <a:srgbClr val="26322D"/>
                </a:solidFill>
                <a:latin typeface="Aptos"/>
                <a:ea typeface="Aptos"/>
                <a:cs typeface="Aptos"/>
              </a:defRPr>
            </a:pPr>
            <a:r>
              <a:rPr sz="1500" b="0">
                <a:solidFill>
                  <a:srgbClr val="26322D"/>
                </a:solidFill>
                <a:latin typeface="Aptos"/>
                <a:ea typeface="Aptos"/>
                <a:cs typeface="Aptos"/>
              </a:rPr>
              <a:t>Each of four Conv1d blocks uses 24 output channels, ReLU, max-pooling and dropout 0.3. Sequence lengths: 170 → 85 → 42 → 21 → 10; the CNN output contains 240 learned values.</a:t>
            </a:r>
          </a:p>
        </p:txBody>
      </p:sp>
      <p:sp>
        <p:nvSpPr>
          <p:cNvPr id="37" name="Rectangle 36">
            <a:extLst>
              <a:ext uri="{FF2B5EF4-FFF2-40B4-BE49-F238E27FC236}">
                <a16:creationId xmlns:a16="http://schemas.microsoft.com/office/drawing/2014/main" id="{56D9F3F5-7579-4A34-886B-105E0B3CC42F}"/>
              </a:ext>
            </a:extLst>
          </p:cNvPr>
          <p:cNvSpPr>
            <a:spLocks noGrp="1"/>
          </p:cNvSpPr>
          <p:nvPr/>
        </p:nvSpPr>
        <p:spPr>
          <a:xfrm>
            <a:off x="723900" y="5619750"/>
            <a:ext cx="10382250" cy="314325"/>
          </a:xfrm>
          <a:prstGeom prst="rect">
            <a:avLst/>
          </a:prstGeom>
          <a:noFill/>
          <a:ln w="0">
            <a:noFill/>
            <a:prstDash val="solid"/>
          </a:ln>
        </p:spPr>
        <p:txBody>
          <a:bodyPr wrap="square" lIns="0" tIns="0" rIns="0" bIns="0" anchor="t">
            <a:normAutofit/>
          </a:bodyPr>
          <a:lstStyle>
            <a:defPPr algn="l">
              <a:defRPr sz="1425" b="1">
                <a:solidFill>
                  <a:srgbClr val="214C3B"/>
                </a:solidFill>
                <a:latin typeface="Aptos"/>
                <a:ea typeface="Aptos"/>
                <a:cs typeface="Aptos"/>
              </a:defRPr>
            </a:defPPr>
          </a:lstStyle>
          <a:p>
            <a:pPr algn="l">
              <a:defRPr sz="1425" b="1">
                <a:solidFill>
                  <a:srgbClr val="214C3B"/>
                </a:solidFill>
                <a:latin typeface="Aptos"/>
                <a:ea typeface="Aptos"/>
                <a:cs typeface="Aptos"/>
              </a:defRPr>
            </a:pPr>
            <a:r>
              <a:rPr sz="1425" b="1">
                <a:solidFill>
                  <a:srgbClr val="214C3B"/>
                </a:solidFill>
                <a:latin typeface="Aptos"/>
                <a:ea typeface="Aptos"/>
                <a:cs typeface="Aptos"/>
              </a:rPr>
              <a:t>The hybrid dense input has 240 + 60 = 300 values.</a:t>
            </a:r>
          </a:p>
        </p:txBody>
      </p:sp>
    </p:spTree>
    <p:extLst>
      <p:ext uri="{BB962C8B-B14F-4D97-AF65-F5344CB8AC3E}">
        <p14:creationId xmlns:p14="http://schemas.microsoft.com/office/powerpoint/2010/main" val="1140564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B7ADA82-8B94-4173-A6C0-FE08F239F45A}"/>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TRAINING PROTOCOL</a:t>
            </a:r>
          </a:p>
        </p:txBody>
      </p:sp>
      <p:sp>
        <p:nvSpPr>
          <p:cNvPr id="2" name="Rectangle 1">
            <a:extLst>
              <a:ext uri="{FF2B5EF4-FFF2-40B4-BE49-F238E27FC236}">
                <a16:creationId xmlns:a16="http://schemas.microsoft.com/office/drawing/2014/main" id="{AE726656-AF5C-491F-8BAE-850865E2C983}"/>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Validation macro-F1 governs every model choice</a:t>
            </a:r>
          </a:p>
        </p:txBody>
      </p:sp>
      <p:sp>
        <p:nvSpPr>
          <p:cNvPr id="3" name="Rectangle 2">
            <a:extLst>
              <a:ext uri="{FF2B5EF4-FFF2-40B4-BE49-F238E27FC236}">
                <a16:creationId xmlns:a16="http://schemas.microsoft.com/office/drawing/2014/main" id="{13A748C2-96B3-48D4-996E-129194C3FEDE}"/>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CC2BF47D-9871-4068-A6BE-53DDCFADD9C5}"/>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CE786A17-DD34-4313-ABAB-63BCCFE58024}"/>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11 / 20</a:t>
            </a:r>
          </a:p>
        </p:txBody>
      </p:sp>
      <p:graphicFrame>
        <p:nvGraphicFramePr>
          <p:cNvPr id="6" name="Table 5">
            <a:extLst>
              <a:ext uri="{FF2B5EF4-FFF2-40B4-BE49-F238E27FC236}">
                <a16:creationId xmlns:a16="http://schemas.microsoft.com/office/drawing/2014/main" id="{91DD2841-5258-4297-8052-56F096563116}"/>
              </a:ext>
            </a:extLst>
          </p:cNvPr>
          <p:cNvGraphicFramePr/>
          <p:nvPr/>
        </p:nvGraphicFramePr>
        <p:xfrm>
          <a:off x="723900" y="1581150"/>
          <a:ext cx="10744200" cy="1531620"/>
        </p:xfrm>
        <a:graphic>
          <a:graphicData uri="http://schemas.openxmlformats.org/drawingml/2006/table">
            <a:tbl>
              <a:tblPr/>
              <a:tblGrid>
                <a:gridCol w="2333625">
                  <a:extLst>
                    <a:ext uri="{9D8B030D-6E8A-4147-A177-3AD203B41FA5}">
                      <a16:colId xmlns:a16="http://schemas.microsoft.com/office/drawing/2014/main" val="20000"/>
                    </a:ext>
                  </a:extLst>
                </a:gridCol>
                <a:gridCol w="4905375">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342900">
                <a:tc>
                  <a:txBody>
                    <a:bodyPr/>
                    <a:lstStyle/>
                    <a:p>
                      <a:r>
                        <a:rPr sz="1350" b="1">
                          <a:solidFill>
                            <a:srgbClr val="FFFEFA"/>
                          </a:solidFill>
                          <a:latin typeface="Aptos"/>
                          <a:ea typeface="Aptos"/>
                          <a:cs typeface="Aptos"/>
                        </a:rPr>
                        <a:t>Model / option</a:t>
                      </a:r>
                    </a:p>
                  </a:txBody>
                  <a:tcPr>
                    <a:lnL w="9525">
                      <a:solidFill>
                        <a:srgbClr val="D6DED4"/>
                      </a:solidFill>
                      <a:prstDash val="soli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Search or training setup</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Selected setting</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extLst>
                  <a:ext uri="{0D108BD9-81ED-4DB2-BD59-A6C34878D82A}">
                    <a16:rowId xmlns:a16="http://schemas.microsoft.com/office/drawing/2014/main" val="10000"/>
                  </a:ext>
                </a:extLst>
              </a:tr>
              <a:tr h="0">
                <a:tc>
                  <a:txBody>
                    <a:bodyPr/>
                    <a:lstStyle/>
                    <a:p>
                      <a:r>
                        <a:rPr sz="1350" b="1">
                          <a:solidFill>
                            <a:srgbClr val="26322D"/>
                          </a:solidFill>
                          <a:latin typeface="Aptos"/>
                          <a:ea typeface="Aptos"/>
                          <a:cs typeface="Aptos"/>
                        </a:rPr>
                        <a:t>SVM</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C ∈ {0.1, 1, 10, 100}; gamma ∈ {scale, 0.01}</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C=10, gamma=0.01</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1"/>
                  </a:ext>
                </a:extLst>
              </a:tr>
              <a:tr h="0">
                <a:tc>
                  <a:txBody>
                    <a:bodyPr/>
                    <a:lstStyle/>
                    <a:p>
                      <a:r>
                        <a:rPr sz="1350" b="1">
                          <a:solidFill>
                            <a:srgbClr val="26322D"/>
                          </a:solidFill>
                          <a:latin typeface="Aptos"/>
                          <a:ea typeface="Aptos"/>
                          <a:cs typeface="Aptos"/>
                        </a:rPr>
                        <a:t>Raw CNN</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Adam 0.001; weight decay 0.0001; batch 64</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Best checkpoint at epoch 26</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extLst>
                  <a:ext uri="{0D108BD9-81ED-4DB2-BD59-A6C34878D82A}">
                    <a16:rowId xmlns:a16="http://schemas.microsoft.com/office/drawing/2014/main" val="10002"/>
                  </a:ext>
                </a:extLst>
              </a:tr>
              <a:tr h="0">
                <a:tc>
                  <a:txBody>
                    <a:bodyPr/>
                    <a:lstStyle/>
                    <a:p>
                      <a:r>
                        <a:rPr sz="1350" b="1">
                          <a:solidFill>
                            <a:srgbClr val="26322D"/>
                          </a:solidFill>
                          <a:latin typeface="Aptos"/>
                          <a:ea typeface="Aptos"/>
                          <a:cs typeface="Aptos"/>
                        </a:rPr>
                        <a:t>CNN + statistics</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Weighted cross-entropy; patience 12; max 60 epochs</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350" b="0">
                          <a:solidFill>
                            <a:srgbClr val="26322D"/>
                          </a:solidFill>
                          <a:latin typeface="Aptos"/>
                          <a:ea typeface="Aptos"/>
                          <a:cs typeface="Aptos"/>
                        </a:rPr>
                        <a:t>Best checkpoint at epoch 39</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3"/>
                  </a:ext>
                </a:extLst>
              </a:tr>
              <a:tr h="0">
                <a:tc>
                  <a:txBody>
                    <a:bodyPr/>
                    <a:lstStyle/>
                    <a:p>
                      <a:r>
                        <a:rPr sz="1350" b="1">
                          <a:solidFill>
                            <a:srgbClr val="26322D"/>
                          </a:solidFill>
                          <a:latin typeface="Aptos"/>
                          <a:ea typeface="Aptos"/>
                          <a:cs typeface="Aptos"/>
                        </a:rPr>
                        <a:t>Randomness</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Seed 42; deterministic torch algorithms</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350" b="0">
                          <a:solidFill>
                            <a:srgbClr val="26322D"/>
                          </a:solidFill>
                          <a:latin typeface="Aptos"/>
                          <a:ea typeface="Aptos"/>
                          <a:cs typeface="Aptos"/>
                        </a:rPr>
                        <a:t>Same seed for data and training</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661700B6-E566-4520-BB2A-54C13608DFB7}"/>
              </a:ext>
            </a:extLst>
          </p:cNvPr>
          <p:cNvSpPr>
            <a:spLocks noGrp="1"/>
          </p:cNvSpPr>
          <p:nvPr/>
        </p:nvSpPr>
        <p:spPr>
          <a:xfrm>
            <a:off x="723900" y="5410200"/>
            <a:ext cx="10382250" cy="409575"/>
          </a:xfrm>
          <a:prstGeom prst="rect">
            <a:avLst/>
          </a:prstGeom>
          <a:noFill/>
          <a:ln w="0">
            <a:noFill/>
            <a:prstDash val="solid"/>
          </a:ln>
        </p:spPr>
        <p:txBody>
          <a:bodyPr wrap="square" lIns="0" tIns="0" rIns="0" bIns="0" anchor="t">
            <a:normAutofit/>
          </a:bodyPr>
          <a:lstStyle>
            <a:defPPr algn="l">
              <a:defRPr sz="1725" b="1">
                <a:solidFill>
                  <a:srgbClr val="214C3B"/>
                </a:solidFill>
                <a:latin typeface="Aptos"/>
                <a:ea typeface="Aptos"/>
                <a:cs typeface="Aptos"/>
              </a:defRPr>
            </a:defPPr>
          </a:lstStyle>
          <a:p>
            <a:pPr algn="l">
              <a:defRPr sz="1725" b="1">
                <a:solidFill>
                  <a:srgbClr val="214C3B"/>
                </a:solidFill>
                <a:latin typeface="Aptos"/>
                <a:ea typeface="Aptos"/>
                <a:cs typeface="Aptos"/>
              </a:defRPr>
            </a:pPr>
            <a:r>
              <a:rPr sz="1725" b="1">
                <a:solidFill>
                  <a:srgbClr val="214C3B"/>
                </a:solidFill>
                <a:latin typeface="Aptos"/>
                <a:ea typeface="Aptos"/>
                <a:cs typeface="Aptos"/>
              </a:rPr>
              <a:t>Winner: CNN + statistics, validation macro-F1 = 0.726.</a:t>
            </a:r>
          </a:p>
        </p:txBody>
      </p:sp>
      <p:sp>
        <p:nvSpPr>
          <p:cNvPr id="8" name="Rectangle 7">
            <a:extLst>
              <a:ext uri="{FF2B5EF4-FFF2-40B4-BE49-F238E27FC236}">
                <a16:creationId xmlns:a16="http://schemas.microsoft.com/office/drawing/2014/main" id="{635CE02B-2933-4235-B95E-9709B32CB3EF}"/>
              </a:ext>
            </a:extLst>
          </p:cNvPr>
          <p:cNvSpPr>
            <a:spLocks noGrp="1"/>
          </p:cNvSpPr>
          <p:nvPr/>
        </p:nvSpPr>
        <p:spPr>
          <a:xfrm>
            <a:off x="723900" y="5857875"/>
            <a:ext cx="10382250" cy="342900"/>
          </a:xfrm>
          <a:prstGeom prst="rect">
            <a:avLst/>
          </a:prstGeom>
          <a:noFill/>
          <a:ln w="0">
            <a:noFill/>
            <a:prstDash val="solid"/>
          </a:ln>
        </p:spPr>
        <p:txBody>
          <a:bodyPr wrap="square" lIns="0" tIns="0" rIns="0" bIns="0" anchor="t">
            <a:normAutofit/>
          </a:bodyPr>
          <a:lstStyle>
            <a:defPPr algn="l">
              <a:defRPr sz="1350" b="0">
                <a:solidFill>
                  <a:srgbClr val="65746B"/>
                </a:solidFill>
                <a:latin typeface="Aptos"/>
                <a:ea typeface="Aptos"/>
                <a:cs typeface="Aptos"/>
              </a:defRPr>
            </a:defPPr>
          </a:lstStyle>
          <a:p>
            <a:pPr algn="l">
              <a:defRPr sz="1350" b="0">
                <a:solidFill>
                  <a:srgbClr val="65746B"/>
                </a:solidFill>
                <a:latin typeface="Aptos"/>
                <a:ea typeface="Aptos"/>
                <a:cs typeface="Aptos"/>
              </a:defRPr>
            </a:pPr>
            <a:r>
              <a:rPr sz="1350" b="0">
                <a:solidFill>
                  <a:srgbClr val="65746B"/>
                </a:solidFill>
                <a:latin typeface="Aptos"/>
                <a:ea typeface="Aptos"/>
                <a:cs typeface="Aptos"/>
              </a:rPr>
              <a:t>Test scores are not used to choose a checkpoint or model.</a:t>
            </a:r>
          </a:p>
        </p:txBody>
      </p:sp>
    </p:spTree>
    <p:extLst>
      <p:ext uri="{BB962C8B-B14F-4D97-AF65-F5344CB8AC3E}">
        <p14:creationId xmlns:p14="http://schemas.microsoft.com/office/powerpoint/2010/main" val="144560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32859A-20DF-4B64-A782-EB3C2B9F8730}"/>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VALIDATION SET · 571 WINDOWS</a:t>
            </a:r>
          </a:p>
        </p:txBody>
      </p:sp>
      <p:sp>
        <p:nvSpPr>
          <p:cNvPr id="2" name="Rectangle 1">
            <a:extLst>
              <a:ext uri="{FF2B5EF4-FFF2-40B4-BE49-F238E27FC236}">
                <a16:creationId xmlns:a16="http://schemas.microsoft.com/office/drawing/2014/main" id="{1155E70A-B08E-41BE-8081-22825E354148}"/>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Validation results select the hybrid</a:t>
            </a:r>
          </a:p>
        </p:txBody>
      </p:sp>
      <p:sp>
        <p:nvSpPr>
          <p:cNvPr id="3" name="Rectangle 2">
            <a:extLst>
              <a:ext uri="{FF2B5EF4-FFF2-40B4-BE49-F238E27FC236}">
                <a16:creationId xmlns:a16="http://schemas.microsoft.com/office/drawing/2014/main" id="{7CFCE3E2-013B-4DDB-A62B-E4C85595DC23}"/>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AA0EF166-FD7B-4DE5-A0E3-517BB240A912}"/>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408F15B6-3EC2-483F-AF4B-6FAB0E791CFE}"/>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12 / 20</a:t>
            </a:r>
          </a:p>
        </p:txBody>
      </p:sp>
      <p:graphicFrame>
        <p:nvGraphicFramePr>
          <p:cNvPr id="6" name="Table 5">
            <a:extLst>
              <a:ext uri="{FF2B5EF4-FFF2-40B4-BE49-F238E27FC236}">
                <a16:creationId xmlns:a16="http://schemas.microsoft.com/office/drawing/2014/main" id="{AD4844CB-2E74-40C1-BF48-373F7CE59AA7}"/>
              </a:ext>
            </a:extLst>
          </p:cNvPr>
          <p:cNvGraphicFramePr/>
          <p:nvPr/>
        </p:nvGraphicFramePr>
        <p:xfrm>
          <a:off x="914400" y="1695450"/>
          <a:ext cx="10287000" cy="1623060"/>
        </p:xfrm>
        <a:graphic>
          <a:graphicData uri="http://schemas.openxmlformats.org/drawingml/2006/table">
            <a:tbl>
              <a:tblPr/>
              <a:tblGrid>
                <a:gridCol w="323850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tblGrid>
              <a:tr h="342900">
                <a:tc>
                  <a:txBody>
                    <a:bodyPr/>
                    <a:lstStyle/>
                    <a:p>
                      <a:r>
                        <a:rPr sz="1350" b="1">
                          <a:solidFill>
                            <a:srgbClr val="FFFEFA"/>
                          </a:solidFill>
                          <a:latin typeface="Aptos"/>
                          <a:ea typeface="Aptos"/>
                          <a:cs typeface="Aptos"/>
                        </a:rPr>
                        <a:t>Model</a:t>
                      </a:r>
                    </a:p>
                  </a:txBody>
                  <a:tcPr>
                    <a:lnL w="9525">
                      <a:solidFill>
                        <a:srgbClr val="D6DED4"/>
                      </a:solidFill>
                      <a:prstDash val="soli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Accuracy</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Balanced accuracy</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Macro-F1</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extLst>
                  <a:ext uri="{0D108BD9-81ED-4DB2-BD59-A6C34878D82A}">
                    <a16:rowId xmlns:a16="http://schemas.microsoft.com/office/drawing/2014/main" val="10000"/>
                  </a:ext>
                </a:extLst>
              </a:tr>
              <a:tr h="0">
                <a:tc>
                  <a:txBody>
                    <a:bodyPr/>
                    <a:lstStyle/>
                    <a:p>
                      <a:r>
                        <a:rPr sz="1500" b="1">
                          <a:solidFill>
                            <a:srgbClr val="26322D"/>
                          </a:solidFill>
                          <a:latin typeface="Aptos"/>
                          <a:ea typeface="Aptos"/>
                          <a:cs typeface="Aptos"/>
                        </a:rPr>
                        <a:t>Majority baseline</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0.117</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0.200</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0.042</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1"/>
                  </a:ext>
                </a:extLst>
              </a:tr>
              <a:tr h="0">
                <a:tc>
                  <a:txBody>
                    <a:bodyPr/>
                    <a:lstStyle/>
                    <a:p>
                      <a:r>
                        <a:rPr sz="1500" b="1">
                          <a:solidFill>
                            <a:srgbClr val="26322D"/>
                          </a:solidFill>
                          <a:latin typeface="Aptos"/>
                          <a:ea typeface="Aptos"/>
                          <a:cs typeface="Aptos"/>
                        </a:rPr>
                        <a:t>RBF SVM</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500" b="0">
                          <a:solidFill>
                            <a:srgbClr val="26322D"/>
                          </a:solidFill>
                          <a:latin typeface="Aptos"/>
                          <a:ea typeface="Aptos"/>
                          <a:cs typeface="Aptos"/>
                        </a:rPr>
                        <a:t>0.804</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500" b="0">
                          <a:solidFill>
                            <a:srgbClr val="26322D"/>
                          </a:solidFill>
                          <a:latin typeface="Aptos"/>
                          <a:ea typeface="Aptos"/>
                          <a:cs typeface="Aptos"/>
                        </a:rPr>
                        <a:t>0.802</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500" b="0">
                          <a:solidFill>
                            <a:srgbClr val="26322D"/>
                          </a:solidFill>
                          <a:latin typeface="Aptos"/>
                          <a:ea typeface="Aptos"/>
                          <a:cs typeface="Aptos"/>
                        </a:rPr>
                        <a:t>0.688</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extLst>
                  <a:ext uri="{0D108BD9-81ED-4DB2-BD59-A6C34878D82A}">
                    <a16:rowId xmlns:a16="http://schemas.microsoft.com/office/drawing/2014/main" val="10002"/>
                  </a:ext>
                </a:extLst>
              </a:tr>
              <a:tr h="0">
                <a:tc>
                  <a:txBody>
                    <a:bodyPr/>
                    <a:lstStyle/>
                    <a:p>
                      <a:r>
                        <a:rPr sz="1500" b="1">
                          <a:solidFill>
                            <a:srgbClr val="26322D"/>
                          </a:solidFill>
                          <a:latin typeface="Aptos"/>
                          <a:ea typeface="Aptos"/>
                          <a:cs typeface="Aptos"/>
                        </a:rPr>
                        <a:t>1D CNN</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0.816</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0.777</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0.690</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3"/>
                  </a:ext>
                </a:extLst>
              </a:tr>
              <a:tr h="0">
                <a:tc>
                  <a:txBody>
                    <a:bodyPr/>
                    <a:lstStyle/>
                    <a:p>
                      <a:r>
                        <a:rPr sz="1500" b="1">
                          <a:solidFill>
                            <a:srgbClr val="26322D"/>
                          </a:solidFill>
                          <a:latin typeface="Aptos"/>
                          <a:ea typeface="Aptos"/>
                          <a:cs typeface="Aptos"/>
                        </a:rPr>
                        <a:t>1D CNN + features</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8EEE5"/>
                    </a:solidFill>
                  </a:tcPr>
                </a:tc>
                <a:tc>
                  <a:txBody>
                    <a:bodyPr/>
                    <a:lstStyle/>
                    <a:p>
                      <a:r>
                        <a:rPr sz="1500" b="0">
                          <a:solidFill>
                            <a:srgbClr val="26322D"/>
                          </a:solidFill>
                          <a:latin typeface="Aptos"/>
                          <a:ea typeface="Aptos"/>
                          <a:cs typeface="Aptos"/>
                        </a:rPr>
                        <a:t>0.823</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8EEE5"/>
                    </a:solidFill>
                  </a:tcPr>
                </a:tc>
                <a:tc>
                  <a:txBody>
                    <a:bodyPr/>
                    <a:lstStyle/>
                    <a:p>
                      <a:r>
                        <a:rPr sz="1500" b="0">
                          <a:solidFill>
                            <a:srgbClr val="26322D"/>
                          </a:solidFill>
                          <a:latin typeface="Aptos"/>
                          <a:ea typeface="Aptos"/>
                          <a:cs typeface="Aptos"/>
                        </a:rPr>
                        <a:t>0.797</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8EEE5"/>
                    </a:solidFill>
                  </a:tcPr>
                </a:tc>
                <a:tc>
                  <a:txBody>
                    <a:bodyPr/>
                    <a:lstStyle/>
                    <a:p>
                      <a:r>
                        <a:rPr sz="1500" b="0">
                          <a:solidFill>
                            <a:srgbClr val="26322D"/>
                          </a:solidFill>
                          <a:latin typeface="Aptos"/>
                          <a:ea typeface="Aptos"/>
                          <a:cs typeface="Aptos"/>
                        </a:rPr>
                        <a:t>0.726</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8EEE5"/>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447D7EDD-D06D-4765-BD4E-A1449BED32F6}"/>
              </a:ext>
            </a:extLst>
          </p:cNvPr>
          <p:cNvSpPr>
            <a:spLocks noGrp="1"/>
          </p:cNvSpPr>
          <p:nvPr/>
        </p:nvSpPr>
        <p:spPr>
          <a:xfrm>
            <a:off x="914400" y="5238750"/>
            <a:ext cx="10287000" cy="381000"/>
          </a:xfrm>
          <a:prstGeom prst="rect">
            <a:avLst/>
          </a:prstGeom>
          <a:noFill/>
          <a:ln w="0">
            <a:noFill/>
            <a:prstDash val="solid"/>
          </a:ln>
        </p:spPr>
        <p:txBody>
          <a:bodyPr wrap="square" lIns="0" tIns="0" rIns="0" bIns="0" anchor="t">
            <a:normAutofit/>
          </a:bodyPr>
          <a:lstStyle>
            <a:defPPr algn="l">
              <a:defRPr sz="1575" b="1">
                <a:solidFill>
                  <a:srgbClr val="214C3B"/>
                </a:solidFill>
                <a:latin typeface="Aptos"/>
                <a:ea typeface="Aptos"/>
                <a:cs typeface="Aptos"/>
              </a:defRPr>
            </a:defPPr>
          </a:lstStyle>
          <a:p>
            <a:pPr algn="l">
              <a:defRPr sz="1575" b="1">
                <a:solidFill>
                  <a:srgbClr val="214C3B"/>
                </a:solidFill>
                <a:latin typeface="Aptos"/>
                <a:ea typeface="Aptos"/>
                <a:cs typeface="Aptos"/>
              </a:defRPr>
            </a:pPr>
            <a:r>
              <a:rPr sz="1575" b="1">
                <a:solidFill>
                  <a:srgbClr val="214C3B"/>
                </a:solidFill>
                <a:latin typeface="Aptos"/>
                <a:ea typeface="Aptos"/>
                <a:cs typeface="Aptos"/>
              </a:rPr>
              <a:t>Macro-F1 weights each terrain class equally.</a:t>
            </a:r>
          </a:p>
        </p:txBody>
      </p:sp>
      <p:sp>
        <p:nvSpPr>
          <p:cNvPr id="8" name="Rectangle 7">
            <a:extLst>
              <a:ext uri="{FF2B5EF4-FFF2-40B4-BE49-F238E27FC236}">
                <a16:creationId xmlns:a16="http://schemas.microsoft.com/office/drawing/2014/main" id="{680664E7-CA33-45DC-A012-EA4A2DAB6A13}"/>
              </a:ext>
            </a:extLst>
          </p:cNvPr>
          <p:cNvSpPr>
            <a:spLocks noGrp="1"/>
          </p:cNvSpPr>
          <p:nvPr/>
        </p:nvSpPr>
        <p:spPr>
          <a:xfrm>
            <a:off x="914400" y="5657850"/>
            <a:ext cx="10287000" cy="428625"/>
          </a:xfrm>
          <a:prstGeom prst="rect">
            <a:avLst/>
          </a:prstGeom>
          <a:noFill/>
          <a:ln w="0">
            <a:noFill/>
            <a:prstDash val="solid"/>
          </a:ln>
        </p:spPr>
        <p:txBody>
          <a:bodyPr wrap="square" lIns="0" tIns="0" rIns="0" bIns="0" anchor="t">
            <a:normAutofit/>
          </a:bodyPr>
          <a:lstStyle>
            <a:defPPr algn="l">
              <a:defRPr sz="1425" b="0">
                <a:solidFill>
                  <a:srgbClr val="26322D"/>
                </a:solidFill>
                <a:latin typeface="Aptos"/>
                <a:ea typeface="Aptos"/>
                <a:cs typeface="Aptos"/>
              </a:defRPr>
            </a:defPPr>
          </a:lstStyle>
          <a:p>
            <a:pPr algn="l">
              <a:defRPr sz="1425" b="0">
                <a:solidFill>
                  <a:srgbClr val="26322D"/>
                </a:solidFill>
                <a:latin typeface="Aptos"/>
                <a:ea typeface="Aptos"/>
                <a:cs typeface="Aptos"/>
              </a:defRPr>
            </a:pPr>
            <a:r>
              <a:rPr sz="1425" b="0">
                <a:solidFill>
                  <a:srgbClr val="26322D"/>
                </a:solidFill>
                <a:latin typeface="Aptos"/>
                <a:ea typeface="Aptos"/>
                <a:cs typeface="Aptos"/>
              </a:rPr>
              <a:t>The hybrid has the top validation macro-F1, so it is the selected model.</a:t>
            </a:r>
          </a:p>
        </p:txBody>
      </p:sp>
    </p:spTree>
    <p:extLst>
      <p:ext uri="{BB962C8B-B14F-4D97-AF65-F5344CB8AC3E}">
        <p14:creationId xmlns:p14="http://schemas.microsoft.com/office/powerpoint/2010/main" val="582965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A9EB726-9538-4010-980E-E72469598DA4}"/>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TEST SET · 930 WINDOWS</a:t>
            </a:r>
          </a:p>
        </p:txBody>
      </p:sp>
      <p:sp>
        <p:nvSpPr>
          <p:cNvPr id="2" name="Rectangle 1">
            <a:extLst>
              <a:ext uri="{FF2B5EF4-FFF2-40B4-BE49-F238E27FC236}">
                <a16:creationId xmlns:a16="http://schemas.microsoft.com/office/drawing/2014/main" id="{D927DB9B-B808-42CB-B039-0087998F1DC3}"/>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The held-out test favors the hybrid model</a:t>
            </a:r>
          </a:p>
        </p:txBody>
      </p:sp>
      <p:sp>
        <p:nvSpPr>
          <p:cNvPr id="3" name="Rectangle 2">
            <a:extLst>
              <a:ext uri="{FF2B5EF4-FFF2-40B4-BE49-F238E27FC236}">
                <a16:creationId xmlns:a16="http://schemas.microsoft.com/office/drawing/2014/main" id="{ADBA6F01-B920-4864-BCD9-FDD0E7C70BAC}"/>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2C2D48FB-55B1-4FC3-98D2-50E33804713C}"/>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3753E48B-CBBF-4611-8118-16ACBCC0BA33}"/>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13 / 20</a:t>
            </a:r>
          </a:p>
        </p:txBody>
      </p:sp>
      <p:graphicFrame>
        <p:nvGraphicFramePr>
          <p:cNvPr id="6" name="Table 5">
            <a:extLst>
              <a:ext uri="{FF2B5EF4-FFF2-40B4-BE49-F238E27FC236}">
                <a16:creationId xmlns:a16="http://schemas.microsoft.com/office/drawing/2014/main" id="{18FAA19E-32F5-44CA-8C03-DCF288B968CE}"/>
              </a:ext>
            </a:extLst>
          </p:cNvPr>
          <p:cNvGraphicFramePr/>
          <p:nvPr/>
        </p:nvGraphicFramePr>
        <p:xfrm>
          <a:off x="914400" y="1695450"/>
          <a:ext cx="10287000" cy="1623060"/>
        </p:xfrm>
        <a:graphic>
          <a:graphicData uri="http://schemas.openxmlformats.org/drawingml/2006/table">
            <a:tbl>
              <a:tblPr/>
              <a:tblGrid>
                <a:gridCol w="323850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tblGrid>
              <a:tr h="342900">
                <a:tc>
                  <a:txBody>
                    <a:bodyPr/>
                    <a:lstStyle/>
                    <a:p>
                      <a:r>
                        <a:rPr sz="1350" b="1">
                          <a:solidFill>
                            <a:srgbClr val="FFFEFA"/>
                          </a:solidFill>
                          <a:latin typeface="Aptos"/>
                          <a:ea typeface="Aptos"/>
                          <a:cs typeface="Aptos"/>
                        </a:rPr>
                        <a:t>Model</a:t>
                      </a:r>
                    </a:p>
                  </a:txBody>
                  <a:tcPr>
                    <a:lnL w="9525">
                      <a:solidFill>
                        <a:srgbClr val="D6DED4"/>
                      </a:solidFill>
                      <a:prstDash val="soli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Accuracy</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Balanced accuracy</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Macro-F1</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extLst>
                  <a:ext uri="{0D108BD9-81ED-4DB2-BD59-A6C34878D82A}">
                    <a16:rowId xmlns:a16="http://schemas.microsoft.com/office/drawing/2014/main" val="10000"/>
                  </a:ext>
                </a:extLst>
              </a:tr>
              <a:tr h="0">
                <a:tc>
                  <a:txBody>
                    <a:bodyPr/>
                    <a:lstStyle/>
                    <a:p>
                      <a:r>
                        <a:rPr sz="1500" b="1">
                          <a:solidFill>
                            <a:srgbClr val="26322D"/>
                          </a:solidFill>
                          <a:latin typeface="Aptos"/>
                          <a:ea typeface="Aptos"/>
                          <a:cs typeface="Aptos"/>
                        </a:rPr>
                        <a:t>Majority baseline</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0.238</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0.200</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0.077</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1"/>
                  </a:ext>
                </a:extLst>
              </a:tr>
              <a:tr h="0">
                <a:tc>
                  <a:txBody>
                    <a:bodyPr/>
                    <a:lstStyle/>
                    <a:p>
                      <a:r>
                        <a:rPr sz="1500" b="1">
                          <a:solidFill>
                            <a:srgbClr val="26322D"/>
                          </a:solidFill>
                          <a:latin typeface="Aptos"/>
                          <a:ea typeface="Aptos"/>
                          <a:cs typeface="Aptos"/>
                        </a:rPr>
                        <a:t>RBF SVM</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500" b="0">
                          <a:solidFill>
                            <a:srgbClr val="26322D"/>
                          </a:solidFill>
                          <a:latin typeface="Aptos"/>
                          <a:ea typeface="Aptos"/>
                          <a:cs typeface="Aptos"/>
                        </a:rPr>
                        <a:t>0.841</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500" b="0">
                          <a:solidFill>
                            <a:srgbClr val="26322D"/>
                          </a:solidFill>
                          <a:latin typeface="Aptos"/>
                          <a:ea typeface="Aptos"/>
                          <a:cs typeface="Aptos"/>
                        </a:rPr>
                        <a:t>0.825</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500" b="0">
                          <a:solidFill>
                            <a:srgbClr val="26322D"/>
                          </a:solidFill>
                          <a:latin typeface="Aptos"/>
                          <a:ea typeface="Aptos"/>
                          <a:cs typeface="Aptos"/>
                        </a:rPr>
                        <a:t>0.817</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extLst>
                  <a:ext uri="{0D108BD9-81ED-4DB2-BD59-A6C34878D82A}">
                    <a16:rowId xmlns:a16="http://schemas.microsoft.com/office/drawing/2014/main" val="10002"/>
                  </a:ext>
                </a:extLst>
              </a:tr>
              <a:tr h="0">
                <a:tc>
                  <a:txBody>
                    <a:bodyPr/>
                    <a:lstStyle/>
                    <a:p>
                      <a:r>
                        <a:rPr sz="1500" b="1">
                          <a:solidFill>
                            <a:srgbClr val="26322D"/>
                          </a:solidFill>
                          <a:latin typeface="Aptos"/>
                          <a:ea typeface="Aptos"/>
                          <a:cs typeface="Aptos"/>
                        </a:rPr>
                        <a:t>1D CNN</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0.796</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0.806</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0.770</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3"/>
                  </a:ext>
                </a:extLst>
              </a:tr>
              <a:tr h="0">
                <a:tc>
                  <a:txBody>
                    <a:bodyPr/>
                    <a:lstStyle/>
                    <a:p>
                      <a:r>
                        <a:rPr sz="1500" b="1">
                          <a:solidFill>
                            <a:srgbClr val="26322D"/>
                          </a:solidFill>
                          <a:latin typeface="Aptos"/>
                          <a:ea typeface="Aptos"/>
                          <a:cs typeface="Aptos"/>
                        </a:rPr>
                        <a:t>1D CNN + features</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8EEE5"/>
                    </a:solidFill>
                  </a:tcPr>
                </a:tc>
                <a:tc>
                  <a:txBody>
                    <a:bodyPr/>
                    <a:lstStyle/>
                    <a:p>
                      <a:r>
                        <a:rPr sz="1500" b="0">
                          <a:solidFill>
                            <a:srgbClr val="26322D"/>
                          </a:solidFill>
                          <a:latin typeface="Aptos"/>
                          <a:ea typeface="Aptos"/>
                          <a:cs typeface="Aptos"/>
                        </a:rPr>
                        <a:t>0.863</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8EEE5"/>
                    </a:solidFill>
                  </a:tcPr>
                </a:tc>
                <a:tc>
                  <a:txBody>
                    <a:bodyPr/>
                    <a:lstStyle/>
                    <a:p>
                      <a:r>
                        <a:rPr sz="1500" b="0">
                          <a:solidFill>
                            <a:srgbClr val="26322D"/>
                          </a:solidFill>
                          <a:latin typeface="Aptos"/>
                          <a:ea typeface="Aptos"/>
                          <a:cs typeface="Aptos"/>
                        </a:rPr>
                        <a:t>0.861</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8EEE5"/>
                    </a:solidFill>
                  </a:tcPr>
                </a:tc>
                <a:tc>
                  <a:txBody>
                    <a:bodyPr/>
                    <a:lstStyle/>
                    <a:p>
                      <a:r>
                        <a:rPr sz="1500" b="0">
                          <a:solidFill>
                            <a:srgbClr val="26322D"/>
                          </a:solidFill>
                          <a:latin typeface="Aptos"/>
                          <a:ea typeface="Aptos"/>
                          <a:cs typeface="Aptos"/>
                        </a:rPr>
                        <a:t>0.845</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8EEE5"/>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4916E9F3-8044-4AE1-80A2-E38E38FE6802}"/>
              </a:ext>
            </a:extLst>
          </p:cNvPr>
          <p:cNvSpPr>
            <a:spLocks noGrp="1"/>
          </p:cNvSpPr>
          <p:nvPr/>
        </p:nvSpPr>
        <p:spPr>
          <a:xfrm>
            <a:off x="914400" y="5105400"/>
            <a:ext cx="10287000" cy="609600"/>
          </a:xfrm>
          <a:prstGeom prst="rect">
            <a:avLst/>
          </a:prstGeom>
          <a:solidFill>
            <a:srgbClr val="E2EBDF"/>
          </a:solidFill>
          <a:ln w="0">
            <a:noFill/>
            <a:prstDash val="solid"/>
          </a:ln>
        </p:spPr>
      </p:sp>
      <p:sp>
        <p:nvSpPr>
          <p:cNvPr id="8" name="Rectangle 7">
            <a:extLst>
              <a:ext uri="{FF2B5EF4-FFF2-40B4-BE49-F238E27FC236}">
                <a16:creationId xmlns:a16="http://schemas.microsoft.com/office/drawing/2014/main" id="{00C6CA48-2D41-41E7-BB35-1A33CB8C0FEC}"/>
              </a:ext>
            </a:extLst>
          </p:cNvPr>
          <p:cNvSpPr>
            <a:spLocks noGrp="1"/>
          </p:cNvSpPr>
          <p:nvPr/>
        </p:nvSpPr>
        <p:spPr>
          <a:xfrm>
            <a:off x="1143000" y="5257800"/>
            <a:ext cx="9810750" cy="342900"/>
          </a:xfrm>
          <a:prstGeom prst="rect">
            <a:avLst/>
          </a:prstGeom>
          <a:noFill/>
          <a:ln w="0">
            <a:noFill/>
            <a:prstDash val="solid"/>
          </a:ln>
        </p:spPr>
        <p:txBody>
          <a:bodyPr wrap="square" lIns="0" tIns="0" rIns="0" bIns="0" anchor="t">
            <a:normAutofit/>
          </a:bodyPr>
          <a:lstStyle>
            <a:defPPr algn="l">
              <a:defRPr sz="1650" b="1">
                <a:solidFill>
                  <a:srgbClr val="214C3B"/>
                </a:solidFill>
                <a:latin typeface="Aptos"/>
                <a:ea typeface="Aptos"/>
                <a:cs typeface="Aptos"/>
              </a:defRPr>
            </a:defPPr>
          </a:lstStyle>
          <a:p>
            <a:pPr algn="l">
              <a:defRPr sz="1650" b="1">
                <a:solidFill>
                  <a:srgbClr val="214C3B"/>
                </a:solidFill>
                <a:latin typeface="Aptos"/>
                <a:ea typeface="Aptos"/>
                <a:cs typeface="Aptos"/>
              </a:defRPr>
            </a:pPr>
            <a:r>
              <a:rPr sz="1650" b="1">
                <a:solidFill>
                  <a:srgbClr val="214C3B"/>
                </a:solidFill>
                <a:latin typeface="Aptos"/>
                <a:ea typeface="Aptos"/>
                <a:cs typeface="Aptos"/>
              </a:rPr>
              <a:t>803 / 930 correct  ·  hybrid accuracy is 2.3 points above the SVM</a:t>
            </a:r>
          </a:p>
        </p:txBody>
      </p:sp>
      <p:sp>
        <p:nvSpPr>
          <p:cNvPr id="9" name="Rectangle 8">
            <a:extLst>
              <a:ext uri="{FF2B5EF4-FFF2-40B4-BE49-F238E27FC236}">
                <a16:creationId xmlns:a16="http://schemas.microsoft.com/office/drawing/2014/main" id="{0D80AD18-8573-44A3-9CDC-8B80C20A6B24}"/>
              </a:ext>
            </a:extLst>
          </p:cNvPr>
          <p:cNvSpPr>
            <a:spLocks noGrp="1"/>
          </p:cNvSpPr>
          <p:nvPr/>
        </p:nvSpPr>
        <p:spPr>
          <a:xfrm>
            <a:off x="914400" y="5848350"/>
            <a:ext cx="10287000" cy="295275"/>
          </a:xfrm>
          <a:prstGeom prst="rect">
            <a:avLst/>
          </a:prstGeom>
          <a:noFill/>
          <a:ln w="0">
            <a:noFill/>
            <a:prstDash val="solid"/>
          </a:ln>
        </p:spPr>
        <p:txBody>
          <a:bodyPr wrap="square" lIns="0" tIns="0" rIns="0" bIns="0" anchor="t">
            <a:normAutofit/>
          </a:bodyPr>
          <a:lstStyle>
            <a:defPPr algn="l">
              <a:defRPr sz="1350" b="0">
                <a:solidFill>
                  <a:srgbClr val="65746B"/>
                </a:solidFill>
                <a:latin typeface="Aptos"/>
                <a:ea typeface="Aptos"/>
                <a:cs typeface="Aptos"/>
              </a:defRPr>
            </a:defPPr>
          </a:lstStyle>
          <a:p>
            <a:pPr algn="l">
              <a:defRPr sz="1350" b="0">
                <a:solidFill>
                  <a:srgbClr val="65746B"/>
                </a:solidFill>
                <a:latin typeface="Aptos"/>
                <a:ea typeface="Aptos"/>
                <a:cs typeface="Aptos"/>
              </a:defRPr>
            </a:pPr>
            <a:r>
              <a:rPr sz="1350" b="0">
                <a:solidFill>
                  <a:srgbClr val="65746B"/>
                </a:solidFill>
                <a:latin typeface="Aptos"/>
                <a:ea typeface="Aptos"/>
                <a:cs typeface="Aptos"/>
              </a:rPr>
              <a:t>One split; one seed; no significance test was performed.</a:t>
            </a:r>
          </a:p>
        </p:txBody>
      </p:sp>
    </p:spTree>
    <p:extLst>
      <p:ext uri="{BB962C8B-B14F-4D97-AF65-F5344CB8AC3E}">
        <p14:creationId xmlns:p14="http://schemas.microsoft.com/office/powerpoint/2010/main" val="2116770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39308B2-42DB-45DE-9C49-EB41EBE6948C}"/>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SELECTED MODEL · CNN + FEATURES</a:t>
            </a:r>
          </a:p>
        </p:txBody>
      </p:sp>
      <p:sp>
        <p:nvSpPr>
          <p:cNvPr id="2" name="Rectangle 1">
            <a:extLst>
              <a:ext uri="{FF2B5EF4-FFF2-40B4-BE49-F238E27FC236}">
                <a16:creationId xmlns:a16="http://schemas.microsoft.com/office/drawing/2014/main" id="{5FED38C9-FB5E-4F20-A7E6-FA0C8F3BBA1F}"/>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Class-level performance is strongest on flooring and loam</a:t>
            </a:r>
          </a:p>
        </p:txBody>
      </p:sp>
      <p:sp>
        <p:nvSpPr>
          <p:cNvPr id="3" name="Rectangle 2">
            <a:extLst>
              <a:ext uri="{FF2B5EF4-FFF2-40B4-BE49-F238E27FC236}">
                <a16:creationId xmlns:a16="http://schemas.microsoft.com/office/drawing/2014/main" id="{98C13246-BF65-4DFB-84B5-370EFF9A25F0}"/>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3D06D56F-0451-4092-8B64-8F1CE0E7F9E5}"/>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15C413F7-7F1A-44D0-BDE2-E9158906935D}"/>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14 / 20</a:t>
            </a:r>
          </a:p>
        </p:txBody>
      </p:sp>
      <p:graphicFrame>
        <p:nvGraphicFramePr>
          <p:cNvPr id="6" name="Table 5">
            <a:extLst>
              <a:ext uri="{FF2B5EF4-FFF2-40B4-BE49-F238E27FC236}">
                <a16:creationId xmlns:a16="http://schemas.microsoft.com/office/drawing/2014/main" id="{61309C82-D417-4328-9161-9DFD46E9478E}"/>
              </a:ext>
            </a:extLst>
          </p:cNvPr>
          <p:cNvGraphicFramePr/>
          <p:nvPr/>
        </p:nvGraphicFramePr>
        <p:xfrm>
          <a:off x="762000" y="1619250"/>
          <a:ext cx="10668000" cy="1943100"/>
        </p:xfrm>
        <a:graphic>
          <a:graphicData uri="http://schemas.openxmlformats.org/drawingml/2006/table">
            <a:tbl>
              <a:tblPr/>
              <a:tblGrid>
                <a:gridCol w="28575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gridCol w="2381250">
                  <a:extLst>
                    <a:ext uri="{9D8B030D-6E8A-4147-A177-3AD203B41FA5}">
                      <a16:colId xmlns:a16="http://schemas.microsoft.com/office/drawing/2014/main" val="20004"/>
                    </a:ext>
                  </a:extLst>
                </a:gridCol>
              </a:tblGrid>
              <a:tr h="342900">
                <a:tc>
                  <a:txBody>
                    <a:bodyPr/>
                    <a:lstStyle/>
                    <a:p>
                      <a:r>
                        <a:rPr sz="1350" b="1">
                          <a:solidFill>
                            <a:srgbClr val="FFFEFA"/>
                          </a:solidFill>
                          <a:latin typeface="Aptos"/>
                          <a:ea typeface="Aptos"/>
                          <a:cs typeface="Aptos"/>
                        </a:rPr>
                        <a:t>Terrain</a:t>
                      </a:r>
                    </a:p>
                  </a:txBody>
                  <a:tcPr>
                    <a:lnL w="9525">
                      <a:solidFill>
                        <a:srgbClr val="D6DED4"/>
                      </a:solidFill>
                      <a:prstDash val="soli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Precision</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Recall</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F1</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Test windows</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extLst>
                  <a:ext uri="{0D108BD9-81ED-4DB2-BD59-A6C34878D82A}">
                    <a16:rowId xmlns:a16="http://schemas.microsoft.com/office/drawing/2014/main" val="10000"/>
                  </a:ext>
                </a:extLst>
              </a:tr>
              <a:tr h="0">
                <a:tc>
                  <a:txBody>
                    <a:bodyPr/>
                    <a:lstStyle/>
                    <a:p>
                      <a:r>
                        <a:rPr sz="1500" b="1">
                          <a:solidFill>
                            <a:srgbClr val="26322D"/>
                          </a:solidFill>
                          <a:latin typeface="Aptos"/>
                          <a:ea typeface="Aptos"/>
                          <a:cs typeface="Aptos"/>
                        </a:rPr>
                        <a:t>Asphalt</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0.657</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0.902</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0.760</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51</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1"/>
                  </a:ext>
                </a:extLst>
              </a:tr>
              <a:tr h="0">
                <a:tc>
                  <a:txBody>
                    <a:bodyPr/>
                    <a:lstStyle/>
                    <a:p>
                      <a:r>
                        <a:rPr sz="1500" b="1">
                          <a:solidFill>
                            <a:srgbClr val="26322D"/>
                          </a:solidFill>
                          <a:latin typeface="Aptos"/>
                          <a:ea typeface="Aptos"/>
                          <a:cs typeface="Aptos"/>
                        </a:rPr>
                        <a:t>Flooring</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500" b="0">
                          <a:solidFill>
                            <a:srgbClr val="26322D"/>
                          </a:solidFill>
                          <a:latin typeface="Aptos"/>
                          <a:ea typeface="Aptos"/>
                          <a:cs typeface="Aptos"/>
                        </a:rPr>
                        <a:t>0.889</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500" b="0">
                          <a:solidFill>
                            <a:srgbClr val="26322D"/>
                          </a:solidFill>
                          <a:latin typeface="Aptos"/>
                          <a:ea typeface="Aptos"/>
                          <a:cs typeface="Aptos"/>
                        </a:rPr>
                        <a:t>0.934</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500" b="0">
                          <a:solidFill>
                            <a:srgbClr val="26322D"/>
                          </a:solidFill>
                          <a:latin typeface="Aptos"/>
                          <a:ea typeface="Aptos"/>
                          <a:cs typeface="Aptos"/>
                        </a:rPr>
                        <a:t>0.911</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500" b="0">
                          <a:solidFill>
                            <a:srgbClr val="26322D"/>
                          </a:solidFill>
                          <a:latin typeface="Aptos"/>
                          <a:ea typeface="Aptos"/>
                          <a:cs typeface="Aptos"/>
                        </a:rPr>
                        <a:t>378</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extLst>
                  <a:ext uri="{0D108BD9-81ED-4DB2-BD59-A6C34878D82A}">
                    <a16:rowId xmlns:a16="http://schemas.microsoft.com/office/drawing/2014/main" val="10002"/>
                  </a:ext>
                </a:extLst>
              </a:tr>
              <a:tr h="0">
                <a:tc>
                  <a:txBody>
                    <a:bodyPr/>
                    <a:lstStyle/>
                    <a:p>
                      <a:r>
                        <a:rPr sz="1500" b="1">
                          <a:solidFill>
                            <a:srgbClr val="26322D"/>
                          </a:solidFill>
                          <a:latin typeface="Aptos"/>
                          <a:ea typeface="Aptos"/>
                          <a:cs typeface="Aptos"/>
                        </a:rPr>
                        <a:t>Ice</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0.878</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0.814</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0.845</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221</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3"/>
                  </a:ext>
                </a:extLst>
              </a:tr>
              <a:tr h="0">
                <a:tc>
                  <a:txBody>
                    <a:bodyPr/>
                    <a:lstStyle/>
                    <a:p>
                      <a:r>
                        <a:rPr sz="1500" b="1">
                          <a:solidFill>
                            <a:srgbClr val="26322D"/>
                          </a:solidFill>
                          <a:latin typeface="Aptos"/>
                          <a:ea typeface="Aptos"/>
                          <a:cs typeface="Aptos"/>
                        </a:rPr>
                        <a:t>Loam</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500" b="0">
                          <a:solidFill>
                            <a:srgbClr val="26322D"/>
                          </a:solidFill>
                          <a:latin typeface="Aptos"/>
                          <a:ea typeface="Aptos"/>
                          <a:cs typeface="Aptos"/>
                        </a:rPr>
                        <a:t>0.940</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500" b="0">
                          <a:solidFill>
                            <a:srgbClr val="26322D"/>
                          </a:solidFill>
                          <a:latin typeface="Aptos"/>
                          <a:ea typeface="Aptos"/>
                          <a:cs typeface="Aptos"/>
                        </a:rPr>
                        <a:t>0.897</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500" b="0">
                          <a:solidFill>
                            <a:srgbClr val="26322D"/>
                          </a:solidFill>
                          <a:latin typeface="Aptos"/>
                          <a:ea typeface="Aptos"/>
                          <a:cs typeface="Aptos"/>
                        </a:rPr>
                        <a:t>0.918</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500" b="0">
                          <a:solidFill>
                            <a:srgbClr val="26322D"/>
                          </a:solidFill>
                          <a:latin typeface="Aptos"/>
                          <a:ea typeface="Aptos"/>
                          <a:cs typeface="Aptos"/>
                        </a:rPr>
                        <a:t>87</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extLst>
                  <a:ext uri="{0D108BD9-81ED-4DB2-BD59-A6C34878D82A}">
                    <a16:rowId xmlns:a16="http://schemas.microsoft.com/office/drawing/2014/main" val="10004"/>
                  </a:ext>
                </a:extLst>
              </a:tr>
              <a:tr h="0">
                <a:tc>
                  <a:txBody>
                    <a:bodyPr/>
                    <a:lstStyle/>
                    <a:p>
                      <a:r>
                        <a:rPr sz="1500" b="1">
                          <a:solidFill>
                            <a:srgbClr val="26322D"/>
                          </a:solidFill>
                          <a:latin typeface="Aptos"/>
                          <a:ea typeface="Aptos"/>
                          <a:cs typeface="Aptos"/>
                        </a:rPr>
                        <a:t>Snow</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0.834</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0.756</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0.793</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500" b="0">
                          <a:solidFill>
                            <a:srgbClr val="26322D"/>
                          </a:solidFill>
                          <a:latin typeface="Aptos"/>
                          <a:ea typeface="Aptos"/>
                          <a:cs typeface="Aptos"/>
                        </a:rPr>
                        <a:t>193</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5"/>
                  </a:ext>
                </a:extLst>
              </a:tr>
            </a:tbl>
          </a:graphicData>
        </a:graphic>
      </p:graphicFrame>
      <p:sp>
        <p:nvSpPr>
          <p:cNvPr id="7" name="Rectangle 6">
            <a:extLst>
              <a:ext uri="{FF2B5EF4-FFF2-40B4-BE49-F238E27FC236}">
                <a16:creationId xmlns:a16="http://schemas.microsoft.com/office/drawing/2014/main" id="{E5C852F1-D5EE-42E9-8BE2-68DC9FA0D28F}"/>
              </a:ext>
            </a:extLst>
          </p:cNvPr>
          <p:cNvSpPr>
            <a:spLocks noGrp="1"/>
          </p:cNvSpPr>
          <p:nvPr/>
        </p:nvSpPr>
        <p:spPr>
          <a:xfrm>
            <a:off x="762000" y="5543550"/>
            <a:ext cx="10668000" cy="523875"/>
          </a:xfrm>
          <a:prstGeom prst="rect">
            <a:avLst/>
          </a:prstGeom>
          <a:solidFill>
            <a:srgbClr val="E8EEE5"/>
          </a:solidFill>
          <a:ln w="0">
            <a:noFill/>
            <a:prstDash val="solid"/>
          </a:ln>
        </p:spPr>
      </p:sp>
      <p:sp>
        <p:nvSpPr>
          <p:cNvPr id="8" name="Rectangle 7">
            <a:extLst>
              <a:ext uri="{FF2B5EF4-FFF2-40B4-BE49-F238E27FC236}">
                <a16:creationId xmlns:a16="http://schemas.microsoft.com/office/drawing/2014/main" id="{D34671FB-2327-4593-B6B4-17C14A30520E}"/>
              </a:ext>
            </a:extLst>
          </p:cNvPr>
          <p:cNvSpPr>
            <a:spLocks noGrp="1"/>
          </p:cNvSpPr>
          <p:nvPr/>
        </p:nvSpPr>
        <p:spPr>
          <a:xfrm>
            <a:off x="962025" y="5676900"/>
            <a:ext cx="10287000" cy="295275"/>
          </a:xfrm>
          <a:prstGeom prst="rect">
            <a:avLst/>
          </a:prstGeom>
          <a:noFill/>
          <a:ln w="0">
            <a:noFill/>
            <a:prstDash val="solid"/>
          </a:ln>
        </p:spPr>
        <p:txBody>
          <a:bodyPr wrap="square" lIns="0" tIns="0" rIns="0" bIns="0" anchor="t">
            <a:normAutofit/>
          </a:bodyPr>
          <a:lstStyle>
            <a:defPPr algn="l">
              <a:defRPr sz="1500" b="1">
                <a:solidFill>
                  <a:srgbClr val="214C3B"/>
                </a:solidFill>
                <a:latin typeface="Aptos"/>
                <a:ea typeface="Aptos"/>
                <a:cs typeface="Aptos"/>
              </a:defRPr>
            </a:defPPr>
          </a:lstStyle>
          <a:p>
            <a:pPr algn="l">
              <a:defRPr sz="1500" b="1">
                <a:solidFill>
                  <a:srgbClr val="214C3B"/>
                </a:solidFill>
                <a:latin typeface="Aptos"/>
                <a:ea typeface="Aptos"/>
                <a:cs typeface="Aptos"/>
              </a:defRPr>
            </a:pPr>
            <a:r>
              <a:rPr sz="1500" b="1">
                <a:solidFill>
                  <a:srgbClr val="214C3B"/>
                </a:solidFill>
                <a:latin typeface="Aptos"/>
                <a:ea typeface="Aptos"/>
                <a:cs typeface="Aptos"/>
              </a:rPr>
              <a:t>Smallest test support: asphalt (51)  ·  lowest recall: snow (0.756)</a:t>
            </a:r>
          </a:p>
        </p:txBody>
      </p:sp>
    </p:spTree>
    <p:extLst>
      <p:ext uri="{BB962C8B-B14F-4D97-AF65-F5344CB8AC3E}">
        <p14:creationId xmlns:p14="http://schemas.microsoft.com/office/powerpoint/2010/main" val="1950401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B14FB48-08F2-4156-8F9C-4F3968F200AF}"/>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HELD-OUT PREDICTIONS</a:t>
            </a:r>
          </a:p>
        </p:txBody>
      </p:sp>
      <p:sp>
        <p:nvSpPr>
          <p:cNvPr id="2" name="Rectangle 1">
            <a:extLst>
              <a:ext uri="{FF2B5EF4-FFF2-40B4-BE49-F238E27FC236}">
                <a16:creationId xmlns:a16="http://schemas.microsoft.com/office/drawing/2014/main" id="{9D48554F-ECD6-4B3D-BC9B-581D5979E08A}"/>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The confusion matrices expose the remaining errors</a:t>
            </a:r>
          </a:p>
        </p:txBody>
      </p:sp>
      <p:sp>
        <p:nvSpPr>
          <p:cNvPr id="3" name="Rectangle 2">
            <a:extLst>
              <a:ext uri="{FF2B5EF4-FFF2-40B4-BE49-F238E27FC236}">
                <a16:creationId xmlns:a16="http://schemas.microsoft.com/office/drawing/2014/main" id="{AA8ED79F-BFB0-4CBD-BBC6-1054CAE8B647}"/>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96759C77-548F-473B-A655-FCCAC5A655A7}"/>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397FDC7A-E11E-4E7C-A314-96626D3811D4}"/>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15 / 20</a:t>
            </a:r>
          </a:p>
        </p:txBody>
      </p:sp>
      <p:pic>
        <p:nvPicPr>
          <p:cNvPr id="6" name="Picture 5">
            <a:extLst>
              <a:ext uri="{FF2B5EF4-FFF2-40B4-BE49-F238E27FC236}">
                <a16:creationId xmlns:a16="http://schemas.microsoft.com/office/drawing/2014/main" id="{C3600EC2-B01D-43D8-A7DF-7E42999582F7}"/>
              </a:ext>
            </a:extLst>
          </p:cNvPr>
          <p:cNvPicPr>
            <a:picLocks noChangeAspect="1"/>
          </p:cNvPicPr>
          <p:nvPr/>
        </p:nvPicPr>
        <p:blipFill>
          <a:blip r:embed="rId3"/>
          <a:stretch/>
        </p:blipFill>
        <p:spPr>
          <a:xfrm>
            <a:off x="723900" y="1684020"/>
            <a:ext cx="10744200" cy="3223260"/>
          </a:xfrm>
          <a:prstGeom prst="rect">
            <a:avLst/>
          </a:prstGeom>
        </p:spPr>
      </p:pic>
      <p:sp>
        <p:nvSpPr>
          <p:cNvPr id="7" name="Rectangle 6">
            <a:extLst>
              <a:ext uri="{FF2B5EF4-FFF2-40B4-BE49-F238E27FC236}">
                <a16:creationId xmlns:a16="http://schemas.microsoft.com/office/drawing/2014/main" id="{70575461-0F54-4BFB-B11F-933B096DE064}"/>
              </a:ext>
            </a:extLst>
          </p:cNvPr>
          <p:cNvSpPr>
            <a:spLocks noGrp="1"/>
          </p:cNvSpPr>
          <p:nvPr/>
        </p:nvSpPr>
        <p:spPr>
          <a:xfrm>
            <a:off x="723900" y="5267325"/>
            <a:ext cx="10477500" cy="361950"/>
          </a:xfrm>
          <a:prstGeom prst="rect">
            <a:avLst/>
          </a:prstGeom>
          <a:noFill/>
          <a:ln w="0">
            <a:noFill/>
            <a:prstDash val="solid"/>
          </a:ln>
        </p:spPr>
        <p:txBody>
          <a:bodyPr wrap="square" lIns="0" tIns="0" rIns="0" bIns="0" anchor="t">
            <a:normAutofit/>
          </a:bodyPr>
          <a:lstStyle>
            <a:defPPr algn="l">
              <a:defRPr sz="1575" b="1">
                <a:solidFill>
                  <a:srgbClr val="214C3B"/>
                </a:solidFill>
                <a:latin typeface="Aptos"/>
                <a:ea typeface="Aptos"/>
                <a:cs typeface="Aptos"/>
              </a:defRPr>
            </a:defPPr>
          </a:lstStyle>
          <a:p>
            <a:pPr algn="l">
              <a:defRPr sz="1575" b="1">
                <a:solidFill>
                  <a:srgbClr val="214C3B"/>
                </a:solidFill>
                <a:latin typeface="Aptos"/>
                <a:ea typeface="Aptos"/>
                <a:cs typeface="Aptos"/>
              </a:defRPr>
            </a:pPr>
            <a:r>
              <a:rPr sz="1575" b="1">
                <a:solidFill>
                  <a:srgbClr val="214C3B"/>
                </a:solidFill>
                <a:latin typeface="Aptos"/>
                <a:ea typeface="Aptos"/>
                <a:cs typeface="Aptos"/>
              </a:rPr>
              <a:t>Rows are true labels. Columns are predicted labels.</a:t>
            </a:r>
          </a:p>
        </p:txBody>
      </p:sp>
      <p:sp>
        <p:nvSpPr>
          <p:cNvPr id="8" name="Rectangle 7">
            <a:extLst>
              <a:ext uri="{FF2B5EF4-FFF2-40B4-BE49-F238E27FC236}">
                <a16:creationId xmlns:a16="http://schemas.microsoft.com/office/drawing/2014/main" id="{52B5DF7C-D9CB-4A8B-951D-825542172524}"/>
              </a:ext>
            </a:extLst>
          </p:cNvPr>
          <p:cNvSpPr>
            <a:spLocks noGrp="1"/>
          </p:cNvSpPr>
          <p:nvPr/>
        </p:nvSpPr>
        <p:spPr>
          <a:xfrm>
            <a:off x="723900" y="5676900"/>
            <a:ext cx="10477500" cy="381000"/>
          </a:xfrm>
          <a:prstGeom prst="rect">
            <a:avLst/>
          </a:prstGeom>
          <a:noFill/>
          <a:ln w="0">
            <a:noFill/>
            <a:prstDash val="solid"/>
          </a:ln>
        </p:spPr>
        <p:txBody>
          <a:bodyPr wrap="square" lIns="0" tIns="0" rIns="0" bIns="0" anchor="t">
            <a:normAutofit/>
          </a:bodyPr>
          <a:lstStyle>
            <a:defPPr algn="l">
              <a:defRPr sz="1425" b="0">
                <a:solidFill>
                  <a:srgbClr val="65746B"/>
                </a:solidFill>
                <a:latin typeface="Aptos"/>
                <a:ea typeface="Aptos"/>
                <a:cs typeface="Aptos"/>
              </a:defRPr>
            </a:defPPr>
          </a:lstStyle>
          <a:p>
            <a:pPr algn="l">
              <a:defRPr sz="1425" b="0">
                <a:solidFill>
                  <a:srgbClr val="65746B"/>
                </a:solidFill>
                <a:latin typeface="Aptos"/>
                <a:ea typeface="Aptos"/>
                <a:cs typeface="Aptos"/>
              </a:defRPr>
            </a:pPr>
            <a:r>
              <a:rPr sz="1425" b="0">
                <a:solidFill>
                  <a:srgbClr val="65746B"/>
                </a:solidFill>
                <a:latin typeface="Aptos"/>
                <a:ea typeface="Aptos"/>
                <a:cs typeface="Aptos"/>
              </a:rPr>
              <a:t>Diagonal values are correct predictions; off-diagonal values are errors.</a:t>
            </a:r>
          </a:p>
        </p:txBody>
      </p:sp>
    </p:spTree>
    <p:extLst>
      <p:ext uri="{BB962C8B-B14F-4D97-AF65-F5344CB8AC3E}">
        <p14:creationId xmlns:p14="http://schemas.microsoft.com/office/powerpoint/2010/main" val="2013127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E37465B-9788-4FC7-B151-6F27D85913A3}"/>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LARGEST HYBRID OFF-DIAGONAL COUNTS</a:t>
            </a:r>
          </a:p>
        </p:txBody>
      </p:sp>
      <p:sp>
        <p:nvSpPr>
          <p:cNvPr id="2" name="Rectangle 1">
            <a:extLst>
              <a:ext uri="{FF2B5EF4-FFF2-40B4-BE49-F238E27FC236}">
                <a16:creationId xmlns:a16="http://schemas.microsoft.com/office/drawing/2014/main" id="{D42C81A2-B4B2-4B65-B7B3-4FBADB80B4DF}"/>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Ice and snow account for several frequent confusions</a:t>
            </a:r>
          </a:p>
        </p:txBody>
      </p:sp>
      <p:sp>
        <p:nvSpPr>
          <p:cNvPr id="3" name="Rectangle 2">
            <a:extLst>
              <a:ext uri="{FF2B5EF4-FFF2-40B4-BE49-F238E27FC236}">
                <a16:creationId xmlns:a16="http://schemas.microsoft.com/office/drawing/2014/main" id="{4D18FB6D-0706-4338-B823-B4F98FA6059D}"/>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74F6A18F-4A7C-4DD6-8DE3-C41E2D3A1E83}"/>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F98DDA2A-6626-43F9-8109-FD16B919E76F}"/>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16 / 20</a:t>
            </a:r>
          </a:p>
        </p:txBody>
      </p:sp>
      <p:sp>
        <p:nvSpPr>
          <p:cNvPr id="6" name="Rectangle 5">
            <a:extLst>
              <a:ext uri="{FF2B5EF4-FFF2-40B4-BE49-F238E27FC236}">
                <a16:creationId xmlns:a16="http://schemas.microsoft.com/office/drawing/2014/main" id="{B3DAE730-7C45-4995-BEE4-81F28B8527D5}"/>
              </a:ext>
            </a:extLst>
          </p:cNvPr>
          <p:cNvSpPr>
            <a:spLocks noGrp="1"/>
          </p:cNvSpPr>
          <p:nvPr/>
        </p:nvSpPr>
        <p:spPr>
          <a:xfrm>
            <a:off x="800100" y="1733550"/>
            <a:ext cx="2952750" cy="342900"/>
          </a:xfrm>
          <a:prstGeom prst="rect">
            <a:avLst/>
          </a:prstGeom>
          <a:noFill/>
          <a:ln w="0">
            <a:noFill/>
            <a:prstDash val="solid"/>
          </a:ln>
        </p:spPr>
        <p:txBody>
          <a:bodyPr wrap="square" lIns="0" tIns="0" rIns="0" bIns="0" anchor="t">
            <a:normAutofit/>
          </a:bodyPr>
          <a:lstStyle>
            <a:defPPr algn="l">
              <a:defRPr sz="1725" b="1">
                <a:solidFill>
                  <a:srgbClr val="26322D"/>
                </a:solidFill>
                <a:latin typeface="Aptos"/>
                <a:ea typeface="Aptos"/>
                <a:cs typeface="Aptos"/>
              </a:defRPr>
            </a:defPPr>
          </a:lstStyle>
          <a:p>
            <a:pPr algn="l">
              <a:defRPr sz="1725" b="1">
                <a:solidFill>
                  <a:srgbClr val="26322D"/>
                </a:solidFill>
                <a:latin typeface="Aptos"/>
                <a:ea typeface="Aptos"/>
                <a:cs typeface="Aptos"/>
              </a:defRPr>
            </a:pPr>
            <a:r>
              <a:rPr sz="1725" b="1">
                <a:solidFill>
                  <a:srgbClr val="26322D"/>
                </a:solidFill>
                <a:latin typeface="Aptos"/>
                <a:ea typeface="Aptos"/>
                <a:cs typeface="Aptos"/>
              </a:rPr>
              <a:t>Ice → flooring</a:t>
            </a:r>
          </a:p>
        </p:txBody>
      </p:sp>
      <p:sp>
        <p:nvSpPr>
          <p:cNvPr id="7" name="Rectangle 6">
            <a:extLst>
              <a:ext uri="{FF2B5EF4-FFF2-40B4-BE49-F238E27FC236}">
                <a16:creationId xmlns:a16="http://schemas.microsoft.com/office/drawing/2014/main" id="{FF520697-DC32-4178-B8C1-175EED24B79F}"/>
              </a:ext>
            </a:extLst>
          </p:cNvPr>
          <p:cNvSpPr>
            <a:spLocks noGrp="1"/>
          </p:cNvSpPr>
          <p:nvPr/>
        </p:nvSpPr>
        <p:spPr>
          <a:xfrm>
            <a:off x="3905250" y="1762125"/>
            <a:ext cx="5334000" cy="257175"/>
          </a:xfrm>
          <a:prstGeom prst="rect">
            <a:avLst/>
          </a:prstGeom>
          <a:solidFill>
            <a:srgbClr val="EEF1EA"/>
          </a:solidFill>
          <a:ln w="0">
            <a:noFill/>
            <a:prstDash val="solid"/>
          </a:ln>
        </p:spPr>
      </p:sp>
      <p:sp>
        <p:nvSpPr>
          <p:cNvPr id="8" name="Rectangle 7">
            <a:extLst>
              <a:ext uri="{FF2B5EF4-FFF2-40B4-BE49-F238E27FC236}">
                <a16:creationId xmlns:a16="http://schemas.microsoft.com/office/drawing/2014/main" id="{6D6F3F62-DA50-45AE-888D-70B7F617E429}"/>
              </a:ext>
            </a:extLst>
          </p:cNvPr>
          <p:cNvSpPr>
            <a:spLocks noGrp="1"/>
          </p:cNvSpPr>
          <p:nvPr/>
        </p:nvSpPr>
        <p:spPr>
          <a:xfrm>
            <a:off x="3905250" y="1762125"/>
            <a:ext cx="4667250" cy="257175"/>
          </a:xfrm>
          <a:prstGeom prst="rect">
            <a:avLst/>
          </a:prstGeom>
          <a:solidFill>
            <a:srgbClr val="BB6D48"/>
          </a:solidFill>
          <a:ln w="0">
            <a:noFill/>
            <a:prstDash val="solid"/>
          </a:ln>
        </p:spPr>
      </p:sp>
      <p:sp>
        <p:nvSpPr>
          <p:cNvPr id="9" name="Rectangle 8">
            <a:extLst>
              <a:ext uri="{FF2B5EF4-FFF2-40B4-BE49-F238E27FC236}">
                <a16:creationId xmlns:a16="http://schemas.microsoft.com/office/drawing/2014/main" id="{D0A8F6E5-6A83-47CB-9366-FDCAB35F8F41}"/>
              </a:ext>
            </a:extLst>
          </p:cNvPr>
          <p:cNvSpPr>
            <a:spLocks noGrp="1"/>
          </p:cNvSpPr>
          <p:nvPr/>
        </p:nvSpPr>
        <p:spPr>
          <a:xfrm>
            <a:off x="9525000" y="1724025"/>
            <a:ext cx="1047750" cy="342900"/>
          </a:xfrm>
          <a:prstGeom prst="rect">
            <a:avLst/>
          </a:prstGeom>
          <a:noFill/>
          <a:ln w="0">
            <a:noFill/>
            <a:prstDash val="solid"/>
          </a:ln>
        </p:spPr>
        <p:txBody>
          <a:bodyPr wrap="square" lIns="0" tIns="0" rIns="0" bIns="0" anchor="t">
            <a:normAutofit/>
          </a:bodyPr>
          <a:lstStyle>
            <a:defPPr algn="l">
              <a:defRPr sz="1800" b="1">
                <a:solidFill>
                  <a:srgbClr val="BB6D48"/>
                </a:solidFill>
                <a:latin typeface="Aptos"/>
                <a:ea typeface="Aptos"/>
                <a:cs typeface="Aptos"/>
              </a:defRPr>
            </a:defPPr>
          </a:lstStyle>
          <a:p>
            <a:pPr algn="l">
              <a:defRPr sz="1800" b="1">
                <a:solidFill>
                  <a:srgbClr val="BB6D48"/>
                </a:solidFill>
                <a:latin typeface="Aptos"/>
                <a:ea typeface="Aptos"/>
                <a:cs typeface="Aptos"/>
              </a:defRPr>
            </a:pPr>
            <a:r>
              <a:rPr sz="1800" b="1">
                <a:solidFill>
                  <a:srgbClr val="BB6D48"/>
                </a:solidFill>
                <a:latin typeface="Aptos"/>
                <a:ea typeface="Aptos"/>
                <a:cs typeface="Aptos"/>
              </a:rPr>
              <a:t>35</a:t>
            </a:r>
          </a:p>
        </p:txBody>
      </p:sp>
      <p:sp>
        <p:nvSpPr>
          <p:cNvPr id="10" name="Rectangle 9">
            <a:extLst>
              <a:ext uri="{FF2B5EF4-FFF2-40B4-BE49-F238E27FC236}">
                <a16:creationId xmlns:a16="http://schemas.microsoft.com/office/drawing/2014/main" id="{76181C25-A06F-4499-9C5A-723661622852}"/>
              </a:ext>
            </a:extLst>
          </p:cNvPr>
          <p:cNvSpPr>
            <a:spLocks noGrp="1"/>
          </p:cNvSpPr>
          <p:nvPr/>
        </p:nvSpPr>
        <p:spPr>
          <a:xfrm>
            <a:off x="800100" y="2609850"/>
            <a:ext cx="2952750" cy="342900"/>
          </a:xfrm>
          <a:prstGeom prst="rect">
            <a:avLst/>
          </a:prstGeom>
          <a:noFill/>
          <a:ln w="0">
            <a:noFill/>
            <a:prstDash val="solid"/>
          </a:ln>
        </p:spPr>
        <p:txBody>
          <a:bodyPr wrap="square" lIns="0" tIns="0" rIns="0" bIns="0" anchor="t">
            <a:normAutofit/>
          </a:bodyPr>
          <a:lstStyle>
            <a:defPPr algn="l">
              <a:defRPr sz="1725" b="1">
                <a:solidFill>
                  <a:srgbClr val="26322D"/>
                </a:solidFill>
                <a:latin typeface="Aptos"/>
                <a:ea typeface="Aptos"/>
                <a:cs typeface="Aptos"/>
              </a:defRPr>
            </a:defPPr>
          </a:lstStyle>
          <a:p>
            <a:pPr algn="l">
              <a:defRPr sz="1725" b="1">
                <a:solidFill>
                  <a:srgbClr val="26322D"/>
                </a:solidFill>
                <a:latin typeface="Aptos"/>
                <a:ea typeface="Aptos"/>
                <a:cs typeface="Aptos"/>
              </a:defRPr>
            </a:pPr>
            <a:r>
              <a:rPr sz="1725" b="1">
                <a:solidFill>
                  <a:srgbClr val="26322D"/>
                </a:solidFill>
                <a:latin typeface="Aptos"/>
                <a:ea typeface="Aptos"/>
                <a:cs typeface="Aptos"/>
              </a:rPr>
              <a:t>Snow → ice</a:t>
            </a:r>
          </a:p>
        </p:txBody>
      </p:sp>
      <p:sp>
        <p:nvSpPr>
          <p:cNvPr id="11" name="Rectangle 10">
            <a:extLst>
              <a:ext uri="{FF2B5EF4-FFF2-40B4-BE49-F238E27FC236}">
                <a16:creationId xmlns:a16="http://schemas.microsoft.com/office/drawing/2014/main" id="{C244386E-38C2-444B-8D3F-26959DAEE38E}"/>
              </a:ext>
            </a:extLst>
          </p:cNvPr>
          <p:cNvSpPr>
            <a:spLocks noGrp="1"/>
          </p:cNvSpPr>
          <p:nvPr/>
        </p:nvSpPr>
        <p:spPr>
          <a:xfrm>
            <a:off x="3905250" y="2638425"/>
            <a:ext cx="5334000" cy="257175"/>
          </a:xfrm>
          <a:prstGeom prst="rect">
            <a:avLst/>
          </a:prstGeom>
          <a:solidFill>
            <a:srgbClr val="EEF1EA"/>
          </a:solidFill>
          <a:ln w="0">
            <a:noFill/>
            <a:prstDash val="solid"/>
          </a:ln>
        </p:spPr>
      </p:sp>
      <p:sp>
        <p:nvSpPr>
          <p:cNvPr id="12" name="Rectangle 11">
            <a:extLst>
              <a:ext uri="{FF2B5EF4-FFF2-40B4-BE49-F238E27FC236}">
                <a16:creationId xmlns:a16="http://schemas.microsoft.com/office/drawing/2014/main" id="{B7ADC2DE-73CF-4344-AEC0-D1367E7F66D2}"/>
              </a:ext>
            </a:extLst>
          </p:cNvPr>
          <p:cNvSpPr>
            <a:spLocks noGrp="1"/>
          </p:cNvSpPr>
          <p:nvPr/>
        </p:nvSpPr>
        <p:spPr>
          <a:xfrm>
            <a:off x="3905250" y="2638425"/>
            <a:ext cx="2800350" cy="257175"/>
          </a:xfrm>
          <a:prstGeom prst="rect">
            <a:avLst/>
          </a:prstGeom>
          <a:solidFill>
            <a:srgbClr val="789578"/>
          </a:solidFill>
          <a:ln w="0">
            <a:noFill/>
            <a:prstDash val="solid"/>
          </a:ln>
        </p:spPr>
      </p:sp>
      <p:sp>
        <p:nvSpPr>
          <p:cNvPr id="13" name="Rectangle 12">
            <a:extLst>
              <a:ext uri="{FF2B5EF4-FFF2-40B4-BE49-F238E27FC236}">
                <a16:creationId xmlns:a16="http://schemas.microsoft.com/office/drawing/2014/main" id="{F8727A11-B98F-4F44-ADEC-D9EFAB3A0947}"/>
              </a:ext>
            </a:extLst>
          </p:cNvPr>
          <p:cNvSpPr>
            <a:spLocks noGrp="1"/>
          </p:cNvSpPr>
          <p:nvPr/>
        </p:nvSpPr>
        <p:spPr>
          <a:xfrm>
            <a:off x="9525000" y="2600325"/>
            <a:ext cx="1047750" cy="342900"/>
          </a:xfrm>
          <a:prstGeom prst="rect">
            <a:avLst/>
          </a:prstGeom>
          <a:noFill/>
          <a:ln w="0">
            <a:noFill/>
            <a:prstDash val="solid"/>
          </a:ln>
        </p:spPr>
        <p:txBody>
          <a:bodyPr wrap="square" lIns="0" tIns="0" rIns="0" bIns="0" anchor="t">
            <a:normAutofit/>
          </a:bodyPr>
          <a:lstStyle>
            <a:defPPr algn="l">
              <a:defRPr sz="1800" b="1">
                <a:solidFill>
                  <a:srgbClr val="214C3B"/>
                </a:solidFill>
                <a:latin typeface="Aptos"/>
                <a:ea typeface="Aptos"/>
                <a:cs typeface="Aptos"/>
              </a:defRPr>
            </a:defPPr>
          </a:lstStyle>
          <a:p>
            <a:pPr algn="l">
              <a:defRPr sz="1800" b="1">
                <a:solidFill>
                  <a:srgbClr val="214C3B"/>
                </a:solidFill>
                <a:latin typeface="Aptos"/>
                <a:ea typeface="Aptos"/>
                <a:cs typeface="Aptos"/>
              </a:defRPr>
            </a:pPr>
            <a:r>
              <a:rPr sz="1800" b="1">
                <a:solidFill>
                  <a:srgbClr val="214C3B"/>
                </a:solidFill>
                <a:latin typeface="Aptos"/>
                <a:ea typeface="Aptos"/>
                <a:cs typeface="Aptos"/>
              </a:rPr>
              <a:t>21</a:t>
            </a:r>
          </a:p>
        </p:txBody>
      </p:sp>
      <p:sp>
        <p:nvSpPr>
          <p:cNvPr id="14" name="Rectangle 13">
            <a:extLst>
              <a:ext uri="{FF2B5EF4-FFF2-40B4-BE49-F238E27FC236}">
                <a16:creationId xmlns:a16="http://schemas.microsoft.com/office/drawing/2014/main" id="{E5B3E8DF-82F1-4F05-B5CF-D0A7E7C981B6}"/>
              </a:ext>
            </a:extLst>
          </p:cNvPr>
          <p:cNvSpPr>
            <a:spLocks noGrp="1"/>
          </p:cNvSpPr>
          <p:nvPr/>
        </p:nvSpPr>
        <p:spPr>
          <a:xfrm>
            <a:off x="800100" y="3486150"/>
            <a:ext cx="2952750" cy="342900"/>
          </a:xfrm>
          <a:prstGeom prst="rect">
            <a:avLst/>
          </a:prstGeom>
          <a:noFill/>
          <a:ln w="0">
            <a:noFill/>
            <a:prstDash val="solid"/>
          </a:ln>
        </p:spPr>
        <p:txBody>
          <a:bodyPr wrap="square" lIns="0" tIns="0" rIns="0" bIns="0" anchor="t">
            <a:normAutofit/>
          </a:bodyPr>
          <a:lstStyle>
            <a:defPPr algn="l">
              <a:defRPr sz="1725" b="1">
                <a:solidFill>
                  <a:srgbClr val="26322D"/>
                </a:solidFill>
                <a:latin typeface="Aptos"/>
                <a:ea typeface="Aptos"/>
                <a:cs typeface="Aptos"/>
              </a:defRPr>
            </a:defPPr>
          </a:lstStyle>
          <a:p>
            <a:pPr algn="l">
              <a:defRPr sz="1725" b="1">
                <a:solidFill>
                  <a:srgbClr val="26322D"/>
                </a:solidFill>
                <a:latin typeface="Aptos"/>
                <a:ea typeface="Aptos"/>
                <a:cs typeface="Aptos"/>
              </a:defRPr>
            </a:pPr>
            <a:r>
              <a:rPr sz="1725" b="1">
                <a:solidFill>
                  <a:srgbClr val="26322D"/>
                </a:solidFill>
                <a:latin typeface="Aptos"/>
                <a:ea typeface="Aptos"/>
                <a:cs typeface="Aptos"/>
              </a:rPr>
              <a:t>Flooring → snow</a:t>
            </a:r>
          </a:p>
        </p:txBody>
      </p:sp>
      <p:sp>
        <p:nvSpPr>
          <p:cNvPr id="15" name="Rectangle 14">
            <a:extLst>
              <a:ext uri="{FF2B5EF4-FFF2-40B4-BE49-F238E27FC236}">
                <a16:creationId xmlns:a16="http://schemas.microsoft.com/office/drawing/2014/main" id="{082AC5D5-DAD0-4459-89E0-53374FBB106D}"/>
              </a:ext>
            </a:extLst>
          </p:cNvPr>
          <p:cNvSpPr>
            <a:spLocks noGrp="1"/>
          </p:cNvSpPr>
          <p:nvPr/>
        </p:nvSpPr>
        <p:spPr>
          <a:xfrm>
            <a:off x="3905250" y="3514725"/>
            <a:ext cx="5334000" cy="257175"/>
          </a:xfrm>
          <a:prstGeom prst="rect">
            <a:avLst/>
          </a:prstGeom>
          <a:solidFill>
            <a:srgbClr val="EEF1EA"/>
          </a:solidFill>
          <a:ln w="0">
            <a:noFill/>
            <a:prstDash val="solid"/>
          </a:ln>
        </p:spPr>
      </p:sp>
      <p:sp>
        <p:nvSpPr>
          <p:cNvPr id="16" name="Rectangle 15">
            <a:extLst>
              <a:ext uri="{FF2B5EF4-FFF2-40B4-BE49-F238E27FC236}">
                <a16:creationId xmlns:a16="http://schemas.microsoft.com/office/drawing/2014/main" id="{83AA125A-0E93-4723-AD04-1067E9215D8A}"/>
              </a:ext>
            </a:extLst>
          </p:cNvPr>
          <p:cNvSpPr>
            <a:spLocks noGrp="1"/>
          </p:cNvSpPr>
          <p:nvPr/>
        </p:nvSpPr>
        <p:spPr>
          <a:xfrm>
            <a:off x="3905250" y="3514725"/>
            <a:ext cx="2667000" cy="257175"/>
          </a:xfrm>
          <a:prstGeom prst="rect">
            <a:avLst/>
          </a:prstGeom>
          <a:solidFill>
            <a:srgbClr val="789578"/>
          </a:solidFill>
          <a:ln w="0">
            <a:noFill/>
            <a:prstDash val="solid"/>
          </a:ln>
        </p:spPr>
      </p:sp>
      <p:sp>
        <p:nvSpPr>
          <p:cNvPr id="17" name="Rectangle 16">
            <a:extLst>
              <a:ext uri="{FF2B5EF4-FFF2-40B4-BE49-F238E27FC236}">
                <a16:creationId xmlns:a16="http://schemas.microsoft.com/office/drawing/2014/main" id="{232198A0-A9BE-4E1F-A5F1-1B1482B58B44}"/>
              </a:ext>
            </a:extLst>
          </p:cNvPr>
          <p:cNvSpPr>
            <a:spLocks noGrp="1"/>
          </p:cNvSpPr>
          <p:nvPr/>
        </p:nvSpPr>
        <p:spPr>
          <a:xfrm>
            <a:off x="9525000" y="3476625"/>
            <a:ext cx="1047750" cy="342900"/>
          </a:xfrm>
          <a:prstGeom prst="rect">
            <a:avLst/>
          </a:prstGeom>
          <a:noFill/>
          <a:ln w="0">
            <a:noFill/>
            <a:prstDash val="solid"/>
          </a:ln>
        </p:spPr>
        <p:txBody>
          <a:bodyPr wrap="square" lIns="0" tIns="0" rIns="0" bIns="0" anchor="t">
            <a:normAutofit/>
          </a:bodyPr>
          <a:lstStyle>
            <a:defPPr algn="l">
              <a:defRPr sz="1800" b="1">
                <a:solidFill>
                  <a:srgbClr val="214C3B"/>
                </a:solidFill>
                <a:latin typeface="Aptos"/>
                <a:ea typeface="Aptos"/>
                <a:cs typeface="Aptos"/>
              </a:defRPr>
            </a:defPPr>
          </a:lstStyle>
          <a:p>
            <a:pPr algn="l">
              <a:defRPr sz="1800" b="1">
                <a:solidFill>
                  <a:srgbClr val="214C3B"/>
                </a:solidFill>
                <a:latin typeface="Aptos"/>
                <a:ea typeface="Aptos"/>
                <a:cs typeface="Aptos"/>
              </a:defRPr>
            </a:pPr>
            <a:r>
              <a:rPr sz="1800" b="1">
                <a:solidFill>
                  <a:srgbClr val="214C3B"/>
                </a:solidFill>
                <a:latin typeface="Aptos"/>
                <a:ea typeface="Aptos"/>
                <a:cs typeface="Aptos"/>
              </a:rPr>
              <a:t>20</a:t>
            </a:r>
          </a:p>
        </p:txBody>
      </p:sp>
      <p:sp>
        <p:nvSpPr>
          <p:cNvPr id="18" name="Rectangle 17">
            <a:extLst>
              <a:ext uri="{FF2B5EF4-FFF2-40B4-BE49-F238E27FC236}">
                <a16:creationId xmlns:a16="http://schemas.microsoft.com/office/drawing/2014/main" id="{B9CA1D9B-9136-450F-B45E-A611AADA0D03}"/>
              </a:ext>
            </a:extLst>
          </p:cNvPr>
          <p:cNvSpPr>
            <a:spLocks noGrp="1"/>
          </p:cNvSpPr>
          <p:nvPr/>
        </p:nvSpPr>
        <p:spPr>
          <a:xfrm>
            <a:off x="800100" y="4362450"/>
            <a:ext cx="2952750" cy="342900"/>
          </a:xfrm>
          <a:prstGeom prst="rect">
            <a:avLst/>
          </a:prstGeom>
          <a:noFill/>
          <a:ln w="0">
            <a:noFill/>
            <a:prstDash val="solid"/>
          </a:ln>
        </p:spPr>
        <p:txBody>
          <a:bodyPr wrap="square" lIns="0" tIns="0" rIns="0" bIns="0" anchor="t">
            <a:normAutofit/>
          </a:bodyPr>
          <a:lstStyle>
            <a:defPPr algn="l">
              <a:defRPr sz="1725" b="1">
                <a:solidFill>
                  <a:srgbClr val="26322D"/>
                </a:solidFill>
                <a:latin typeface="Aptos"/>
                <a:ea typeface="Aptos"/>
                <a:cs typeface="Aptos"/>
              </a:defRPr>
            </a:defPPr>
          </a:lstStyle>
          <a:p>
            <a:pPr algn="l">
              <a:defRPr sz="1725" b="1">
                <a:solidFill>
                  <a:srgbClr val="26322D"/>
                </a:solidFill>
                <a:latin typeface="Aptos"/>
                <a:ea typeface="Aptos"/>
                <a:cs typeface="Aptos"/>
              </a:defRPr>
            </a:pPr>
            <a:r>
              <a:rPr sz="1725" b="1">
                <a:solidFill>
                  <a:srgbClr val="26322D"/>
                </a:solidFill>
                <a:latin typeface="Aptos"/>
                <a:ea typeface="Aptos"/>
                <a:cs typeface="Aptos"/>
              </a:rPr>
              <a:t>Snow → asphalt</a:t>
            </a:r>
          </a:p>
        </p:txBody>
      </p:sp>
      <p:sp>
        <p:nvSpPr>
          <p:cNvPr id="19" name="Rectangle 18">
            <a:extLst>
              <a:ext uri="{FF2B5EF4-FFF2-40B4-BE49-F238E27FC236}">
                <a16:creationId xmlns:a16="http://schemas.microsoft.com/office/drawing/2014/main" id="{31E2719A-A0A4-409D-913D-9D27D426AC1E}"/>
              </a:ext>
            </a:extLst>
          </p:cNvPr>
          <p:cNvSpPr>
            <a:spLocks noGrp="1"/>
          </p:cNvSpPr>
          <p:nvPr/>
        </p:nvSpPr>
        <p:spPr>
          <a:xfrm>
            <a:off x="3905250" y="4391025"/>
            <a:ext cx="5334000" cy="257175"/>
          </a:xfrm>
          <a:prstGeom prst="rect">
            <a:avLst/>
          </a:prstGeom>
          <a:solidFill>
            <a:srgbClr val="EEF1EA"/>
          </a:solidFill>
          <a:ln w="0">
            <a:noFill/>
            <a:prstDash val="solid"/>
          </a:ln>
        </p:spPr>
      </p:sp>
      <p:sp>
        <p:nvSpPr>
          <p:cNvPr id="20" name="Rectangle 19">
            <a:extLst>
              <a:ext uri="{FF2B5EF4-FFF2-40B4-BE49-F238E27FC236}">
                <a16:creationId xmlns:a16="http://schemas.microsoft.com/office/drawing/2014/main" id="{2B7F8438-1921-4208-9DC8-2A7184C87BE3}"/>
              </a:ext>
            </a:extLst>
          </p:cNvPr>
          <p:cNvSpPr>
            <a:spLocks noGrp="1"/>
          </p:cNvSpPr>
          <p:nvPr/>
        </p:nvSpPr>
        <p:spPr>
          <a:xfrm>
            <a:off x="3905250" y="4391025"/>
            <a:ext cx="2266950" cy="257175"/>
          </a:xfrm>
          <a:prstGeom prst="rect">
            <a:avLst/>
          </a:prstGeom>
          <a:solidFill>
            <a:srgbClr val="789578"/>
          </a:solidFill>
          <a:ln w="0">
            <a:noFill/>
            <a:prstDash val="solid"/>
          </a:ln>
        </p:spPr>
      </p:sp>
      <p:sp>
        <p:nvSpPr>
          <p:cNvPr id="21" name="Rectangle 20">
            <a:extLst>
              <a:ext uri="{FF2B5EF4-FFF2-40B4-BE49-F238E27FC236}">
                <a16:creationId xmlns:a16="http://schemas.microsoft.com/office/drawing/2014/main" id="{02EAEABE-DF23-4683-AF21-89BB7FDEA047}"/>
              </a:ext>
            </a:extLst>
          </p:cNvPr>
          <p:cNvSpPr>
            <a:spLocks noGrp="1"/>
          </p:cNvSpPr>
          <p:nvPr/>
        </p:nvSpPr>
        <p:spPr>
          <a:xfrm>
            <a:off x="9525000" y="4352925"/>
            <a:ext cx="1047750" cy="342900"/>
          </a:xfrm>
          <a:prstGeom prst="rect">
            <a:avLst/>
          </a:prstGeom>
          <a:noFill/>
          <a:ln w="0">
            <a:noFill/>
            <a:prstDash val="solid"/>
          </a:ln>
        </p:spPr>
        <p:txBody>
          <a:bodyPr wrap="square" lIns="0" tIns="0" rIns="0" bIns="0" anchor="t">
            <a:normAutofit/>
          </a:bodyPr>
          <a:lstStyle>
            <a:defPPr algn="l">
              <a:defRPr sz="1800" b="1">
                <a:solidFill>
                  <a:srgbClr val="214C3B"/>
                </a:solidFill>
                <a:latin typeface="Aptos"/>
                <a:ea typeface="Aptos"/>
                <a:cs typeface="Aptos"/>
              </a:defRPr>
            </a:defPPr>
          </a:lstStyle>
          <a:p>
            <a:pPr algn="l">
              <a:defRPr sz="1800" b="1">
                <a:solidFill>
                  <a:srgbClr val="214C3B"/>
                </a:solidFill>
                <a:latin typeface="Aptos"/>
                <a:ea typeface="Aptos"/>
                <a:cs typeface="Aptos"/>
              </a:defRPr>
            </a:pPr>
            <a:r>
              <a:rPr sz="1800" b="1">
                <a:solidFill>
                  <a:srgbClr val="214C3B"/>
                </a:solidFill>
                <a:latin typeface="Aptos"/>
                <a:ea typeface="Aptos"/>
                <a:cs typeface="Aptos"/>
              </a:rPr>
              <a:t>17</a:t>
            </a:r>
          </a:p>
        </p:txBody>
      </p:sp>
      <p:sp>
        <p:nvSpPr>
          <p:cNvPr id="22" name="Rectangle 21">
            <a:extLst>
              <a:ext uri="{FF2B5EF4-FFF2-40B4-BE49-F238E27FC236}">
                <a16:creationId xmlns:a16="http://schemas.microsoft.com/office/drawing/2014/main" id="{6F2D267C-237E-43B2-81AD-339235116FC3}"/>
              </a:ext>
            </a:extLst>
          </p:cNvPr>
          <p:cNvSpPr>
            <a:spLocks noGrp="1"/>
          </p:cNvSpPr>
          <p:nvPr/>
        </p:nvSpPr>
        <p:spPr>
          <a:xfrm>
            <a:off x="800100" y="5543550"/>
            <a:ext cx="10287000" cy="333375"/>
          </a:xfrm>
          <a:prstGeom prst="rect">
            <a:avLst/>
          </a:prstGeom>
          <a:noFill/>
          <a:ln w="0">
            <a:noFill/>
            <a:prstDash val="solid"/>
          </a:ln>
        </p:spPr>
        <p:txBody>
          <a:bodyPr wrap="square" lIns="0" tIns="0" rIns="0" bIns="0" anchor="t">
            <a:normAutofit/>
          </a:bodyPr>
          <a:lstStyle>
            <a:defPPr algn="l">
              <a:defRPr sz="1425" b="0">
                <a:solidFill>
                  <a:srgbClr val="65746B"/>
                </a:solidFill>
                <a:latin typeface="Aptos"/>
                <a:ea typeface="Aptos"/>
                <a:cs typeface="Aptos"/>
              </a:defRPr>
            </a:defPPr>
          </a:lstStyle>
          <a:p>
            <a:pPr algn="l">
              <a:defRPr sz="1425" b="0">
                <a:solidFill>
                  <a:srgbClr val="65746B"/>
                </a:solidFill>
                <a:latin typeface="Aptos"/>
                <a:ea typeface="Aptos"/>
                <a:cs typeface="Aptos"/>
              </a:defRPr>
            </a:pPr>
            <a:r>
              <a:rPr sz="1425" b="0">
                <a:solidFill>
                  <a:srgbClr val="65746B"/>
                </a:solidFill>
                <a:latin typeface="Aptos"/>
                <a:ea typeface="Aptos"/>
                <a:cs typeface="Aptos"/>
              </a:rPr>
              <a:t>These counts describe this test split; they do not establish why the signals overlap.</a:t>
            </a:r>
          </a:p>
        </p:txBody>
      </p:sp>
    </p:spTree>
    <p:extLst>
      <p:ext uri="{BB962C8B-B14F-4D97-AF65-F5344CB8AC3E}">
        <p14:creationId xmlns:p14="http://schemas.microsoft.com/office/powerpoint/2010/main" val="17367710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2ADDD02-3C8C-41B5-B809-8A3AAE90E535}"/>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TRAINING HISTORY</a:t>
            </a:r>
          </a:p>
        </p:txBody>
      </p:sp>
      <p:sp>
        <p:nvSpPr>
          <p:cNvPr id="2" name="Rectangle 1">
            <a:extLst>
              <a:ext uri="{FF2B5EF4-FFF2-40B4-BE49-F238E27FC236}">
                <a16:creationId xmlns:a16="http://schemas.microsoft.com/office/drawing/2014/main" id="{42AC728A-0289-429A-82F6-AEA938B1A6E7}"/>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The hybrid checkpoint was selected at epoch 39</a:t>
            </a:r>
          </a:p>
        </p:txBody>
      </p:sp>
      <p:sp>
        <p:nvSpPr>
          <p:cNvPr id="3" name="Rectangle 2">
            <a:extLst>
              <a:ext uri="{FF2B5EF4-FFF2-40B4-BE49-F238E27FC236}">
                <a16:creationId xmlns:a16="http://schemas.microsoft.com/office/drawing/2014/main" id="{E7D3CBBD-C9B1-4793-8BC6-E12AE2CD5AF8}"/>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EDD9614B-B29E-4690-9F97-EEAEC4706946}"/>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EC936EE1-BA1C-4014-B0AC-8188583D3B37}"/>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17 / 20</a:t>
            </a:r>
          </a:p>
        </p:txBody>
      </p:sp>
      <p:pic>
        <p:nvPicPr>
          <p:cNvPr id="6" name="Picture 5">
            <a:extLst>
              <a:ext uri="{FF2B5EF4-FFF2-40B4-BE49-F238E27FC236}">
                <a16:creationId xmlns:a16="http://schemas.microsoft.com/office/drawing/2014/main" id="{8BD6F277-8D07-4215-B6E2-BB38028BFA19}"/>
              </a:ext>
            </a:extLst>
          </p:cNvPr>
          <p:cNvPicPr>
            <a:picLocks noChangeAspect="1"/>
          </p:cNvPicPr>
          <p:nvPr/>
        </p:nvPicPr>
        <p:blipFill>
          <a:blip r:embed="rId3"/>
          <a:stretch/>
        </p:blipFill>
        <p:spPr>
          <a:xfrm>
            <a:off x="723900" y="1583436"/>
            <a:ext cx="10744200" cy="3653028"/>
          </a:xfrm>
          <a:prstGeom prst="rect">
            <a:avLst/>
          </a:prstGeom>
        </p:spPr>
      </p:pic>
      <p:sp>
        <p:nvSpPr>
          <p:cNvPr id="7" name="Rectangle 6">
            <a:extLst>
              <a:ext uri="{FF2B5EF4-FFF2-40B4-BE49-F238E27FC236}">
                <a16:creationId xmlns:a16="http://schemas.microsoft.com/office/drawing/2014/main" id="{1D2791C5-A863-4415-9CAA-A6F99298336A}"/>
              </a:ext>
            </a:extLst>
          </p:cNvPr>
          <p:cNvSpPr>
            <a:spLocks noGrp="1"/>
          </p:cNvSpPr>
          <p:nvPr/>
        </p:nvSpPr>
        <p:spPr>
          <a:xfrm>
            <a:off x="742950" y="5467350"/>
            <a:ext cx="10477500" cy="400050"/>
          </a:xfrm>
          <a:prstGeom prst="rect">
            <a:avLst/>
          </a:prstGeom>
          <a:noFill/>
          <a:ln w="0">
            <a:noFill/>
            <a:prstDash val="solid"/>
          </a:ln>
        </p:spPr>
        <p:txBody>
          <a:bodyPr wrap="square" lIns="0" tIns="0" rIns="0" bIns="0" anchor="t">
            <a:normAutofit/>
          </a:bodyPr>
          <a:lstStyle>
            <a:defPPr algn="l">
              <a:defRPr sz="1650" b="1">
                <a:solidFill>
                  <a:srgbClr val="214C3B"/>
                </a:solidFill>
                <a:latin typeface="Aptos"/>
                <a:ea typeface="Aptos"/>
                <a:cs typeface="Aptos"/>
              </a:defRPr>
            </a:defPPr>
          </a:lstStyle>
          <a:p>
            <a:pPr algn="l">
              <a:defRPr sz="1650" b="1">
                <a:solidFill>
                  <a:srgbClr val="214C3B"/>
                </a:solidFill>
                <a:latin typeface="Aptos"/>
                <a:ea typeface="Aptos"/>
                <a:cs typeface="Aptos"/>
              </a:defRPr>
            </a:pPr>
            <a:r>
              <a:rPr sz="1650" b="1">
                <a:solidFill>
                  <a:srgbClr val="214C3B"/>
                </a:solidFill>
                <a:latin typeface="Aptos"/>
                <a:ea typeface="Aptos"/>
                <a:cs typeface="Aptos"/>
              </a:rPr>
              <a:t>Best validation macro-F1: raw CNN epoch 26  ·  hybrid epoch 39</a:t>
            </a:r>
          </a:p>
        </p:txBody>
      </p:sp>
      <p:sp>
        <p:nvSpPr>
          <p:cNvPr id="8" name="Rectangle 7">
            <a:extLst>
              <a:ext uri="{FF2B5EF4-FFF2-40B4-BE49-F238E27FC236}">
                <a16:creationId xmlns:a16="http://schemas.microsoft.com/office/drawing/2014/main" id="{091D2B82-3982-47E6-8B92-F83310E485CB}"/>
              </a:ext>
            </a:extLst>
          </p:cNvPr>
          <p:cNvSpPr>
            <a:spLocks noGrp="1"/>
          </p:cNvSpPr>
          <p:nvPr/>
        </p:nvSpPr>
        <p:spPr>
          <a:xfrm>
            <a:off x="742950" y="5895975"/>
            <a:ext cx="10477500" cy="266700"/>
          </a:xfrm>
          <a:prstGeom prst="rect">
            <a:avLst/>
          </a:prstGeom>
          <a:noFill/>
          <a:ln w="0">
            <a:noFill/>
            <a:prstDash val="solid"/>
          </a:ln>
        </p:spPr>
        <p:txBody>
          <a:bodyPr wrap="square" lIns="0" tIns="0" rIns="0" bIns="0" anchor="t">
            <a:normAutofit/>
          </a:bodyPr>
          <a:lstStyle>
            <a:defPPr algn="l">
              <a:defRPr sz="1350" b="0">
                <a:solidFill>
                  <a:srgbClr val="65746B"/>
                </a:solidFill>
                <a:latin typeface="Aptos"/>
                <a:ea typeface="Aptos"/>
                <a:cs typeface="Aptos"/>
              </a:defRPr>
            </a:defPPr>
          </a:lstStyle>
          <a:p>
            <a:pPr algn="l">
              <a:defRPr sz="1350" b="0">
                <a:solidFill>
                  <a:srgbClr val="65746B"/>
                </a:solidFill>
                <a:latin typeface="Aptos"/>
                <a:ea typeface="Aptos"/>
                <a:cs typeface="Aptos"/>
              </a:defRPr>
            </a:pPr>
            <a:r>
              <a:rPr sz="1350" b="0">
                <a:solidFill>
                  <a:srgbClr val="65746B"/>
                </a:solidFill>
                <a:latin typeface="Aptos"/>
                <a:ea typeface="Aptos"/>
                <a:cs typeface="Aptos"/>
              </a:rPr>
              <a:t>Validation score selects the checkpoint; test score does not.</a:t>
            </a:r>
          </a:p>
        </p:txBody>
      </p:sp>
    </p:spTree>
    <p:extLst>
      <p:ext uri="{BB962C8B-B14F-4D97-AF65-F5344CB8AC3E}">
        <p14:creationId xmlns:p14="http://schemas.microsoft.com/office/powerpoint/2010/main" val="1019096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591E432-D54D-4EA9-BE0E-9E538C871EF1}"/>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IMPLEMENTATION AND REPRODUCIBILITY</a:t>
            </a:r>
          </a:p>
        </p:txBody>
      </p:sp>
      <p:sp>
        <p:nvSpPr>
          <p:cNvPr id="2" name="Rectangle 1">
            <a:extLst>
              <a:ext uri="{FF2B5EF4-FFF2-40B4-BE49-F238E27FC236}">
                <a16:creationId xmlns:a16="http://schemas.microsoft.com/office/drawing/2014/main" id="{35842A6F-3C9A-4C6F-8C14-E101DF7E3567}"/>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The repository links data preparation to a local demo</a:t>
            </a:r>
          </a:p>
        </p:txBody>
      </p:sp>
      <p:sp>
        <p:nvSpPr>
          <p:cNvPr id="3" name="Rectangle 2">
            <a:extLst>
              <a:ext uri="{FF2B5EF4-FFF2-40B4-BE49-F238E27FC236}">
                <a16:creationId xmlns:a16="http://schemas.microsoft.com/office/drawing/2014/main" id="{87829A0D-BB58-47E7-A740-65C7FF067DD1}"/>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D8B87C2A-88FF-405B-A136-44E2ACBA97B7}"/>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61883611-EFA5-4311-9A3C-6ED293FF4AB0}"/>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18 / 20</a:t>
            </a:r>
          </a:p>
        </p:txBody>
      </p:sp>
      <p:graphicFrame>
        <p:nvGraphicFramePr>
          <p:cNvPr id="6" name="Table 5">
            <a:extLst>
              <a:ext uri="{FF2B5EF4-FFF2-40B4-BE49-F238E27FC236}">
                <a16:creationId xmlns:a16="http://schemas.microsoft.com/office/drawing/2014/main" id="{5500590B-96D8-411B-AF60-D75B5558824E}"/>
              </a:ext>
            </a:extLst>
          </p:cNvPr>
          <p:cNvGraphicFramePr/>
          <p:nvPr/>
        </p:nvGraphicFramePr>
        <p:xfrm>
          <a:off x="666750" y="1543050"/>
          <a:ext cx="10858500" cy="3095625"/>
        </p:xfrm>
        <a:graphic>
          <a:graphicData uri="http://schemas.openxmlformats.org/drawingml/2006/table">
            <a:tbl>
              <a:tblPr/>
              <a:tblGrid>
                <a:gridCol w="3333750">
                  <a:extLst>
                    <a:ext uri="{9D8B030D-6E8A-4147-A177-3AD203B41FA5}">
                      <a16:colId xmlns:a16="http://schemas.microsoft.com/office/drawing/2014/main" val="20000"/>
                    </a:ext>
                  </a:extLst>
                </a:gridCol>
                <a:gridCol w="7524750">
                  <a:extLst>
                    <a:ext uri="{9D8B030D-6E8A-4147-A177-3AD203B41FA5}">
                      <a16:colId xmlns:a16="http://schemas.microsoft.com/office/drawing/2014/main" val="20001"/>
                    </a:ext>
                  </a:extLst>
                </a:gridCol>
              </a:tblGrid>
              <a:tr h="342900">
                <a:tc>
                  <a:txBody>
                    <a:bodyPr/>
                    <a:lstStyle/>
                    <a:p>
                      <a:r>
                        <a:rPr sz="1350" b="1">
                          <a:solidFill>
                            <a:srgbClr val="FFFEFA"/>
                          </a:solidFill>
                          <a:latin typeface="Aptos"/>
                          <a:ea typeface="Aptos"/>
                          <a:cs typeface="Aptos"/>
                        </a:rPr>
                        <a:t>Project file</a:t>
                      </a:r>
                    </a:p>
                  </a:txBody>
                  <a:tcPr>
                    <a:lnL w="9525">
                      <a:solidFill>
                        <a:srgbClr val="D6DED4"/>
                      </a:solidFill>
                      <a:prstDash val="soli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tc>
                  <a:txBody>
                    <a:bodyPr/>
                    <a:lstStyle/>
                    <a:p>
                      <a:r>
                        <a:rPr sz="1350" b="1">
                          <a:solidFill>
                            <a:srgbClr val="FFFEFA"/>
                          </a:solidFill>
                          <a:latin typeface="Aptos"/>
                          <a:ea typeface="Aptos"/>
                          <a:cs typeface="Aptos"/>
                        </a:rPr>
                        <a:t>Role</a:t>
                      </a:r>
                    </a:p>
                  </a:txBody>
                  <a:tcPr>
                    <a:lnL w="9525" cap="flat" cmpd="sng" algn="ctr">
                      <a:solidFill>
                        <a:srgbClr val="D6DED4"/>
                      </a:solidFill>
                      <a:prstDash val="solid"/>
                      <a:round/>
                      <a:headEnd type="none" w="med" len="med"/>
                      <a:tailEnd type="none" w="med" len="med"/>
                    </a:lnL>
                    <a:lnR w="9525">
                      <a:solidFill>
                        <a:srgbClr val="D6DED4"/>
                      </a:solidFill>
                      <a:prstDash val="solid"/>
                    </a:lnR>
                    <a:lnT w="9525">
                      <a:solidFill>
                        <a:srgbClr val="D6DED4"/>
                      </a:solidFill>
                      <a:prstDash val="solid"/>
                    </a:lnT>
                    <a:lnB w="9525">
                      <a:solidFill>
                        <a:srgbClr val="D6DED4"/>
                      </a:solidFill>
                      <a:prstDash val="solid"/>
                    </a:lnB>
                    <a:solidFill>
                      <a:srgbClr val="214C3B"/>
                    </a:solidFill>
                  </a:tcPr>
                </a:tc>
                <a:extLst>
                  <a:ext uri="{0D108BD9-81ED-4DB2-BD59-A6C34878D82A}">
                    <a16:rowId xmlns:a16="http://schemas.microsoft.com/office/drawing/2014/main" val="10000"/>
                  </a:ext>
                </a:extLst>
              </a:tr>
              <a:tr h="0">
                <a:tc>
                  <a:txBody>
                    <a:bodyPr/>
                    <a:lstStyle/>
                    <a:p>
                      <a:r>
                        <a:rPr sz="1275" b="1">
                          <a:solidFill>
                            <a:srgbClr val="26322D"/>
                          </a:solidFill>
                          <a:latin typeface="Aptos"/>
                          <a:ea typeface="Aptos"/>
                          <a:cs typeface="Aptos"/>
                        </a:rPr>
                        <a:t>scripts/download_data.py</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275" b="0">
                          <a:solidFill>
                            <a:srgbClr val="26322D"/>
                          </a:solidFill>
                          <a:latin typeface="Aptos"/>
                          <a:ea typeface="Aptos"/>
                          <a:cs typeface="Aptos"/>
                        </a:rPr>
                        <a:t>Fetch pinned BorealTC files; verify Git SHA-1; record SHA-256</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1"/>
                  </a:ext>
                </a:extLst>
              </a:tr>
              <a:tr h="0">
                <a:tc>
                  <a:txBody>
                    <a:bodyPr/>
                    <a:lstStyle/>
                    <a:p>
                      <a:r>
                        <a:rPr sz="1275" b="1">
                          <a:solidFill>
                            <a:srgbClr val="26322D"/>
                          </a:solidFill>
                          <a:latin typeface="Aptos"/>
                          <a:ea typeface="Aptos"/>
                          <a:cs typeface="Aptos"/>
                        </a:rPr>
                        <a:t>terrain/data.py</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275" b="0">
                          <a:solidFill>
                            <a:srgbClr val="26322D"/>
                          </a:solidFill>
                          <a:latin typeface="Aptos"/>
                          <a:ea typeface="Aptos"/>
                          <a:cs typeface="Aptos"/>
                        </a:rPr>
                        <a:t>Validate, align, split recordings, window data, extract features</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extLst>
                  <a:ext uri="{0D108BD9-81ED-4DB2-BD59-A6C34878D82A}">
                    <a16:rowId xmlns:a16="http://schemas.microsoft.com/office/drawing/2014/main" val="10002"/>
                  </a:ext>
                </a:extLst>
              </a:tr>
              <a:tr h="0">
                <a:tc>
                  <a:txBody>
                    <a:bodyPr/>
                    <a:lstStyle/>
                    <a:p>
                      <a:r>
                        <a:rPr sz="1275" b="1">
                          <a:solidFill>
                            <a:srgbClr val="26322D"/>
                          </a:solidFill>
                          <a:latin typeface="Aptos"/>
                          <a:ea typeface="Aptos"/>
                          <a:cs typeface="Aptos"/>
                        </a:rPr>
                        <a:t>terrain/models.py + train.py</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275" b="0">
                          <a:solidFill>
                            <a:srgbClr val="26322D"/>
                          </a:solidFill>
                          <a:latin typeface="Aptos"/>
                          <a:ea typeface="Aptos"/>
                          <a:cs typeface="Aptos"/>
                        </a:rPr>
                        <a:t>Define CNN; train candidates; save metrics and checkpoints</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3"/>
                  </a:ext>
                </a:extLst>
              </a:tr>
              <a:tr h="0">
                <a:tc>
                  <a:txBody>
                    <a:bodyPr/>
                    <a:lstStyle/>
                    <a:p>
                      <a:r>
                        <a:rPr sz="1275" b="1">
                          <a:solidFill>
                            <a:srgbClr val="26322D"/>
                          </a:solidFill>
                          <a:latin typeface="Aptos"/>
                          <a:ea typeface="Aptos"/>
                          <a:cs typeface="Aptos"/>
                        </a:rPr>
                        <a:t>terrain/predict.py + app.py</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tc>
                  <a:txBody>
                    <a:bodyPr/>
                    <a:lstStyle/>
                    <a:p>
                      <a:r>
                        <a:rPr sz="1275" b="0">
                          <a:solidFill>
                            <a:srgbClr val="26322D"/>
                          </a:solidFill>
                          <a:latin typeface="Aptos"/>
                          <a:ea typeface="Aptos"/>
                          <a:cs typeface="Aptos"/>
                        </a:rPr>
                        <a:t>Load a saved model; predict and display held-out examples</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EEF1EA"/>
                    </a:solidFill>
                  </a:tcPr>
                </a:tc>
                <a:extLst>
                  <a:ext uri="{0D108BD9-81ED-4DB2-BD59-A6C34878D82A}">
                    <a16:rowId xmlns:a16="http://schemas.microsoft.com/office/drawing/2014/main" val="10004"/>
                  </a:ext>
                </a:extLst>
              </a:tr>
              <a:tr h="0">
                <a:tc>
                  <a:txBody>
                    <a:bodyPr/>
                    <a:lstStyle/>
                    <a:p>
                      <a:r>
                        <a:rPr sz="1275" b="1">
                          <a:solidFill>
                            <a:srgbClr val="26322D"/>
                          </a:solidFill>
                          <a:latin typeface="Aptos"/>
                          <a:ea typeface="Aptos"/>
                          <a:cs typeface="Aptos"/>
                        </a:rPr>
                        <a:t>tests/test_pipeline.py</a:t>
                      </a:r>
                    </a:p>
                  </a:txBody>
                  <a:tcPr>
                    <a:lnL w="9525">
                      <a:solidFill>
                        <a:srgbClr val="D6DED4"/>
                      </a:solidFill>
                      <a:prstDash val="soli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tc>
                  <a:txBody>
                    <a:bodyPr/>
                    <a:lstStyle/>
                    <a:p>
                      <a:r>
                        <a:rPr sz="1275" b="0">
                          <a:solidFill>
                            <a:srgbClr val="26322D"/>
                          </a:solidFill>
                          <a:latin typeface="Aptos"/>
                          <a:ea typeface="Aptos"/>
                          <a:cs typeface="Aptos"/>
                        </a:rPr>
                        <a:t>Data, model, checkpoint and Streamlit interaction checks</a:t>
                      </a:r>
                    </a:p>
                  </a:txBody>
                  <a:tcPr>
                    <a:lnL w="9525" cap="flat" cmpd="sng" algn="ctr">
                      <a:solidFill>
                        <a:srgbClr val="D6DED4"/>
                      </a:solidFill>
                      <a:prstDash val="solid"/>
                      <a:round/>
                      <a:headEnd type="none" w="med" len="med"/>
                      <a:tailEnd type="none" w="med" len="med"/>
                    </a:lnL>
                    <a:lnR w="9525">
                      <a:solidFill>
                        <a:srgbClr val="D6DED4"/>
                      </a:solidFill>
                      <a:prstDash val="solid"/>
                    </a:lnR>
                    <a:lnT w="9525" cap="flat" cmpd="sng" algn="ctr">
                      <a:solidFill>
                        <a:srgbClr val="D6DED4"/>
                      </a:solidFill>
                      <a:prstDash val="solid"/>
                      <a:round/>
                      <a:headEnd type="none" w="med" len="med"/>
                      <a:tailEnd type="none" w="med" len="med"/>
                    </a:lnT>
                    <a:lnB w="9525">
                      <a:solidFill>
                        <a:srgbClr val="D6DED4"/>
                      </a:solidFill>
                      <a:prstDash val="solid"/>
                    </a:lnB>
                    <a:solidFill>
                      <a:srgbClr val="FFFEFA"/>
                    </a:solidFill>
                  </a:tcPr>
                </a:tc>
                <a:extLst>
                  <a:ext uri="{0D108BD9-81ED-4DB2-BD59-A6C34878D82A}">
                    <a16:rowId xmlns:a16="http://schemas.microsoft.com/office/drawing/2014/main" val="10005"/>
                  </a:ext>
                </a:extLst>
              </a:tr>
            </a:tbl>
          </a:graphicData>
        </a:graphic>
      </p:graphicFrame>
      <p:sp>
        <p:nvSpPr>
          <p:cNvPr id="7" name="Rectangle 6">
            <a:extLst>
              <a:ext uri="{FF2B5EF4-FFF2-40B4-BE49-F238E27FC236}">
                <a16:creationId xmlns:a16="http://schemas.microsoft.com/office/drawing/2014/main" id="{4C38C935-562F-4144-BB06-7165559FE817}"/>
              </a:ext>
            </a:extLst>
          </p:cNvPr>
          <p:cNvSpPr>
            <a:spLocks noGrp="1"/>
          </p:cNvSpPr>
          <p:nvPr/>
        </p:nvSpPr>
        <p:spPr>
          <a:xfrm>
            <a:off x="704850" y="4962525"/>
            <a:ext cx="5143500" cy="285750"/>
          </a:xfrm>
          <a:prstGeom prst="rect">
            <a:avLst/>
          </a:prstGeom>
          <a:noFill/>
          <a:ln w="0">
            <a:noFill/>
            <a:prstDash val="solid"/>
          </a:ln>
        </p:spPr>
        <p:txBody>
          <a:bodyPr wrap="square" lIns="0" tIns="0" rIns="0" bIns="0" anchor="t">
            <a:normAutofit/>
          </a:bodyPr>
          <a:lstStyle>
            <a:defPPr algn="l">
              <a:defRPr sz="1200" b="1">
                <a:solidFill>
                  <a:srgbClr val="C2943B"/>
                </a:solidFill>
                <a:latin typeface="Aptos"/>
                <a:ea typeface="Aptos"/>
                <a:cs typeface="Aptos"/>
              </a:defRPr>
            </a:defPPr>
          </a:lstStyle>
          <a:p>
            <a:pPr algn="l">
              <a:defRPr sz="1200" b="1">
                <a:solidFill>
                  <a:srgbClr val="C2943B"/>
                </a:solidFill>
                <a:latin typeface="Aptos"/>
                <a:ea typeface="Aptos"/>
                <a:cs typeface="Aptos"/>
              </a:defRPr>
            </a:pPr>
            <a:r>
              <a:rPr sz="1200" b="1">
                <a:solidFill>
                  <a:srgbClr val="C2943B"/>
                </a:solidFill>
                <a:latin typeface="Aptos"/>
                <a:ea typeface="Aptos"/>
                <a:cs typeface="Aptos"/>
              </a:rPr>
              <a:t>REPRODUCE</a:t>
            </a:r>
          </a:p>
        </p:txBody>
      </p:sp>
      <p:sp>
        <p:nvSpPr>
          <p:cNvPr id="8" name="Rectangle 7">
            <a:extLst>
              <a:ext uri="{FF2B5EF4-FFF2-40B4-BE49-F238E27FC236}">
                <a16:creationId xmlns:a16="http://schemas.microsoft.com/office/drawing/2014/main" id="{EA566ED1-3F3A-42FA-891D-460088A04322}"/>
              </a:ext>
            </a:extLst>
          </p:cNvPr>
          <p:cNvSpPr>
            <a:spLocks noGrp="1"/>
          </p:cNvSpPr>
          <p:nvPr/>
        </p:nvSpPr>
        <p:spPr>
          <a:xfrm>
            <a:off x="704850" y="5334000"/>
            <a:ext cx="5286375" cy="838200"/>
          </a:xfrm>
          <a:prstGeom prst="rect">
            <a:avLst/>
          </a:prstGeom>
          <a:noFill/>
          <a:ln w="0">
            <a:noFill/>
            <a:prstDash val="solid"/>
          </a:ln>
        </p:spPr>
        <p:txBody>
          <a:bodyPr wrap="square" lIns="0" tIns="0" rIns="0" bIns="0" anchor="t">
            <a:normAutofit/>
          </a:bodyPr>
          <a:lstStyle>
            <a:defPPr algn="l">
              <a:defRPr sz="1350" b="0">
                <a:solidFill>
                  <a:srgbClr val="26322D"/>
                </a:solidFill>
                <a:latin typeface="Aptos"/>
                <a:ea typeface="Aptos"/>
                <a:cs typeface="Aptos"/>
              </a:defRPr>
            </a:defPPr>
          </a:lstStyle>
          <a:p>
            <a:pPr algn="l">
              <a:defRPr sz="1350" b="0">
                <a:solidFill>
                  <a:srgbClr val="26322D"/>
                </a:solidFill>
                <a:latin typeface="Aptos"/>
                <a:ea typeface="Aptos"/>
                <a:cs typeface="Aptos"/>
              </a:defRPr>
            </a:pPr>
            <a:r>
              <a:rPr sz="1350" b="0">
                <a:solidFill>
                  <a:srgbClr val="26322D"/>
                </a:solidFill>
                <a:latin typeface="Aptos"/>
                <a:ea typeface="Aptos"/>
                <a:cs typeface="Aptos"/>
              </a:rPr>
              <a:t>python scripts/download_data.py</a:t>
            </a:r>
          </a:p>
          <a:p>
            <a:pPr algn="l">
              <a:defRPr sz="1350" b="0">
                <a:solidFill>
                  <a:srgbClr val="26322D"/>
                </a:solidFill>
                <a:latin typeface="Aptos"/>
                <a:ea typeface="Aptos"/>
                <a:cs typeface="Aptos"/>
              </a:defRPr>
            </a:pPr>
            <a:r>
              <a:rPr sz="1350" b="0">
                <a:solidFill>
                  <a:srgbClr val="26322D"/>
                </a:solidFill>
                <a:latin typeface="Aptos"/>
                <a:ea typeface="Aptos"/>
                <a:cs typeface="Aptos"/>
              </a:rPr>
              <a:t>python -m terrain.data</a:t>
            </a:r>
          </a:p>
          <a:p>
            <a:pPr algn="l">
              <a:defRPr sz="1350" b="0">
                <a:solidFill>
                  <a:srgbClr val="26322D"/>
                </a:solidFill>
                <a:latin typeface="Aptos"/>
                <a:ea typeface="Aptos"/>
                <a:cs typeface="Aptos"/>
              </a:defRPr>
            </a:pPr>
            <a:r>
              <a:rPr sz="1350" b="0">
                <a:solidFill>
                  <a:srgbClr val="26322D"/>
                </a:solidFill>
                <a:latin typeface="Aptos"/>
                <a:ea typeface="Aptos"/>
                <a:cs typeface="Aptos"/>
              </a:rPr>
              <a:t>python -m terrain.train --epochs 60 --seed 42</a:t>
            </a:r>
          </a:p>
        </p:txBody>
      </p:sp>
      <p:sp>
        <p:nvSpPr>
          <p:cNvPr id="9" name="Rectangle 8">
            <a:extLst>
              <a:ext uri="{FF2B5EF4-FFF2-40B4-BE49-F238E27FC236}">
                <a16:creationId xmlns:a16="http://schemas.microsoft.com/office/drawing/2014/main" id="{EB5EF5AF-AC0F-4157-882D-6E12C35D73F9}"/>
              </a:ext>
            </a:extLst>
          </p:cNvPr>
          <p:cNvSpPr>
            <a:spLocks noGrp="1"/>
          </p:cNvSpPr>
          <p:nvPr/>
        </p:nvSpPr>
        <p:spPr>
          <a:xfrm>
            <a:off x="6477000" y="4962525"/>
            <a:ext cx="4762500" cy="285750"/>
          </a:xfrm>
          <a:prstGeom prst="rect">
            <a:avLst/>
          </a:prstGeom>
          <a:noFill/>
          <a:ln w="0">
            <a:noFill/>
            <a:prstDash val="solid"/>
          </a:ln>
        </p:spPr>
        <p:txBody>
          <a:bodyPr wrap="square" lIns="0" tIns="0" rIns="0" bIns="0" anchor="t">
            <a:normAutofit/>
          </a:bodyPr>
          <a:lstStyle>
            <a:defPPr algn="l">
              <a:defRPr sz="1200" b="1">
                <a:solidFill>
                  <a:srgbClr val="C2943B"/>
                </a:solidFill>
                <a:latin typeface="Aptos"/>
                <a:ea typeface="Aptos"/>
                <a:cs typeface="Aptos"/>
              </a:defRPr>
            </a:defPPr>
          </a:lstStyle>
          <a:p>
            <a:pPr algn="l">
              <a:defRPr sz="1200" b="1">
                <a:solidFill>
                  <a:srgbClr val="C2943B"/>
                </a:solidFill>
                <a:latin typeface="Aptos"/>
                <a:ea typeface="Aptos"/>
                <a:cs typeface="Aptos"/>
              </a:defRPr>
            </a:pPr>
            <a:r>
              <a:rPr sz="1200" b="1">
                <a:solidFill>
                  <a:srgbClr val="C2943B"/>
                </a:solidFill>
                <a:latin typeface="Aptos"/>
                <a:ea typeface="Aptos"/>
                <a:cs typeface="Aptos"/>
              </a:rPr>
              <a:t>DEMO</a:t>
            </a:r>
          </a:p>
        </p:txBody>
      </p:sp>
      <p:sp>
        <p:nvSpPr>
          <p:cNvPr id="10" name="Rectangle 9">
            <a:extLst>
              <a:ext uri="{FF2B5EF4-FFF2-40B4-BE49-F238E27FC236}">
                <a16:creationId xmlns:a16="http://schemas.microsoft.com/office/drawing/2014/main" id="{52CAACF1-26C2-42B0-9DDC-59625F13D042}"/>
              </a:ext>
            </a:extLst>
          </p:cNvPr>
          <p:cNvSpPr>
            <a:spLocks noGrp="1"/>
          </p:cNvSpPr>
          <p:nvPr/>
        </p:nvSpPr>
        <p:spPr>
          <a:xfrm>
            <a:off x="6477000" y="5334000"/>
            <a:ext cx="4762500" cy="523875"/>
          </a:xfrm>
          <a:prstGeom prst="rect">
            <a:avLst/>
          </a:prstGeom>
          <a:noFill/>
          <a:ln w="0">
            <a:noFill/>
            <a:prstDash val="solid"/>
          </a:ln>
        </p:spPr>
        <p:txBody>
          <a:bodyPr wrap="square" lIns="0" tIns="0" rIns="0" bIns="0" anchor="t">
            <a:normAutofit/>
          </a:bodyPr>
          <a:lstStyle>
            <a:defPPr algn="l">
              <a:defRPr sz="1425" b="1">
                <a:solidFill>
                  <a:srgbClr val="214C3B"/>
                </a:solidFill>
                <a:latin typeface="Aptos"/>
                <a:ea typeface="Aptos"/>
                <a:cs typeface="Aptos"/>
              </a:defRPr>
            </a:defPPr>
          </a:lstStyle>
          <a:p>
            <a:pPr algn="l">
              <a:defRPr sz="1425" b="1">
                <a:solidFill>
                  <a:srgbClr val="214C3B"/>
                </a:solidFill>
                <a:latin typeface="Aptos"/>
                <a:ea typeface="Aptos"/>
                <a:cs typeface="Aptos"/>
              </a:defRPr>
            </a:pPr>
            <a:r>
              <a:rPr sz="1425" b="1">
                <a:solidFill>
                  <a:srgbClr val="214C3B"/>
                </a:solidFill>
                <a:latin typeface="Aptos"/>
                <a:ea typeface="Aptos"/>
                <a:cs typeface="Aptos"/>
              </a:rPr>
              <a:t>python -m streamlit run app.py</a:t>
            </a:r>
          </a:p>
        </p:txBody>
      </p:sp>
      <p:sp>
        <p:nvSpPr>
          <p:cNvPr id="11" name="Rectangle 10">
            <a:extLst>
              <a:ext uri="{FF2B5EF4-FFF2-40B4-BE49-F238E27FC236}">
                <a16:creationId xmlns:a16="http://schemas.microsoft.com/office/drawing/2014/main" id="{B08A912D-7167-48EB-B2E8-E29115F03198}"/>
              </a:ext>
            </a:extLst>
          </p:cNvPr>
          <p:cNvSpPr>
            <a:spLocks noGrp="1"/>
          </p:cNvSpPr>
          <p:nvPr/>
        </p:nvSpPr>
        <p:spPr>
          <a:xfrm>
            <a:off x="6477000" y="5772150"/>
            <a:ext cx="4762500" cy="342900"/>
          </a:xfrm>
          <a:prstGeom prst="rect">
            <a:avLst/>
          </a:prstGeom>
          <a:noFill/>
          <a:ln w="0">
            <a:noFill/>
            <a:prstDash val="solid"/>
          </a:ln>
        </p:spPr>
        <p:txBody>
          <a:bodyPr wrap="square" lIns="0" tIns="0" rIns="0" bIns="0" anchor="t">
            <a:normAutofit/>
          </a:bodyPr>
          <a:lstStyle>
            <a:defPPr algn="l">
              <a:defRPr sz="1275" b="0">
                <a:solidFill>
                  <a:srgbClr val="65746B"/>
                </a:solidFill>
                <a:latin typeface="Aptos"/>
                <a:ea typeface="Aptos"/>
                <a:cs typeface="Aptos"/>
              </a:defRPr>
            </a:defPPr>
          </a:lstStyle>
          <a:p>
            <a:pPr algn="l">
              <a:defRPr sz="1275" b="0">
                <a:solidFill>
                  <a:srgbClr val="65746B"/>
                </a:solidFill>
                <a:latin typeface="Aptos"/>
                <a:ea typeface="Aptos"/>
                <a:cs typeface="Aptos"/>
              </a:defRPr>
            </a:pPr>
            <a:r>
              <a:rPr sz="1275" b="0">
                <a:solidFill>
                  <a:srgbClr val="65746B"/>
                </a:solidFill>
                <a:latin typeface="Aptos"/>
                <a:ea typeface="Aptos"/>
                <a:cs typeface="Aptos"/>
              </a:rPr>
              <a:t>50 real held-out samples; softmax is uncalibrated.</a:t>
            </a:r>
          </a:p>
        </p:txBody>
      </p:sp>
    </p:spTree>
    <p:extLst>
      <p:ext uri="{BB962C8B-B14F-4D97-AF65-F5344CB8AC3E}">
        <p14:creationId xmlns:p14="http://schemas.microsoft.com/office/powerpoint/2010/main" val="1550516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E7B6CB9-7164-44B7-8EFD-013D2E98A69F}"/>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CONCLUSION</a:t>
            </a:r>
          </a:p>
        </p:txBody>
      </p:sp>
      <p:sp>
        <p:nvSpPr>
          <p:cNvPr id="2" name="Rectangle 1">
            <a:extLst>
              <a:ext uri="{FF2B5EF4-FFF2-40B4-BE49-F238E27FC236}">
                <a16:creationId xmlns:a16="http://schemas.microsoft.com/office/drawing/2014/main" id="{D53F648E-514D-46EC-837A-8DDB9A07AE3B}"/>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A strong split result with clear limits</a:t>
            </a:r>
          </a:p>
        </p:txBody>
      </p:sp>
      <p:sp>
        <p:nvSpPr>
          <p:cNvPr id="3" name="Rectangle 2">
            <a:extLst>
              <a:ext uri="{FF2B5EF4-FFF2-40B4-BE49-F238E27FC236}">
                <a16:creationId xmlns:a16="http://schemas.microsoft.com/office/drawing/2014/main" id="{AA5CBDA3-6022-48EB-91EB-AAE21AFED4A7}"/>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47CA7AE2-56D9-4D48-8543-D3E0EDF4C784}"/>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FBB8875B-BDA7-40A5-A744-FDE7D0FB2C00}"/>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19 / 20</a:t>
            </a:r>
          </a:p>
        </p:txBody>
      </p:sp>
      <p:sp>
        <p:nvSpPr>
          <p:cNvPr id="6" name="Rectangle 5">
            <a:extLst>
              <a:ext uri="{FF2B5EF4-FFF2-40B4-BE49-F238E27FC236}">
                <a16:creationId xmlns:a16="http://schemas.microsoft.com/office/drawing/2014/main" id="{F7CC15FA-BFE9-4F76-BD60-6E43E9F9F9A4}"/>
              </a:ext>
            </a:extLst>
          </p:cNvPr>
          <p:cNvSpPr>
            <a:spLocks noGrp="1"/>
          </p:cNvSpPr>
          <p:nvPr/>
        </p:nvSpPr>
        <p:spPr>
          <a:xfrm>
            <a:off x="723900" y="1590675"/>
            <a:ext cx="4095750" cy="342900"/>
          </a:xfrm>
          <a:prstGeom prst="rect">
            <a:avLst/>
          </a:prstGeom>
          <a:noFill/>
          <a:ln w="0">
            <a:noFill/>
            <a:prstDash val="solid"/>
          </a:ln>
        </p:spPr>
        <p:txBody>
          <a:bodyPr wrap="square" lIns="0" tIns="0" rIns="0" bIns="0" anchor="t">
            <a:normAutofit/>
          </a:bodyPr>
          <a:lstStyle>
            <a:defPPr algn="l">
              <a:defRPr sz="1275" b="1">
                <a:solidFill>
                  <a:srgbClr val="C2943B"/>
                </a:solidFill>
                <a:latin typeface="Aptos"/>
                <a:ea typeface="Aptos"/>
                <a:cs typeface="Aptos"/>
              </a:defRPr>
            </a:defPPr>
          </a:lstStyle>
          <a:p>
            <a:pPr algn="l">
              <a:defRPr sz="1275" b="1">
                <a:solidFill>
                  <a:srgbClr val="C2943B"/>
                </a:solidFill>
                <a:latin typeface="Aptos"/>
                <a:ea typeface="Aptos"/>
                <a:cs typeface="Aptos"/>
              </a:defRPr>
            </a:pPr>
            <a:r>
              <a:rPr sz="1275" b="1">
                <a:solidFill>
                  <a:srgbClr val="C2943B"/>
                </a:solidFill>
                <a:latin typeface="Aptos"/>
                <a:ea typeface="Aptos"/>
                <a:cs typeface="Aptos"/>
              </a:rPr>
              <a:t>WHAT THE RESULTS SUPPORT</a:t>
            </a:r>
          </a:p>
        </p:txBody>
      </p:sp>
      <p:sp>
        <p:nvSpPr>
          <p:cNvPr id="7" name="Rectangle 6">
            <a:extLst>
              <a:ext uri="{FF2B5EF4-FFF2-40B4-BE49-F238E27FC236}">
                <a16:creationId xmlns:a16="http://schemas.microsoft.com/office/drawing/2014/main" id="{6FB3AD75-6EEF-4ED8-996F-955069121ADD}"/>
              </a:ext>
            </a:extLst>
          </p:cNvPr>
          <p:cNvSpPr>
            <a:spLocks noGrp="1"/>
          </p:cNvSpPr>
          <p:nvPr/>
        </p:nvSpPr>
        <p:spPr>
          <a:xfrm>
            <a:off x="723900" y="2019300"/>
            <a:ext cx="4191000" cy="1457325"/>
          </a:xfrm>
          <a:prstGeom prst="rect">
            <a:avLst/>
          </a:prstGeom>
          <a:noFill/>
          <a:ln w="0">
            <a:noFill/>
            <a:prstDash val="solid"/>
          </a:ln>
        </p:spPr>
        <p:txBody>
          <a:bodyPr wrap="square" lIns="0" tIns="0" rIns="0" bIns="0" anchor="t">
            <a:normAutofit/>
          </a:bodyPr>
          <a:lstStyle>
            <a:defPPr algn="l">
              <a:defRPr sz="2025" b="1">
                <a:solidFill>
                  <a:srgbClr val="214C3B"/>
                </a:solidFill>
                <a:latin typeface="Aptos"/>
                <a:ea typeface="Aptos"/>
                <a:cs typeface="Aptos"/>
              </a:defRPr>
            </a:defPPr>
          </a:lstStyle>
          <a:p>
            <a:pPr algn="l">
              <a:defRPr sz="2025" b="1">
                <a:solidFill>
                  <a:srgbClr val="214C3B"/>
                </a:solidFill>
                <a:latin typeface="Aptos"/>
                <a:ea typeface="Aptos"/>
                <a:cs typeface="Aptos"/>
              </a:defRPr>
            </a:pPr>
            <a:r>
              <a:rPr sz="2025" b="1">
                <a:solidFill>
                  <a:srgbClr val="214C3B"/>
                </a:solidFill>
                <a:latin typeface="Aptos"/>
                <a:ea typeface="Aptos"/>
                <a:cs typeface="Aptos"/>
              </a:rPr>
              <a:t>The CNN + statistics model reached 86.3% accuracy and 0.845 macro-F1 on 930 held-out windows from unseen recordings.</a:t>
            </a:r>
          </a:p>
        </p:txBody>
      </p:sp>
      <p:sp>
        <p:nvSpPr>
          <p:cNvPr id="8" name="Rectangle 7">
            <a:extLst>
              <a:ext uri="{FF2B5EF4-FFF2-40B4-BE49-F238E27FC236}">
                <a16:creationId xmlns:a16="http://schemas.microsoft.com/office/drawing/2014/main" id="{90B62C10-B55B-4563-9226-DDD92EBA0058}"/>
              </a:ext>
            </a:extLst>
          </p:cNvPr>
          <p:cNvSpPr>
            <a:spLocks noGrp="1"/>
          </p:cNvSpPr>
          <p:nvPr/>
        </p:nvSpPr>
        <p:spPr>
          <a:xfrm>
            <a:off x="5657850" y="1581150"/>
            <a:ext cx="9525" cy="4095750"/>
          </a:xfrm>
          <a:prstGeom prst="rect">
            <a:avLst/>
          </a:prstGeom>
          <a:solidFill>
            <a:srgbClr val="D6DED4"/>
          </a:solidFill>
          <a:ln w="0">
            <a:noFill/>
            <a:prstDash val="solid"/>
          </a:ln>
        </p:spPr>
      </p:sp>
      <p:sp>
        <p:nvSpPr>
          <p:cNvPr id="9" name="Rectangle 8">
            <a:extLst>
              <a:ext uri="{FF2B5EF4-FFF2-40B4-BE49-F238E27FC236}">
                <a16:creationId xmlns:a16="http://schemas.microsoft.com/office/drawing/2014/main" id="{2CBEF83A-9586-472D-8B8C-793C82E4ACA3}"/>
              </a:ext>
            </a:extLst>
          </p:cNvPr>
          <p:cNvSpPr>
            <a:spLocks noGrp="1"/>
          </p:cNvSpPr>
          <p:nvPr/>
        </p:nvSpPr>
        <p:spPr>
          <a:xfrm>
            <a:off x="6134100" y="1590675"/>
            <a:ext cx="5095875" cy="342900"/>
          </a:xfrm>
          <a:prstGeom prst="rect">
            <a:avLst/>
          </a:prstGeom>
          <a:noFill/>
          <a:ln w="0">
            <a:noFill/>
            <a:prstDash val="solid"/>
          </a:ln>
        </p:spPr>
        <p:txBody>
          <a:bodyPr wrap="square" lIns="0" tIns="0" rIns="0" bIns="0" anchor="t">
            <a:normAutofit/>
          </a:bodyPr>
          <a:lstStyle>
            <a:defPPr algn="l">
              <a:defRPr sz="1275" b="1">
                <a:solidFill>
                  <a:srgbClr val="C2943B"/>
                </a:solidFill>
                <a:latin typeface="Aptos"/>
                <a:ea typeface="Aptos"/>
                <a:cs typeface="Aptos"/>
              </a:defRPr>
            </a:defPPr>
          </a:lstStyle>
          <a:p>
            <a:pPr algn="l">
              <a:defRPr sz="1275" b="1">
                <a:solidFill>
                  <a:srgbClr val="C2943B"/>
                </a:solidFill>
                <a:latin typeface="Aptos"/>
                <a:ea typeface="Aptos"/>
                <a:cs typeface="Aptos"/>
              </a:defRPr>
            </a:pPr>
            <a:r>
              <a:rPr sz="1275" b="1">
                <a:solidFill>
                  <a:srgbClr val="C2943B"/>
                </a:solidFill>
                <a:latin typeface="Aptos"/>
                <a:ea typeface="Aptos"/>
                <a:cs typeface="Aptos"/>
              </a:rPr>
              <a:t>WHAT THEY DO NOT ESTABLISH</a:t>
            </a:r>
          </a:p>
        </p:txBody>
      </p:sp>
      <p:sp>
        <p:nvSpPr>
          <p:cNvPr id="10" name="Rectangle 9">
            <a:extLst>
              <a:ext uri="{FF2B5EF4-FFF2-40B4-BE49-F238E27FC236}">
                <a16:creationId xmlns:a16="http://schemas.microsoft.com/office/drawing/2014/main" id="{F9E3AFEF-DD2A-4AFC-9F25-6187C2FB7D6D}"/>
              </a:ext>
            </a:extLst>
          </p:cNvPr>
          <p:cNvSpPr>
            <a:spLocks noGrp="1"/>
          </p:cNvSpPr>
          <p:nvPr/>
        </p:nvSpPr>
        <p:spPr>
          <a:xfrm>
            <a:off x="6153150" y="2114550"/>
            <a:ext cx="76200" cy="295275"/>
          </a:xfrm>
          <a:prstGeom prst="rect">
            <a:avLst/>
          </a:prstGeom>
          <a:solidFill>
            <a:srgbClr val="BB6D48"/>
          </a:solidFill>
          <a:ln w="0">
            <a:noFill/>
            <a:prstDash val="solid"/>
          </a:ln>
        </p:spPr>
      </p:sp>
      <p:sp>
        <p:nvSpPr>
          <p:cNvPr id="11" name="Rectangle 10">
            <a:extLst>
              <a:ext uri="{FF2B5EF4-FFF2-40B4-BE49-F238E27FC236}">
                <a16:creationId xmlns:a16="http://schemas.microsoft.com/office/drawing/2014/main" id="{8A5836C9-2D19-4AE5-A5DF-3D097A73EF26}"/>
              </a:ext>
            </a:extLst>
          </p:cNvPr>
          <p:cNvSpPr>
            <a:spLocks noGrp="1"/>
          </p:cNvSpPr>
          <p:nvPr/>
        </p:nvSpPr>
        <p:spPr>
          <a:xfrm>
            <a:off x="6381750" y="2105025"/>
            <a:ext cx="4762500" cy="457200"/>
          </a:xfrm>
          <a:prstGeom prst="rect">
            <a:avLst/>
          </a:prstGeom>
          <a:noFill/>
          <a:ln w="0">
            <a:noFill/>
            <a:prstDash val="solid"/>
          </a:ln>
        </p:spPr>
        <p:txBody>
          <a:bodyPr wrap="square" lIns="0" tIns="0" rIns="0" bIns="0" anchor="t">
            <a:normAutofit/>
          </a:bodyPr>
          <a:lstStyle>
            <a:defPPr algn="l">
              <a:defRPr sz="1425" b="0">
                <a:solidFill>
                  <a:srgbClr val="26322D"/>
                </a:solidFill>
                <a:latin typeface="Aptos"/>
                <a:ea typeface="Aptos"/>
                <a:cs typeface="Aptos"/>
              </a:defRPr>
            </a:defPPr>
          </a:lstStyle>
          <a:p>
            <a:pPr algn="l">
              <a:defRPr sz="1425" b="0">
                <a:solidFill>
                  <a:srgbClr val="26322D"/>
                </a:solidFill>
                <a:latin typeface="Aptos"/>
                <a:ea typeface="Aptos"/>
                <a:cs typeface="Aptos"/>
              </a:defRPr>
            </a:pPr>
            <a:r>
              <a:rPr sz="1425" b="0">
                <a:solidFill>
                  <a:srgbClr val="26322D"/>
                </a:solidFill>
                <a:latin typeface="Aptos"/>
                <a:ea typeface="Aptos"/>
                <a:cs typeface="Aptos"/>
              </a:rPr>
              <a:t>Only one recording split and one training seed</a:t>
            </a:r>
          </a:p>
        </p:txBody>
      </p:sp>
      <p:sp>
        <p:nvSpPr>
          <p:cNvPr id="12" name="Rectangle 11">
            <a:extLst>
              <a:ext uri="{FF2B5EF4-FFF2-40B4-BE49-F238E27FC236}">
                <a16:creationId xmlns:a16="http://schemas.microsoft.com/office/drawing/2014/main" id="{B2158E93-857A-4813-9DF9-9D7DE26307C7}"/>
              </a:ext>
            </a:extLst>
          </p:cNvPr>
          <p:cNvSpPr>
            <a:spLocks noGrp="1"/>
          </p:cNvSpPr>
          <p:nvPr/>
        </p:nvSpPr>
        <p:spPr>
          <a:xfrm>
            <a:off x="6153150" y="2752725"/>
            <a:ext cx="76200" cy="295275"/>
          </a:xfrm>
          <a:prstGeom prst="rect">
            <a:avLst/>
          </a:prstGeom>
          <a:solidFill>
            <a:srgbClr val="789578"/>
          </a:solidFill>
          <a:ln w="0">
            <a:noFill/>
            <a:prstDash val="solid"/>
          </a:ln>
        </p:spPr>
      </p:sp>
      <p:sp>
        <p:nvSpPr>
          <p:cNvPr id="13" name="Rectangle 12">
            <a:extLst>
              <a:ext uri="{FF2B5EF4-FFF2-40B4-BE49-F238E27FC236}">
                <a16:creationId xmlns:a16="http://schemas.microsoft.com/office/drawing/2014/main" id="{2195C350-1C87-47AE-97F1-4A73D3FB4E45}"/>
              </a:ext>
            </a:extLst>
          </p:cNvPr>
          <p:cNvSpPr>
            <a:spLocks noGrp="1"/>
          </p:cNvSpPr>
          <p:nvPr/>
        </p:nvSpPr>
        <p:spPr>
          <a:xfrm>
            <a:off x="6381750" y="2743200"/>
            <a:ext cx="4762500" cy="457200"/>
          </a:xfrm>
          <a:prstGeom prst="rect">
            <a:avLst/>
          </a:prstGeom>
          <a:noFill/>
          <a:ln w="0">
            <a:noFill/>
            <a:prstDash val="solid"/>
          </a:ln>
        </p:spPr>
        <p:txBody>
          <a:bodyPr wrap="square" lIns="0" tIns="0" rIns="0" bIns="0" anchor="t">
            <a:normAutofit/>
          </a:bodyPr>
          <a:lstStyle>
            <a:defPPr algn="l">
              <a:defRPr sz="1425" b="0">
                <a:solidFill>
                  <a:srgbClr val="26322D"/>
                </a:solidFill>
                <a:latin typeface="Aptos"/>
                <a:ea typeface="Aptos"/>
                <a:cs typeface="Aptos"/>
              </a:defRPr>
            </a:defPPr>
          </a:lstStyle>
          <a:p>
            <a:pPr algn="l">
              <a:defRPr sz="1425" b="0">
                <a:solidFill>
                  <a:srgbClr val="26322D"/>
                </a:solidFill>
                <a:latin typeface="Aptos"/>
                <a:ea typeface="Aptos"/>
                <a:cs typeface="Aptos"/>
              </a:defRPr>
            </a:pPr>
            <a:r>
              <a:rPr sz="1425" b="0">
                <a:solidFill>
                  <a:srgbClr val="26322D"/>
                </a:solidFill>
                <a:latin typeface="Aptos"/>
                <a:ea typeface="Aptos"/>
                <a:cs typeface="Aptos"/>
              </a:rPr>
              <a:t>Windows in each recording remain correlated</a:t>
            </a:r>
          </a:p>
        </p:txBody>
      </p:sp>
      <p:sp>
        <p:nvSpPr>
          <p:cNvPr id="14" name="Rectangle 13">
            <a:extLst>
              <a:ext uri="{FF2B5EF4-FFF2-40B4-BE49-F238E27FC236}">
                <a16:creationId xmlns:a16="http://schemas.microsoft.com/office/drawing/2014/main" id="{B358C330-7BF8-444C-92FC-B4D037A2A935}"/>
              </a:ext>
            </a:extLst>
          </p:cNvPr>
          <p:cNvSpPr>
            <a:spLocks noGrp="1"/>
          </p:cNvSpPr>
          <p:nvPr/>
        </p:nvSpPr>
        <p:spPr>
          <a:xfrm>
            <a:off x="6153150" y="3390900"/>
            <a:ext cx="76200" cy="295275"/>
          </a:xfrm>
          <a:prstGeom prst="rect">
            <a:avLst/>
          </a:prstGeom>
          <a:solidFill>
            <a:srgbClr val="789578"/>
          </a:solidFill>
          <a:ln w="0">
            <a:noFill/>
            <a:prstDash val="solid"/>
          </a:ln>
        </p:spPr>
      </p:sp>
      <p:sp>
        <p:nvSpPr>
          <p:cNvPr id="15" name="Rectangle 14">
            <a:extLst>
              <a:ext uri="{FF2B5EF4-FFF2-40B4-BE49-F238E27FC236}">
                <a16:creationId xmlns:a16="http://schemas.microsoft.com/office/drawing/2014/main" id="{F70DE13B-C51E-499F-8754-0F68BAC9FA00}"/>
              </a:ext>
            </a:extLst>
          </p:cNvPr>
          <p:cNvSpPr>
            <a:spLocks noGrp="1"/>
          </p:cNvSpPr>
          <p:nvPr/>
        </p:nvSpPr>
        <p:spPr>
          <a:xfrm>
            <a:off x="6381750" y="3381375"/>
            <a:ext cx="4762500" cy="457200"/>
          </a:xfrm>
          <a:prstGeom prst="rect">
            <a:avLst/>
          </a:prstGeom>
          <a:noFill/>
          <a:ln w="0">
            <a:noFill/>
            <a:prstDash val="solid"/>
          </a:ln>
        </p:spPr>
        <p:txBody>
          <a:bodyPr wrap="square" lIns="0" tIns="0" rIns="0" bIns="0" anchor="t">
            <a:normAutofit/>
          </a:bodyPr>
          <a:lstStyle>
            <a:defPPr algn="l">
              <a:defRPr sz="1425" b="0">
                <a:solidFill>
                  <a:srgbClr val="26322D"/>
                </a:solidFill>
                <a:latin typeface="Aptos"/>
                <a:ea typeface="Aptos"/>
                <a:cs typeface="Aptos"/>
              </a:defRPr>
            </a:defPPr>
          </a:lstStyle>
          <a:p>
            <a:pPr algn="l">
              <a:defRPr sz="1425" b="0">
                <a:solidFill>
                  <a:srgbClr val="26322D"/>
                </a:solidFill>
                <a:latin typeface="Aptos"/>
                <a:ea typeface="Aptos"/>
                <a:cs typeface="Aptos"/>
              </a:defRPr>
            </a:pPr>
            <a:r>
              <a:rPr sz="1425" b="0">
                <a:solidFill>
                  <a:srgbClr val="26322D"/>
                </a:solidFill>
                <a:latin typeface="Aptos"/>
                <a:ea typeface="Aptos"/>
                <a:cs typeface="Aptos"/>
              </a:rPr>
              <a:t>Asphalt has 5 validation windows</a:t>
            </a:r>
          </a:p>
        </p:txBody>
      </p:sp>
      <p:sp>
        <p:nvSpPr>
          <p:cNvPr id="16" name="Rectangle 15">
            <a:extLst>
              <a:ext uri="{FF2B5EF4-FFF2-40B4-BE49-F238E27FC236}">
                <a16:creationId xmlns:a16="http://schemas.microsoft.com/office/drawing/2014/main" id="{39216566-5962-4162-9468-591F0E8D75D8}"/>
              </a:ext>
            </a:extLst>
          </p:cNvPr>
          <p:cNvSpPr>
            <a:spLocks noGrp="1"/>
          </p:cNvSpPr>
          <p:nvPr/>
        </p:nvSpPr>
        <p:spPr>
          <a:xfrm>
            <a:off x="6153150" y="4029075"/>
            <a:ext cx="76200" cy="295275"/>
          </a:xfrm>
          <a:prstGeom prst="rect">
            <a:avLst/>
          </a:prstGeom>
          <a:solidFill>
            <a:srgbClr val="789578"/>
          </a:solidFill>
          <a:ln w="0">
            <a:noFill/>
            <a:prstDash val="solid"/>
          </a:ln>
        </p:spPr>
      </p:sp>
      <p:sp>
        <p:nvSpPr>
          <p:cNvPr id="17" name="Rectangle 16">
            <a:extLst>
              <a:ext uri="{FF2B5EF4-FFF2-40B4-BE49-F238E27FC236}">
                <a16:creationId xmlns:a16="http://schemas.microsoft.com/office/drawing/2014/main" id="{EF906D41-ED58-4C74-A715-D6389F2E4FB1}"/>
              </a:ext>
            </a:extLst>
          </p:cNvPr>
          <p:cNvSpPr>
            <a:spLocks noGrp="1"/>
          </p:cNvSpPr>
          <p:nvPr/>
        </p:nvSpPr>
        <p:spPr>
          <a:xfrm>
            <a:off x="6381750" y="4019550"/>
            <a:ext cx="4762500" cy="457200"/>
          </a:xfrm>
          <a:prstGeom prst="rect">
            <a:avLst/>
          </a:prstGeom>
          <a:noFill/>
          <a:ln w="0">
            <a:noFill/>
            <a:prstDash val="solid"/>
          </a:ln>
        </p:spPr>
        <p:txBody>
          <a:bodyPr wrap="square" lIns="0" tIns="0" rIns="0" bIns="0" anchor="t">
            <a:normAutofit/>
          </a:bodyPr>
          <a:lstStyle>
            <a:defPPr algn="l">
              <a:defRPr sz="1425" b="0">
                <a:solidFill>
                  <a:srgbClr val="26322D"/>
                </a:solidFill>
                <a:latin typeface="Aptos"/>
                <a:ea typeface="Aptos"/>
                <a:cs typeface="Aptos"/>
              </a:defRPr>
            </a:defPPr>
          </a:lstStyle>
          <a:p>
            <a:pPr algn="l">
              <a:defRPr sz="1425" b="0">
                <a:solidFill>
                  <a:srgbClr val="26322D"/>
                </a:solidFill>
                <a:latin typeface="Aptos"/>
                <a:ea typeface="Aptos"/>
                <a:cs typeface="Aptos"/>
              </a:defRPr>
            </a:pPr>
            <a:r>
              <a:rPr sz="1425" b="0">
                <a:solidFill>
                  <a:srgbClr val="26322D"/>
                </a:solidFill>
                <a:latin typeface="Aptos"/>
                <a:ea typeface="Aptos"/>
                <a:cs typeface="Aptos"/>
              </a:rPr>
              <a:t>Different sensors and robot from the tactile study</a:t>
            </a:r>
          </a:p>
        </p:txBody>
      </p:sp>
      <p:sp>
        <p:nvSpPr>
          <p:cNvPr id="18" name="Rectangle 17">
            <a:extLst>
              <a:ext uri="{FF2B5EF4-FFF2-40B4-BE49-F238E27FC236}">
                <a16:creationId xmlns:a16="http://schemas.microsoft.com/office/drawing/2014/main" id="{452B4EBC-2BD4-4571-B44F-D5C39A8245BD}"/>
              </a:ext>
            </a:extLst>
          </p:cNvPr>
          <p:cNvSpPr>
            <a:spLocks noGrp="1"/>
          </p:cNvSpPr>
          <p:nvPr/>
        </p:nvSpPr>
        <p:spPr>
          <a:xfrm>
            <a:off x="6153150" y="4667250"/>
            <a:ext cx="76200" cy="295275"/>
          </a:xfrm>
          <a:prstGeom prst="rect">
            <a:avLst/>
          </a:prstGeom>
          <a:solidFill>
            <a:srgbClr val="789578"/>
          </a:solidFill>
          <a:ln w="0">
            <a:noFill/>
            <a:prstDash val="solid"/>
          </a:ln>
        </p:spPr>
      </p:sp>
      <p:sp>
        <p:nvSpPr>
          <p:cNvPr id="19" name="Rectangle 18">
            <a:extLst>
              <a:ext uri="{FF2B5EF4-FFF2-40B4-BE49-F238E27FC236}">
                <a16:creationId xmlns:a16="http://schemas.microsoft.com/office/drawing/2014/main" id="{7CF680EE-2969-4FA8-B88E-D5179D75536A}"/>
              </a:ext>
            </a:extLst>
          </p:cNvPr>
          <p:cNvSpPr>
            <a:spLocks noGrp="1"/>
          </p:cNvSpPr>
          <p:nvPr/>
        </p:nvSpPr>
        <p:spPr>
          <a:xfrm>
            <a:off x="6381750" y="4657725"/>
            <a:ext cx="4762500" cy="457200"/>
          </a:xfrm>
          <a:prstGeom prst="rect">
            <a:avLst/>
          </a:prstGeom>
          <a:noFill/>
          <a:ln w="0">
            <a:noFill/>
            <a:prstDash val="solid"/>
          </a:ln>
        </p:spPr>
        <p:txBody>
          <a:bodyPr wrap="square" lIns="0" tIns="0" rIns="0" bIns="0" anchor="t">
            <a:normAutofit/>
          </a:bodyPr>
          <a:lstStyle>
            <a:defPPr algn="l">
              <a:defRPr sz="1425" b="0">
                <a:solidFill>
                  <a:srgbClr val="26322D"/>
                </a:solidFill>
                <a:latin typeface="Aptos"/>
                <a:ea typeface="Aptos"/>
                <a:cs typeface="Aptos"/>
              </a:defRPr>
            </a:defPPr>
          </a:lstStyle>
          <a:p>
            <a:pPr algn="l">
              <a:defRPr sz="1425" b="0">
                <a:solidFill>
                  <a:srgbClr val="26322D"/>
                </a:solidFill>
                <a:latin typeface="Aptos"/>
                <a:ea typeface="Aptos"/>
                <a:cs typeface="Aptos"/>
              </a:defRPr>
            </a:pPr>
            <a:r>
              <a:rPr sz="1425" b="0">
                <a:solidFill>
                  <a:srgbClr val="26322D"/>
                </a:solidFill>
                <a:latin typeface="Aptos"/>
                <a:ea typeface="Aptos"/>
                <a:cs typeface="Aptos"/>
              </a:rPr>
              <a:t>No cross-robot or live-control evaluation</a:t>
            </a:r>
          </a:p>
        </p:txBody>
      </p:sp>
      <p:sp>
        <p:nvSpPr>
          <p:cNvPr id="20" name="Rectangle 19">
            <a:extLst>
              <a:ext uri="{FF2B5EF4-FFF2-40B4-BE49-F238E27FC236}">
                <a16:creationId xmlns:a16="http://schemas.microsoft.com/office/drawing/2014/main" id="{1DCA5D8F-9854-4787-805D-0EF6BAEA0DDB}"/>
              </a:ext>
            </a:extLst>
          </p:cNvPr>
          <p:cNvSpPr>
            <a:spLocks noGrp="1"/>
          </p:cNvSpPr>
          <p:nvPr/>
        </p:nvSpPr>
        <p:spPr>
          <a:xfrm>
            <a:off x="723900" y="5753100"/>
            <a:ext cx="10477500" cy="400050"/>
          </a:xfrm>
          <a:prstGeom prst="rect">
            <a:avLst/>
          </a:prstGeom>
          <a:solidFill>
            <a:srgbClr val="E8EEE5"/>
          </a:solidFill>
          <a:ln w="0">
            <a:noFill/>
            <a:prstDash val="solid"/>
          </a:ln>
        </p:spPr>
      </p:sp>
      <p:sp>
        <p:nvSpPr>
          <p:cNvPr id="21" name="Rectangle 20">
            <a:extLst>
              <a:ext uri="{FF2B5EF4-FFF2-40B4-BE49-F238E27FC236}">
                <a16:creationId xmlns:a16="http://schemas.microsoft.com/office/drawing/2014/main" id="{9A0983D0-62CD-4F09-AF41-3D4FD0B3DC86}"/>
              </a:ext>
            </a:extLst>
          </p:cNvPr>
          <p:cNvSpPr>
            <a:spLocks noGrp="1"/>
          </p:cNvSpPr>
          <p:nvPr/>
        </p:nvSpPr>
        <p:spPr>
          <a:xfrm>
            <a:off x="904875" y="5838825"/>
            <a:ext cx="10096500" cy="257175"/>
          </a:xfrm>
          <a:prstGeom prst="rect">
            <a:avLst/>
          </a:prstGeom>
          <a:noFill/>
          <a:ln w="0">
            <a:noFill/>
            <a:prstDash val="solid"/>
          </a:ln>
        </p:spPr>
        <p:txBody>
          <a:bodyPr wrap="square" lIns="0" tIns="0" rIns="0" bIns="0" anchor="t">
            <a:normAutofit/>
          </a:bodyPr>
          <a:lstStyle>
            <a:defPPr algn="l">
              <a:defRPr sz="1350" b="1">
                <a:solidFill>
                  <a:srgbClr val="214C3B"/>
                </a:solidFill>
                <a:latin typeface="Aptos"/>
                <a:ea typeface="Aptos"/>
                <a:cs typeface="Aptos"/>
              </a:defRPr>
            </a:defPPr>
          </a:lstStyle>
          <a:p>
            <a:pPr algn="l">
              <a:defRPr sz="1350" b="1">
                <a:solidFill>
                  <a:srgbClr val="214C3B"/>
                </a:solidFill>
                <a:latin typeface="Aptos"/>
                <a:ea typeface="Aptos"/>
                <a:cs typeface="Aptos"/>
              </a:defRPr>
            </a:pPr>
            <a:r>
              <a:rPr sz="1350" b="1">
                <a:solidFill>
                  <a:srgbClr val="214C3B"/>
                </a:solidFill>
                <a:latin typeface="Aptos"/>
                <a:ea typeface="Aptos"/>
                <a:cs typeface="Aptos"/>
              </a:rPr>
              <a:t>Next: grouped cross-validation, more seeds, ablations, and genuine tactile data.</a:t>
            </a:r>
          </a:p>
        </p:txBody>
      </p:sp>
    </p:spTree>
    <p:extLst>
      <p:ext uri="{BB962C8B-B14F-4D97-AF65-F5344CB8AC3E}">
        <p14:creationId xmlns:p14="http://schemas.microsoft.com/office/powerpoint/2010/main" val="334734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6F0"/>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4F31180-3D5B-45ED-8D26-67542904DD9E}"/>
              </a:ext>
            </a:extLst>
          </p:cNvPr>
          <p:cNvSpPr>
            <a:spLocks noGrp="1"/>
          </p:cNvSpPr>
          <p:nvPr/>
        </p:nvSpPr>
        <p:spPr>
          <a:xfrm>
            <a:off x="647700" y="228600"/>
            <a:ext cx="7239000" cy="209550"/>
          </a:xfrm>
          <a:prstGeom prst="rect">
            <a:avLst/>
          </a:prstGeom>
          <a:noFill/>
          <a:ln w="0">
            <a:noFill/>
            <a:prstDash val="solid"/>
          </a:ln>
        </p:spPr>
        <p:txBody>
          <a:bodyPr wrap="square" lIns="0" tIns="0" rIns="0" bIns="0" anchor="t">
            <a:normAutofit/>
          </a:bodyPr>
          <a:lstStyle>
            <a:defPPr algn="l">
              <a:defRPr sz="1125" b="1">
                <a:solidFill>
                  <a:srgbClr val="789578"/>
                </a:solidFill>
                <a:latin typeface="Aptos"/>
                <a:ea typeface="Aptos"/>
                <a:cs typeface="Aptos"/>
              </a:defRPr>
            </a:defPPr>
          </a:lstStyle>
          <a:p>
            <a:pPr algn="l">
              <a:defRPr sz="1125" b="1">
                <a:solidFill>
                  <a:srgbClr val="789578"/>
                </a:solidFill>
                <a:latin typeface="Aptos"/>
                <a:ea typeface="Aptos"/>
                <a:cs typeface="Aptos"/>
              </a:defRPr>
            </a:pPr>
            <a:r>
              <a:rPr sz="1125" b="1">
                <a:solidFill>
                  <a:srgbClr val="789578"/>
                </a:solidFill>
                <a:latin typeface="Aptos"/>
                <a:ea typeface="Aptos"/>
                <a:cs typeface="Aptos"/>
              </a:rPr>
              <a:t>REFERENCES</a:t>
            </a:r>
          </a:p>
        </p:txBody>
      </p:sp>
      <p:sp>
        <p:nvSpPr>
          <p:cNvPr id="2" name="Rectangle 1">
            <a:extLst>
              <a:ext uri="{FF2B5EF4-FFF2-40B4-BE49-F238E27FC236}">
                <a16:creationId xmlns:a16="http://schemas.microsoft.com/office/drawing/2014/main" id="{FACACCEC-B9E1-4581-A5A2-9C4857E72ABA}"/>
              </a:ext>
            </a:extLst>
          </p:cNvPr>
          <p:cNvSpPr>
            <a:spLocks noGrp="1"/>
          </p:cNvSpPr>
          <p:nvPr/>
        </p:nvSpPr>
        <p:spPr>
          <a:xfrm>
            <a:off x="647700" y="495300"/>
            <a:ext cx="10896600" cy="552450"/>
          </a:xfrm>
          <a:prstGeom prst="rect">
            <a:avLst/>
          </a:prstGeom>
          <a:noFill/>
          <a:ln w="0">
            <a:noFill/>
            <a:prstDash val="solid"/>
          </a:ln>
        </p:spPr>
        <p:txBody>
          <a:bodyPr wrap="square" lIns="0" tIns="0" rIns="0" bIns="0" anchor="t">
            <a:normAutofit/>
          </a:bodyPr>
          <a:lstStyle>
            <a:defPPr algn="l">
              <a:defRPr sz="3150" b="1">
                <a:solidFill>
                  <a:srgbClr val="214C3B"/>
                </a:solidFill>
                <a:latin typeface="Aptos"/>
                <a:ea typeface="Aptos"/>
                <a:cs typeface="Aptos"/>
              </a:defRPr>
            </a:defPPr>
          </a:lstStyle>
          <a:p>
            <a:pPr algn="l">
              <a:defRPr sz="3150" b="1">
                <a:solidFill>
                  <a:srgbClr val="214C3B"/>
                </a:solidFill>
                <a:latin typeface="Aptos"/>
                <a:ea typeface="Aptos"/>
                <a:cs typeface="Aptos"/>
              </a:defRPr>
            </a:pPr>
            <a:r>
              <a:rPr sz="3150" b="1">
                <a:solidFill>
                  <a:srgbClr val="214C3B"/>
                </a:solidFill>
                <a:latin typeface="Aptos"/>
                <a:ea typeface="Aptos"/>
                <a:cs typeface="Aptos"/>
              </a:rPr>
              <a:t>Source materials and project artifacts</a:t>
            </a:r>
          </a:p>
        </p:txBody>
      </p:sp>
      <p:sp>
        <p:nvSpPr>
          <p:cNvPr id="3" name="Rectangle 2">
            <a:extLst>
              <a:ext uri="{FF2B5EF4-FFF2-40B4-BE49-F238E27FC236}">
                <a16:creationId xmlns:a16="http://schemas.microsoft.com/office/drawing/2014/main" id="{CC908CEB-8A4A-4871-AAD8-44B3456991D4}"/>
              </a:ext>
            </a:extLst>
          </p:cNvPr>
          <p:cNvSpPr>
            <a:spLocks noGrp="1"/>
          </p:cNvSpPr>
          <p:nvPr/>
        </p:nvSpPr>
        <p:spPr>
          <a:xfrm>
            <a:off x="647700" y="1152525"/>
            <a:ext cx="10896600" cy="19050"/>
          </a:xfrm>
          <a:prstGeom prst="rect">
            <a:avLst/>
          </a:prstGeom>
          <a:solidFill>
            <a:srgbClr val="C2943B"/>
          </a:solidFill>
          <a:ln w="0">
            <a:noFill/>
            <a:prstDash val="solid"/>
          </a:ln>
        </p:spPr>
      </p:sp>
      <p:sp>
        <p:nvSpPr>
          <p:cNvPr id="4" name="Rectangle 3">
            <a:extLst>
              <a:ext uri="{FF2B5EF4-FFF2-40B4-BE49-F238E27FC236}">
                <a16:creationId xmlns:a16="http://schemas.microsoft.com/office/drawing/2014/main" id="{792C1134-C44B-4321-BA29-810AC5F2B481}"/>
              </a:ext>
            </a:extLst>
          </p:cNvPr>
          <p:cNvSpPr>
            <a:spLocks noGrp="1"/>
          </p:cNvSpPr>
          <p:nvPr/>
        </p:nvSpPr>
        <p:spPr>
          <a:xfrm>
            <a:off x="647700" y="6486525"/>
            <a:ext cx="8096250" cy="171450"/>
          </a:xfrm>
          <a:prstGeom prst="rect">
            <a:avLst/>
          </a:prstGeom>
          <a:noFill/>
          <a:ln w="0">
            <a:noFill/>
            <a:prstDash val="solid"/>
          </a:ln>
        </p:spPr>
        <p:txBody>
          <a:bodyPr wrap="square" lIns="0" tIns="0" rIns="0" bIns="0" anchor="t">
            <a:normAutofit/>
          </a:bodyPr>
          <a:lstStyle>
            <a:defPPr algn="l">
              <a:defRPr sz="1050" b="0">
                <a:solidFill>
                  <a:srgbClr val="65746B"/>
                </a:solidFill>
                <a:latin typeface="Aptos"/>
                <a:ea typeface="Aptos"/>
                <a:cs typeface="Aptos"/>
              </a:defRPr>
            </a:defPPr>
          </a:lstStyle>
          <a:p>
            <a:pPr algn="l">
              <a:defRPr sz="1050" b="0">
                <a:solidFill>
                  <a:srgbClr val="65746B"/>
                </a:solidFill>
                <a:latin typeface="Aptos"/>
                <a:ea typeface="Aptos"/>
                <a:cs typeface="Aptos"/>
              </a:defRPr>
            </a:pPr>
            <a:r>
              <a:rPr sz="1050" b="0">
                <a:solidFill>
                  <a:srgbClr val="65746B"/>
                </a:solidFill>
                <a:latin typeface="Aptos"/>
                <a:ea typeface="Aptos"/>
                <a:cs typeface="Aptos"/>
              </a:rPr>
              <a:t>UE24CS352A  |  Terrain classification from robot sensor time series</a:t>
            </a:r>
          </a:p>
        </p:txBody>
      </p:sp>
      <p:sp>
        <p:nvSpPr>
          <p:cNvPr id="5" name="Rectangle 4">
            <a:extLst>
              <a:ext uri="{FF2B5EF4-FFF2-40B4-BE49-F238E27FC236}">
                <a16:creationId xmlns:a16="http://schemas.microsoft.com/office/drawing/2014/main" id="{5E5AA64F-7FDD-478B-90B6-69F2E086F039}"/>
              </a:ext>
            </a:extLst>
          </p:cNvPr>
          <p:cNvSpPr>
            <a:spLocks noGrp="1"/>
          </p:cNvSpPr>
          <p:nvPr/>
        </p:nvSpPr>
        <p:spPr>
          <a:xfrm>
            <a:off x="10668000" y="6486525"/>
            <a:ext cx="876300" cy="171450"/>
          </a:xfrm>
          <a:prstGeom prst="rect">
            <a:avLst/>
          </a:prstGeom>
          <a:noFill/>
          <a:ln w="0">
            <a:noFill/>
            <a:prstDash val="solid"/>
          </a:ln>
        </p:spPr>
        <p:txBody>
          <a:bodyPr wrap="square" lIns="0" tIns="0" rIns="0" bIns="0" anchor="t">
            <a:normAutofit/>
          </a:bodyPr>
          <a:lstStyle>
            <a:defPPr algn="r">
              <a:defRPr sz="1050" b="0">
                <a:solidFill>
                  <a:srgbClr val="65746B"/>
                </a:solidFill>
                <a:latin typeface="Aptos"/>
                <a:ea typeface="Aptos"/>
                <a:cs typeface="Aptos"/>
              </a:defRPr>
            </a:defPPr>
          </a:lstStyle>
          <a:p>
            <a:pPr algn="r">
              <a:defRPr sz="1050" b="0">
                <a:solidFill>
                  <a:srgbClr val="65746B"/>
                </a:solidFill>
                <a:latin typeface="Aptos"/>
                <a:ea typeface="Aptos"/>
                <a:cs typeface="Aptos"/>
              </a:defRPr>
            </a:pPr>
            <a:r>
              <a:rPr sz="1050" b="0">
                <a:solidFill>
                  <a:srgbClr val="65746B"/>
                </a:solidFill>
                <a:latin typeface="Aptos"/>
                <a:ea typeface="Aptos"/>
                <a:cs typeface="Aptos"/>
              </a:rPr>
              <a:t>20 / 20</a:t>
            </a:r>
          </a:p>
        </p:txBody>
      </p:sp>
      <p:sp>
        <p:nvSpPr>
          <p:cNvPr id="6" name="Rectangle 5">
            <a:extLst>
              <a:ext uri="{FF2B5EF4-FFF2-40B4-BE49-F238E27FC236}">
                <a16:creationId xmlns:a16="http://schemas.microsoft.com/office/drawing/2014/main" id="{7A61559D-96B1-47E6-BB06-1C8B5A0180AE}"/>
              </a:ext>
            </a:extLst>
          </p:cNvPr>
          <p:cNvSpPr>
            <a:spLocks noGrp="1"/>
          </p:cNvSpPr>
          <p:nvPr/>
        </p:nvSpPr>
        <p:spPr>
          <a:xfrm>
            <a:off x="762000" y="1581150"/>
            <a:ext cx="10477500" cy="647700"/>
          </a:xfrm>
          <a:prstGeom prst="rect">
            <a:avLst/>
          </a:prstGeom>
          <a:noFill/>
          <a:ln w="0">
            <a:noFill/>
            <a:prstDash val="solid"/>
          </a:ln>
        </p:spPr>
        <p:txBody>
          <a:bodyPr wrap="square" lIns="0" tIns="0" rIns="0" bIns="0" anchor="t">
            <a:normAutofit/>
          </a:bodyPr>
          <a:lstStyle>
            <a:defPPr algn="l">
              <a:defRPr sz="1500" b="0">
                <a:solidFill>
                  <a:srgbClr val="26322D"/>
                </a:solidFill>
                <a:latin typeface="Aptos"/>
                <a:ea typeface="Aptos"/>
                <a:cs typeface="Aptos"/>
              </a:defRPr>
            </a:defPPr>
          </a:lstStyle>
          <a:p>
            <a:pPr algn="l">
              <a:defRPr sz="1500" b="0">
                <a:solidFill>
                  <a:srgbClr val="26322D"/>
                </a:solidFill>
                <a:latin typeface="Aptos"/>
                <a:ea typeface="Aptos"/>
                <a:cs typeface="Aptos"/>
              </a:defRPr>
            </a:pPr>
            <a:r>
              <a:rPr sz="1500" b="0">
                <a:solidFill>
                  <a:srgbClr val="26322D"/>
                </a:solidFill>
                <a:latin typeface="Aptos"/>
                <a:ea typeface="Aptos"/>
                <a:cs typeface="Aptos"/>
              </a:rPr>
              <a:t>[1] H. Choi and R. Thomasson. Terrain Classification for Small Legged Robots Using Deep Learning on Tactile Data. Stanford CS229 project report, 2020.</a:t>
            </a:r>
          </a:p>
        </p:txBody>
      </p:sp>
      <p:sp>
        <p:nvSpPr>
          <p:cNvPr id="7" name="Rectangle 6">
            <a:extLst>
              <a:ext uri="{FF2B5EF4-FFF2-40B4-BE49-F238E27FC236}">
                <a16:creationId xmlns:a16="http://schemas.microsoft.com/office/drawing/2014/main" id="{0B9390E1-4BEF-44FB-8239-B382E150DD2B}"/>
              </a:ext>
            </a:extLst>
          </p:cNvPr>
          <p:cNvSpPr>
            <a:spLocks noGrp="1"/>
          </p:cNvSpPr>
          <p:nvPr/>
        </p:nvSpPr>
        <p:spPr>
          <a:xfrm>
            <a:off x="762000" y="2305050"/>
            <a:ext cx="10382250" cy="9525"/>
          </a:xfrm>
          <a:prstGeom prst="rect">
            <a:avLst/>
          </a:prstGeom>
          <a:solidFill>
            <a:srgbClr val="D6DED4"/>
          </a:solidFill>
          <a:ln w="0">
            <a:noFill/>
            <a:prstDash val="solid"/>
          </a:ln>
        </p:spPr>
      </p:sp>
      <p:sp>
        <p:nvSpPr>
          <p:cNvPr id="8" name="Rectangle 7">
            <a:extLst>
              <a:ext uri="{FF2B5EF4-FFF2-40B4-BE49-F238E27FC236}">
                <a16:creationId xmlns:a16="http://schemas.microsoft.com/office/drawing/2014/main" id="{74823121-53F8-4B30-8236-22EA1D534D8E}"/>
              </a:ext>
            </a:extLst>
          </p:cNvPr>
          <p:cNvSpPr>
            <a:spLocks noGrp="1"/>
          </p:cNvSpPr>
          <p:nvPr/>
        </p:nvSpPr>
        <p:spPr>
          <a:xfrm>
            <a:off x="762000" y="2495550"/>
            <a:ext cx="10477500" cy="647700"/>
          </a:xfrm>
          <a:prstGeom prst="rect">
            <a:avLst/>
          </a:prstGeom>
          <a:noFill/>
          <a:ln w="0">
            <a:noFill/>
            <a:prstDash val="solid"/>
          </a:ln>
        </p:spPr>
        <p:txBody>
          <a:bodyPr wrap="square" lIns="0" tIns="0" rIns="0" bIns="0" anchor="t">
            <a:normAutofit/>
          </a:bodyPr>
          <a:lstStyle>
            <a:defPPr algn="l">
              <a:defRPr sz="1500" b="0">
                <a:solidFill>
                  <a:srgbClr val="26322D"/>
                </a:solidFill>
                <a:latin typeface="Aptos"/>
                <a:ea typeface="Aptos"/>
                <a:cs typeface="Aptos"/>
              </a:defRPr>
            </a:defPPr>
          </a:lstStyle>
          <a:p>
            <a:pPr algn="l">
              <a:defRPr sz="1500" b="0">
                <a:solidFill>
                  <a:srgbClr val="26322D"/>
                </a:solidFill>
                <a:latin typeface="Aptos"/>
                <a:ea typeface="Aptos"/>
                <a:cs typeface="Aptos"/>
              </a:defRPr>
            </a:pPr>
            <a:r>
              <a:rPr sz="1500" b="0">
                <a:solidFill>
                  <a:srgbClr val="26322D"/>
                </a:solidFill>
                <a:latin typeface="Aptos"/>
                <a:ea typeface="Aptos"/>
                <a:cs typeface="Aptos"/>
              </a:rPr>
              <a:t>[2] D. LaRocque et al. Proprioception Is All You Need: Terrain Classification for Boreal Forests. IROS 2024, pp. 11686–11693. doi:10.1109/IROS58592.2024.10801407.</a:t>
            </a:r>
          </a:p>
        </p:txBody>
      </p:sp>
      <p:sp>
        <p:nvSpPr>
          <p:cNvPr id="9" name="Rectangle 8">
            <a:extLst>
              <a:ext uri="{FF2B5EF4-FFF2-40B4-BE49-F238E27FC236}">
                <a16:creationId xmlns:a16="http://schemas.microsoft.com/office/drawing/2014/main" id="{19E82509-F484-4368-8E9D-FFAC137EFB1D}"/>
              </a:ext>
            </a:extLst>
          </p:cNvPr>
          <p:cNvSpPr>
            <a:spLocks noGrp="1"/>
          </p:cNvSpPr>
          <p:nvPr/>
        </p:nvSpPr>
        <p:spPr>
          <a:xfrm>
            <a:off x="762000" y="3219450"/>
            <a:ext cx="10382250" cy="9525"/>
          </a:xfrm>
          <a:prstGeom prst="rect">
            <a:avLst/>
          </a:prstGeom>
          <a:solidFill>
            <a:srgbClr val="D6DED4"/>
          </a:solidFill>
          <a:ln w="0">
            <a:noFill/>
            <a:prstDash val="solid"/>
          </a:ln>
        </p:spPr>
      </p:sp>
      <p:sp>
        <p:nvSpPr>
          <p:cNvPr id="10" name="Rectangle 9">
            <a:extLst>
              <a:ext uri="{FF2B5EF4-FFF2-40B4-BE49-F238E27FC236}">
                <a16:creationId xmlns:a16="http://schemas.microsoft.com/office/drawing/2014/main" id="{C7C4C03D-B902-4C3E-8C2D-977CAD26E53F}"/>
              </a:ext>
            </a:extLst>
          </p:cNvPr>
          <p:cNvSpPr>
            <a:spLocks noGrp="1"/>
          </p:cNvSpPr>
          <p:nvPr/>
        </p:nvSpPr>
        <p:spPr>
          <a:xfrm>
            <a:off x="762000" y="3409950"/>
            <a:ext cx="10477500" cy="647700"/>
          </a:xfrm>
          <a:prstGeom prst="rect">
            <a:avLst/>
          </a:prstGeom>
          <a:noFill/>
          <a:ln w="0">
            <a:noFill/>
            <a:prstDash val="solid"/>
          </a:ln>
        </p:spPr>
        <p:txBody>
          <a:bodyPr wrap="square" lIns="0" tIns="0" rIns="0" bIns="0" anchor="t">
            <a:normAutofit/>
          </a:bodyPr>
          <a:lstStyle>
            <a:defPPr algn="l">
              <a:defRPr sz="1500" b="0">
                <a:solidFill>
                  <a:srgbClr val="26322D"/>
                </a:solidFill>
                <a:latin typeface="Aptos"/>
                <a:ea typeface="Aptos"/>
                <a:cs typeface="Aptos"/>
              </a:defRPr>
            </a:defPPr>
          </a:lstStyle>
          <a:p>
            <a:pPr algn="l">
              <a:defRPr sz="1500" b="0">
                <a:solidFill>
                  <a:srgbClr val="26322D"/>
                </a:solidFill>
                <a:latin typeface="Aptos"/>
                <a:ea typeface="Aptos"/>
                <a:cs typeface="Aptos"/>
              </a:defRPr>
            </a:pPr>
            <a:r>
              <a:rPr sz="1500" b="0">
                <a:solidFill>
                  <a:srgbClr val="26322D"/>
                </a:solidFill>
                <a:latin typeface="Aptos"/>
                <a:ea typeface="Aptos"/>
                <a:cs typeface="Aptos"/>
              </a:rPr>
              <a:t>[3] BorealTC dataset. norlab-ulaval/BorealTC, revision 0146dcd9fa08c34a9075a80448ac04c0a947b568. Dataset README declares CC0 1.0.</a:t>
            </a:r>
          </a:p>
        </p:txBody>
      </p:sp>
      <p:sp>
        <p:nvSpPr>
          <p:cNvPr id="11" name="Rectangle 10">
            <a:extLst>
              <a:ext uri="{FF2B5EF4-FFF2-40B4-BE49-F238E27FC236}">
                <a16:creationId xmlns:a16="http://schemas.microsoft.com/office/drawing/2014/main" id="{00202ADC-79A0-444D-8514-7D70C2654597}"/>
              </a:ext>
            </a:extLst>
          </p:cNvPr>
          <p:cNvSpPr>
            <a:spLocks noGrp="1"/>
          </p:cNvSpPr>
          <p:nvPr/>
        </p:nvSpPr>
        <p:spPr>
          <a:xfrm>
            <a:off x="762000" y="4133850"/>
            <a:ext cx="10382250" cy="9525"/>
          </a:xfrm>
          <a:prstGeom prst="rect">
            <a:avLst/>
          </a:prstGeom>
          <a:solidFill>
            <a:srgbClr val="D6DED4"/>
          </a:solidFill>
          <a:ln w="0">
            <a:noFill/>
            <a:prstDash val="solid"/>
          </a:ln>
        </p:spPr>
      </p:sp>
      <p:sp>
        <p:nvSpPr>
          <p:cNvPr id="12" name="Rectangle 11">
            <a:extLst>
              <a:ext uri="{FF2B5EF4-FFF2-40B4-BE49-F238E27FC236}">
                <a16:creationId xmlns:a16="http://schemas.microsoft.com/office/drawing/2014/main" id="{CFE0BE6C-57EA-4FC8-B12B-96C399AA8D56}"/>
              </a:ext>
            </a:extLst>
          </p:cNvPr>
          <p:cNvSpPr>
            <a:spLocks noGrp="1"/>
          </p:cNvSpPr>
          <p:nvPr/>
        </p:nvSpPr>
        <p:spPr>
          <a:xfrm>
            <a:off x="762000" y="4324350"/>
            <a:ext cx="10477500" cy="647700"/>
          </a:xfrm>
          <a:prstGeom prst="rect">
            <a:avLst/>
          </a:prstGeom>
          <a:noFill/>
          <a:ln w="0">
            <a:noFill/>
            <a:prstDash val="solid"/>
          </a:ln>
        </p:spPr>
        <p:txBody>
          <a:bodyPr wrap="square" lIns="0" tIns="0" rIns="0" bIns="0" anchor="t">
            <a:normAutofit/>
          </a:bodyPr>
          <a:lstStyle>
            <a:defPPr algn="l">
              <a:defRPr sz="1350" b="0">
                <a:solidFill>
                  <a:srgbClr val="26322D"/>
                </a:solidFill>
                <a:latin typeface="Aptos"/>
                <a:ea typeface="Aptos"/>
                <a:cs typeface="Aptos"/>
              </a:defRPr>
            </a:defPPr>
          </a:lstStyle>
          <a:p>
            <a:pPr algn="l">
              <a:defRPr sz="1350" b="0">
                <a:solidFill>
                  <a:srgbClr val="26322D"/>
                </a:solidFill>
                <a:latin typeface="Aptos"/>
                <a:ea typeface="Aptos"/>
                <a:cs typeface="Aptos"/>
              </a:defRPr>
            </a:pPr>
            <a:r>
              <a:rPr sz="1350" b="0">
                <a:solidFill>
                  <a:srgbClr val="26322D"/>
                </a:solidFill>
                <a:latin typeface="Aptos"/>
                <a:ea typeface="Aptos"/>
                <a:cs typeface="Aptos"/>
              </a:rPr>
              <a:t>[4] Project source: README.md, data/source_manifest.json, docs/DATASET.md, docs/VALIDATION.md, terrain/, scripts/, results/metrics.json and saved prediction artifacts.</a:t>
            </a:r>
          </a:p>
        </p:txBody>
      </p:sp>
      <p:sp>
        <p:nvSpPr>
          <p:cNvPr id="13" name="Rectangle 12">
            <a:extLst>
              <a:ext uri="{FF2B5EF4-FFF2-40B4-BE49-F238E27FC236}">
                <a16:creationId xmlns:a16="http://schemas.microsoft.com/office/drawing/2014/main" id="{226B42A2-D19D-41C0-A862-4FC934A71222}"/>
              </a:ext>
            </a:extLst>
          </p:cNvPr>
          <p:cNvSpPr>
            <a:spLocks noGrp="1"/>
          </p:cNvSpPr>
          <p:nvPr/>
        </p:nvSpPr>
        <p:spPr>
          <a:xfrm>
            <a:off x="762000" y="5600700"/>
            <a:ext cx="10477500" cy="247650"/>
          </a:xfrm>
          <a:prstGeom prst="rect">
            <a:avLst/>
          </a:prstGeom>
          <a:noFill/>
          <a:ln w="0">
            <a:noFill/>
            <a:prstDash val="solid"/>
          </a:ln>
        </p:spPr>
        <p:txBody>
          <a:bodyPr wrap="square" lIns="0" tIns="0" rIns="0" bIns="0" anchor="t">
            <a:normAutofit/>
          </a:bodyPr>
          <a:lstStyle>
            <a:defPPr algn="l">
              <a:defRPr sz="1350" b="1">
                <a:solidFill>
                  <a:srgbClr val="214C3B"/>
                </a:solidFill>
                <a:latin typeface="Aptos"/>
                <a:ea typeface="Aptos"/>
                <a:cs typeface="Aptos"/>
              </a:defRPr>
            </a:defPPr>
          </a:lstStyle>
          <a:p>
            <a:pPr algn="l">
              <a:defRPr sz="1350" b="1">
                <a:solidFill>
                  <a:srgbClr val="214C3B"/>
                </a:solidFill>
                <a:latin typeface="Aptos"/>
                <a:ea typeface="Aptos"/>
                <a:cs typeface="Aptos"/>
              </a:defRPr>
            </a:pPr>
            <a:r>
              <a:rPr sz="1350" b="1">
                <a:solidFill>
                  <a:srgbClr val="214C3B"/>
                </a:solidFill>
                <a:latin typeface="Aptos"/>
                <a:ea typeface="Aptos"/>
                <a:cs typeface="Aptos"/>
              </a:rPr>
              <a:t>Repository archive and connected GitHub checkout have the same file contents.</a:t>
            </a:r>
          </a:p>
        </p:txBody>
      </p:sp>
    </p:spTree>
    <p:extLst>
      <p:ext uri="{BB962C8B-B14F-4D97-AF65-F5344CB8AC3E}">
        <p14:creationId xmlns:p14="http://schemas.microsoft.com/office/powerpoint/2010/main" val="45133098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DocSecurity>0</DocSecurity>
  <PresentationFormat>Widescreen</PresentationFormat>
  <Slides>20</Slides>
  <Notes>20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Walnut Exporter</cp:lastModifiedBy>
  <cp:revision>2</cp:revision>
  <dcterms:created xsi:type="dcterms:W3CDTF">2026-10-12T13:15:50Z</dcterms:created>
  <dcterms:modified xsi:type="dcterms:W3CDTF">2026-10-12T14:01:43Z</dcterms:modified>
</cp:coreProperties>
</file>